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deck for PRIOR-ART.md. Coloured brand marks are the company's official logo and hex from simple-icons. Ink monograms mean simple-icons carries no mark for that company; no brand colour has been guessed.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Cerebras returned HTTP 500 to every request, so the canonical post was read from a saved copy of the page. That still makes it first-party.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Published 15 July 2026 by Isaac Tai, Daniel Kim and Mike Gao. Read from a saved copy of the page: cerebras.ai returned HTTP 500 on every network fetch.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Planner tools: search, search_slack, search_code, subsystem_index, recent_prs, who_knows. A Postgres GIN index makes raw text keyword-searchable the moment it lands. Repos can exceed 40 GB. Bursting, not shown: a run of consecutive messages from one author, thread topic prepended, embedded separately if it clears IDF 4.0, 200 characters, or carries a reaction.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Unverified and deliberately off-slide: that Stripe abandoned a no-code agent builder at 4,000+ agents of inconsistent quality, and that new hires use Kai 2.7x the cohort average.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buttons are Resolved / Helpful / Not Helpful / Not Relevant. UUID headers trace every call for audit and cost attribution.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3,000+ of the 10,000 hours come from the escalation bot alone. They report roughly 30% time loss to hallucination. Knowledge sources are technical documentation, historical Slack posts via the message search API, and Canvas documents.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product rather than a purely internal tool, but the clearest public account of the RAG-versus-agent split. Trade-offs they name: latency vs quality, data freshness vs scalability, budget vs 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earlier reading of the same post also recorded: "AI provides the speed, but our human engineers provide the nuanced judgment and accountability." The brilliant-intern line is the one confirmed on 2026-08-27.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morganstanley.com reset the connection and openai.com returned 403, so these figures are search-surfaced from first-party releases rather than fetched in full. Verify before external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 bank case study with real technical substance, Morgan Stanley is the better-documented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rightmost columns are where the real divergence lives. Everything else converges.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six are the invariants. Anything not on this list is a place the eight diverge.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Positions are interpretive, not measured: the claim is the ordering, not the coordinates.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Dot colour encodes severity on the same tier scale used throughout.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5181E"/>
        </a:solidFill>
      </p:bgPr>
    </p:bg>
    <p:spTree>
      <p:nvGrpSpPr>
        <p:cNvPr id="1" name=""/>
        <p:cNvGrpSpPr/>
        <p:nvPr/>
      </p:nvGrpSpPr>
      <p:grpSpPr>
        <a:xfrm>
          <a:off x="0" y="0"/>
          <a:ext cx="0" cy="0"/>
          <a:chOff x="0" y="0"/>
          <a:chExt cx="0" cy="0"/>
        </a:xfrm>
      </p:grpSpPr>
      <p:sp>
        <p:nvSpPr>
          <p:cNvPr id="2" name="Shape 0"/>
          <p:cNvSpPr/>
          <p:nvPr/>
        </p:nvSpPr>
        <p:spPr>
          <a:xfrm>
            <a:off x="8595360" y="-1463040"/>
            <a:ext cx="5669280" cy="5669280"/>
          </a:xfrm>
          <a:prstGeom prst="ellipse">
            <a:avLst/>
          </a:prstGeom>
          <a:solidFill>
            <a:srgbClr val="2A2F3A">
              <a:alpha val="55000"/>
            </a:srgbClr>
          </a:solidFill>
          <a:ln/>
        </p:spPr>
      </p:sp>
      <p:sp>
        <p:nvSpPr>
          <p:cNvPr id="3" name="Shape 1"/>
          <p:cNvSpPr/>
          <p:nvPr/>
        </p:nvSpPr>
        <p:spPr>
          <a:xfrm>
            <a:off x="10058400" y="3108960"/>
            <a:ext cx="3291840" cy="3291840"/>
          </a:xfrm>
          <a:prstGeom prst="ellipse">
            <a:avLst/>
          </a:prstGeom>
          <a:solidFill>
            <a:srgbClr val="C0761A">
              <a:alpha val="22000"/>
            </a:srgbClr>
          </a:solidFill>
          <a:ln/>
        </p:spPr>
      </p:sp>
      <p:sp>
        <p:nvSpPr>
          <p:cNvPr id="4" name="Text 2"/>
          <p:cNvSpPr txBox="1"/>
          <p:nvPr/>
        </p:nvSpPr>
        <p:spPr>
          <a:xfrm>
            <a:off x="548640" y="1371600"/>
            <a:ext cx="7315200" cy="365760"/>
          </a:xfrm>
          <a:prstGeom prst="rect">
            <a:avLst/>
          </a:prstGeom>
          <a:noFill/>
          <a:ln/>
        </p:spPr>
        <p:txBody>
          <a:bodyPr wrap="square" lIns="0" tIns="0" rIns="0" bIns="0" rtlCol="0" anchor="ctr"/>
          <a:lstStyle/>
          <a:p>
            <a:pPr indent="0" marL="0">
              <a:buNone/>
            </a:pPr>
            <a:r>
              <a:rPr lang="en-US" sz="1200" b="1" spc="350" kern="0" dirty="0">
                <a:solidFill>
                  <a:srgbClr val="C0761A"/>
                </a:solidFill>
                <a:latin typeface="Calibri" pitchFamily="34" charset="0"/>
                <a:ea typeface="Calibri" pitchFamily="34" charset="-122"/>
                <a:cs typeface="Calibri" pitchFamily="34" charset="-120"/>
              </a:rPr>
              <a:t>PRIOR ART</a:t>
            </a:r>
            <a:endParaRPr lang="en-US" sz="1200" dirty="0"/>
          </a:p>
        </p:txBody>
      </p:sp>
      <p:sp>
        <p:nvSpPr>
          <p:cNvPr id="5" name="Text 3"/>
          <p:cNvSpPr txBox="1"/>
          <p:nvPr/>
        </p:nvSpPr>
        <p:spPr>
          <a:xfrm>
            <a:off x="548640" y="1874520"/>
            <a:ext cx="7863840" cy="1737360"/>
          </a:xfrm>
          <a:prstGeom prst="rect">
            <a:avLst/>
          </a:prstGeom>
          <a:noFill/>
          <a:ln/>
        </p:spPr>
        <p:txBody>
          <a:bodyPr wrap="square" lIns="0" tIns="0" rIns="0" bIns="0" rtlCol="0" anchor="ctr"/>
          <a:lstStyle/>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How eight companies built</a:t>
            </a:r>
            <a:endParaRPr lang="en-US" sz="4000" dirty="0"/>
          </a:p>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their internal knowledge base</a:t>
            </a:r>
            <a:endParaRPr lang="en-US" sz="4000" dirty="0"/>
          </a:p>
        </p:txBody>
      </p:sp>
      <p:sp>
        <p:nvSpPr>
          <p:cNvPr id="6" name="Text 4"/>
          <p:cNvSpPr txBox="1"/>
          <p:nvPr/>
        </p:nvSpPr>
        <p:spPr>
          <a:xfrm>
            <a:off x="548640" y="3886200"/>
            <a:ext cx="8595360" cy="365760"/>
          </a:xfrm>
          <a:prstGeom prst="rect">
            <a:avLst/>
          </a:prstGeom>
          <a:noFill/>
          <a:ln/>
        </p:spPr>
        <p:txBody>
          <a:bodyPr wrap="square" lIns="0" tIns="0" rIns="0" bIns="0" rtlCol="0" anchor="ctr"/>
          <a:lstStyle/>
          <a:p>
            <a:pPr indent="0" marL="0">
              <a:buNone/>
            </a:pPr>
            <a:r>
              <a:rPr lang="en-US" sz="1400" dirty="0">
                <a:solidFill>
                  <a:srgbClr val="A8AEBB"/>
                </a:solidFill>
                <a:latin typeface="Calibri" pitchFamily="34" charset="0"/>
                <a:ea typeface="Calibri" pitchFamily="34" charset="-122"/>
                <a:cs typeface="Calibri" pitchFamily="34" charset="-120"/>
              </a:rPr>
              <a:t>Cerebras, Stripe, Uber, Slack, Dropbox, Elastic, Morgan Stanley, JPMorgan Chase</a:t>
            </a:r>
            <a:endParaRPr lang="en-US" sz="1400" dirty="0"/>
          </a:p>
        </p:txBody>
      </p:sp>
      <p:sp>
        <p:nvSpPr>
          <p:cNvPr id="7" name="Text 5"/>
          <p:cNvSpPr txBox="1"/>
          <p:nvPr/>
        </p:nvSpPr>
        <p:spPr>
          <a:xfrm>
            <a:off x="548640" y="4572000"/>
            <a:ext cx="7589520" cy="822960"/>
          </a:xfrm>
          <a:prstGeom prst="rect">
            <a:avLst/>
          </a:prstGeom>
          <a:noFill/>
          <a:ln/>
        </p:spPr>
        <p:txBody>
          <a:bodyPr wrap="square" lIns="0" tIns="0" rIns="0" bIns="0" rtlCol="0" anchor="t"/>
          <a:lstStyle/>
          <a:p>
            <a:pPr indent="0" marL="0">
              <a:lnSpc>
                <a:spcPct val="115000"/>
              </a:lnSpc>
              <a:buNone/>
            </a:pPr>
            <a:r>
              <a:rPr lang="en-US" sz="1400" dirty="0">
                <a:solidFill>
                  <a:srgbClr val="A8AEBB"/>
                </a:solidFill>
                <a:latin typeface="Calibri" pitchFamily="34" charset="0"/>
                <a:ea typeface="Calibri" pitchFamily="34" charset="-122"/>
                <a:cs typeface="Calibri" pitchFamily="34" charset="-120"/>
              </a:rPr>
              <a:t>Seven of them get two slides: what they built and believed, read on four common questions, then a diagram of how the system actually runs. JPMorgan published no architecture, so it gets neither.</a:t>
            </a:r>
            <a:endParaRPr lang="en-US" sz="1400" dirty="0"/>
          </a:p>
        </p:txBody>
      </p:sp>
      <p:sp>
        <p:nvSpPr>
          <p:cNvPr id="8" name="Text 6"/>
          <p:cNvSpPr txBox="1"/>
          <p:nvPr/>
        </p:nvSpPr>
        <p:spPr>
          <a:xfrm>
            <a:off x="548640" y="6035040"/>
            <a:ext cx="6400800" cy="274320"/>
          </a:xfrm>
          <a:prstGeom prst="rect">
            <a:avLst/>
          </a:prstGeom>
          <a:noFill/>
          <a:ln/>
        </p:spPr>
        <p:txBody>
          <a:bodyPr wrap="square" lIns="0" tIns="0" rIns="0" bIns="0" rtlCol="0" anchor="ctr"/>
          <a:lstStyle/>
          <a:p>
            <a:pPr indent="0" marL="0">
              <a:buNone/>
            </a:pPr>
            <a:r>
              <a:rPr lang="en-US" sz="1050" spc="120" kern="0" dirty="0">
                <a:solidFill>
                  <a:srgbClr val="6E7480"/>
                </a:solidFill>
                <a:latin typeface="Calibri" pitchFamily="34" charset="0"/>
                <a:ea typeface="Calibri" pitchFamily="34" charset="-122"/>
                <a:cs typeface="Calibri" pitchFamily="34" charset="-120"/>
              </a:rPr>
              <a:t>Compiled 27 August 2026   ·   companywiki</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0058400" cy="548640"/>
          </a:xfrm>
          <a:prstGeom prst="rect">
            <a:avLst/>
          </a:prstGeom>
          <a:noFill/>
          <a:ln/>
        </p:spPr>
        <p:txBody>
          <a:bodyPr wrap="square" lIns="0" tIns="0" rIns="0" bIns="0" rtlCol="0" anchor="ctr"/>
          <a:lstStyle/>
          <a:p>
            <a:pPr indent="0" marL="0">
              <a:buNone/>
            </a:pPr>
            <a:r>
              <a:rPr lang="en-US" sz="3100" b="1" dirty="0">
                <a:solidFill>
                  <a:srgbClr val="15181E"/>
                </a:solidFill>
                <a:latin typeface="Cambria" pitchFamily="34" charset="0"/>
                <a:ea typeface="Cambria" pitchFamily="34" charset="-122"/>
                <a:cs typeface="Cambria" pitchFamily="34" charset="-120"/>
              </a:rPr>
              <a:t>Method, and how far to trust each slide</a:t>
            </a:r>
            <a:endParaRPr lang="en-US" sz="3100" dirty="0"/>
          </a:p>
        </p:txBody>
      </p:sp>
      <p:sp>
        <p:nvSpPr>
          <p:cNvPr id="3" name="Text 1"/>
          <p:cNvSpPr txBox="1"/>
          <p:nvPr/>
        </p:nvSpPr>
        <p:spPr>
          <a:xfrm>
            <a:off x="548640" y="932688"/>
            <a:ext cx="10789920" cy="365760"/>
          </a:xfrm>
          <a:prstGeom prst="rect">
            <a:avLst/>
          </a:prstGeom>
          <a:noFill/>
          <a:ln/>
        </p:spPr>
        <p:txBody>
          <a:bodyPr wrap="square" lIns="0" tIns="0" rIns="0" bIns="0" rtlCol="0" anchor="t"/>
          <a:lstStyle/>
          <a:p>
            <a:pPr indent="0" marL="0">
              <a:buNone/>
            </a:pPr>
            <a:r>
              <a:rPr lang="en-US" sz="1550" dirty="0">
                <a:solidFill>
                  <a:srgbClr val="232833"/>
                </a:solidFill>
                <a:latin typeface="Calibri" pitchFamily="34" charset="0"/>
                <a:ea typeface="Calibri" pitchFamily="34" charset="-122"/>
                <a:cs typeface="Calibri" pitchFamily="34" charset="-120"/>
              </a:rPr>
              <a:t>The seven companies with a published account are read on the same four questions, and every claim carries a tag saying how it was obtained.</a:t>
            </a:r>
            <a:endParaRPr lang="en-US" sz="1550" dirty="0"/>
          </a:p>
        </p:txBody>
      </p:sp>
      <p:sp>
        <p:nvSpPr>
          <p:cNvPr id="4" name="Shape 2"/>
          <p:cNvSpPr/>
          <p:nvPr/>
        </p:nvSpPr>
        <p:spPr>
          <a:xfrm>
            <a:off x="548640" y="1929384"/>
            <a:ext cx="402336" cy="402336"/>
          </a:xfrm>
          <a:prstGeom prst="ellipse">
            <a:avLst/>
          </a:prstGeom>
          <a:solidFill>
            <a:srgbClr val="C0761A"/>
          </a:solidFill>
          <a:ln/>
        </p:spPr>
      </p:sp>
      <p:sp>
        <p:nvSpPr>
          <p:cNvPr id="5" name="Text 3"/>
          <p:cNvSpPr txBox="1"/>
          <p:nvPr/>
        </p:nvSpPr>
        <p:spPr>
          <a:xfrm>
            <a:off x="548640" y="192938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I</a:t>
            </a:r>
            <a:endParaRPr lang="en-US" sz="1300" dirty="0"/>
          </a:p>
        </p:txBody>
      </p:sp>
      <p:sp>
        <p:nvSpPr>
          <p:cNvPr id="6" name="Text 4"/>
          <p:cNvSpPr txBox="1"/>
          <p:nvPr/>
        </p:nvSpPr>
        <p:spPr>
          <a:xfrm>
            <a:off x="1152144" y="1911096"/>
            <a:ext cx="1828800" cy="438912"/>
          </a:xfrm>
          <a:prstGeom prst="rect">
            <a:avLst/>
          </a:prstGeom>
          <a:noFill/>
          <a:ln/>
        </p:spPr>
        <p:txBody>
          <a:bodyPr wrap="square" lIns="0" tIns="0" rIns="0" bIns="0" rtlCol="0" anchor="ctr"/>
          <a:lstStyle/>
          <a:p>
            <a:pPr indent="0" marL="0">
              <a:buNone/>
            </a:pPr>
            <a:r>
              <a:rPr lang="en-US" sz="1350" b="1" dirty="0">
                <a:solidFill>
                  <a:srgbClr val="15181E"/>
                </a:solidFill>
                <a:latin typeface="Calibri" pitchFamily="34" charset="0"/>
                <a:ea typeface="Calibri" pitchFamily="34" charset="-122"/>
                <a:cs typeface="Calibri" pitchFamily="34" charset="-120"/>
              </a:rPr>
              <a:t>Implementation</a:t>
            </a:r>
            <a:endParaRPr lang="en-US" sz="1350" dirty="0"/>
          </a:p>
        </p:txBody>
      </p:sp>
      <p:sp>
        <p:nvSpPr>
          <p:cNvPr id="7" name="Text 5"/>
          <p:cNvSpPr txBox="1"/>
          <p:nvPr/>
        </p:nvSpPr>
        <p:spPr>
          <a:xfrm>
            <a:off x="3063240" y="1911096"/>
            <a:ext cx="4114800" cy="438912"/>
          </a:xfrm>
          <a:prstGeom prst="rect">
            <a:avLst/>
          </a:prstGeom>
          <a:noFill/>
          <a:ln/>
        </p:spPr>
        <p:txBody>
          <a:bodyPr wrap="square" lIns="0" tIns="0" rIns="0" bIns="0" rtlCol="0" anchor="ctr"/>
          <a:lstStyle/>
          <a:p>
            <a:pPr indent="0" marL="0">
              <a:buNone/>
            </a:pPr>
            <a:r>
              <a:rPr lang="en-US" sz="1150" dirty="0">
                <a:solidFill>
                  <a:srgbClr val="6E7480"/>
                </a:solidFill>
                <a:latin typeface="Calibri" pitchFamily="34" charset="0"/>
                <a:ea typeface="Calibri" pitchFamily="34" charset="-122"/>
                <a:cs typeface="Calibri" pitchFamily="34" charset="-120"/>
              </a:rPr>
              <a:t>The stores, retrievers and orchestration that actually run a query.</a:t>
            </a:r>
            <a:endParaRPr lang="en-US" sz="1150" dirty="0"/>
          </a:p>
        </p:txBody>
      </p:sp>
      <p:sp>
        <p:nvSpPr>
          <p:cNvPr id="8" name="Shape 6"/>
          <p:cNvSpPr/>
          <p:nvPr/>
        </p:nvSpPr>
        <p:spPr>
          <a:xfrm>
            <a:off x="548640" y="2770632"/>
            <a:ext cx="402336" cy="402336"/>
          </a:xfrm>
          <a:prstGeom prst="ellipse">
            <a:avLst/>
          </a:prstGeom>
          <a:solidFill>
            <a:srgbClr val="1F6F6B"/>
          </a:solidFill>
          <a:ln/>
        </p:spPr>
      </p:sp>
      <p:sp>
        <p:nvSpPr>
          <p:cNvPr id="9" name="Text 7"/>
          <p:cNvSpPr txBox="1"/>
          <p:nvPr/>
        </p:nvSpPr>
        <p:spPr>
          <a:xfrm>
            <a:off x="548640" y="277063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P</a:t>
            </a:r>
            <a:endParaRPr lang="en-US" sz="1300" dirty="0"/>
          </a:p>
        </p:txBody>
      </p:sp>
      <p:sp>
        <p:nvSpPr>
          <p:cNvPr id="10" name="Text 8"/>
          <p:cNvSpPr txBox="1"/>
          <p:nvPr/>
        </p:nvSpPr>
        <p:spPr>
          <a:xfrm>
            <a:off x="1152144" y="2752344"/>
            <a:ext cx="1828800" cy="438912"/>
          </a:xfrm>
          <a:prstGeom prst="rect">
            <a:avLst/>
          </a:prstGeom>
          <a:noFill/>
          <a:ln/>
        </p:spPr>
        <p:txBody>
          <a:bodyPr wrap="square" lIns="0" tIns="0" rIns="0" bIns="0" rtlCol="0" anchor="ctr"/>
          <a:lstStyle/>
          <a:p>
            <a:pPr indent="0" marL="0">
              <a:buNone/>
            </a:pPr>
            <a:r>
              <a:rPr lang="en-US" sz="1350" b="1" dirty="0">
                <a:solidFill>
                  <a:srgbClr val="15181E"/>
                </a:solidFill>
                <a:latin typeface="Calibri" pitchFamily="34" charset="0"/>
                <a:ea typeface="Calibri" pitchFamily="34" charset="-122"/>
                <a:cs typeface="Calibri" pitchFamily="34" charset="-120"/>
              </a:rPr>
              <a:t>Philosophy</a:t>
            </a:r>
            <a:endParaRPr lang="en-US" sz="1350" dirty="0"/>
          </a:p>
        </p:txBody>
      </p:sp>
      <p:sp>
        <p:nvSpPr>
          <p:cNvPr id="11" name="Text 9"/>
          <p:cNvSpPr txBox="1"/>
          <p:nvPr/>
        </p:nvSpPr>
        <p:spPr>
          <a:xfrm>
            <a:off x="3063240" y="2752344"/>
            <a:ext cx="4114800" cy="438912"/>
          </a:xfrm>
          <a:prstGeom prst="rect">
            <a:avLst/>
          </a:prstGeom>
          <a:noFill/>
          <a:ln/>
        </p:spPr>
        <p:txBody>
          <a:bodyPr wrap="square" lIns="0" tIns="0" rIns="0" bIns="0" rtlCol="0" anchor="ctr"/>
          <a:lstStyle/>
          <a:p>
            <a:pPr indent="0" marL="0">
              <a:buNone/>
            </a:pPr>
            <a:r>
              <a:rPr lang="en-US" sz="1150" dirty="0">
                <a:solidFill>
                  <a:srgbClr val="6E7480"/>
                </a:solidFill>
                <a:latin typeface="Calibri" pitchFamily="34" charset="0"/>
                <a:ea typeface="Calibri" pitchFamily="34" charset="-122"/>
                <a:cs typeface="Calibri" pitchFamily="34" charset="-120"/>
              </a:rPr>
              <a:t>The design belief they state, quoted in their own words.</a:t>
            </a:r>
            <a:endParaRPr lang="en-US" sz="1150" dirty="0"/>
          </a:p>
        </p:txBody>
      </p:sp>
      <p:sp>
        <p:nvSpPr>
          <p:cNvPr id="12" name="Shape 10"/>
          <p:cNvSpPr/>
          <p:nvPr/>
        </p:nvSpPr>
        <p:spPr>
          <a:xfrm>
            <a:off x="548640" y="3611880"/>
            <a:ext cx="402336" cy="402336"/>
          </a:xfrm>
          <a:prstGeom prst="ellipse">
            <a:avLst/>
          </a:prstGeom>
          <a:solidFill>
            <a:srgbClr val="8E3350"/>
          </a:solidFill>
          <a:ln/>
        </p:spPr>
      </p:sp>
      <p:sp>
        <p:nvSpPr>
          <p:cNvPr id="13" name="Text 11"/>
          <p:cNvSpPr txBox="1"/>
          <p:nvPr/>
        </p:nvSpPr>
        <p:spPr>
          <a:xfrm>
            <a:off x="548640" y="36118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U</a:t>
            </a:r>
            <a:endParaRPr lang="en-US" sz="1300" dirty="0"/>
          </a:p>
        </p:txBody>
      </p:sp>
      <p:sp>
        <p:nvSpPr>
          <p:cNvPr id="14" name="Text 12"/>
          <p:cNvSpPr txBox="1"/>
          <p:nvPr/>
        </p:nvSpPr>
        <p:spPr>
          <a:xfrm>
            <a:off x="1152144" y="3593592"/>
            <a:ext cx="1828800" cy="438912"/>
          </a:xfrm>
          <a:prstGeom prst="rect">
            <a:avLst/>
          </a:prstGeom>
          <a:noFill/>
          <a:ln/>
        </p:spPr>
        <p:txBody>
          <a:bodyPr wrap="square" lIns="0" tIns="0" rIns="0" bIns="0" rtlCol="0" anchor="ctr"/>
          <a:lstStyle/>
          <a:p>
            <a:pPr indent="0" marL="0">
              <a:buNone/>
            </a:pPr>
            <a:r>
              <a:rPr lang="en-US" sz="1350" b="1" dirty="0">
                <a:solidFill>
                  <a:srgbClr val="15181E"/>
                </a:solidFill>
                <a:latin typeface="Calibri" pitchFamily="34" charset="0"/>
                <a:ea typeface="Calibri" pitchFamily="34" charset="-122"/>
                <a:cs typeface="Calibri" pitchFamily="34" charset="-120"/>
              </a:rPr>
              <a:t>How it's used</a:t>
            </a:r>
            <a:endParaRPr lang="en-US" sz="1350" dirty="0"/>
          </a:p>
        </p:txBody>
      </p:sp>
      <p:sp>
        <p:nvSpPr>
          <p:cNvPr id="15" name="Text 13"/>
          <p:cNvSpPr txBox="1"/>
          <p:nvPr/>
        </p:nvSpPr>
        <p:spPr>
          <a:xfrm>
            <a:off x="3063240" y="3593592"/>
            <a:ext cx="4114800" cy="438912"/>
          </a:xfrm>
          <a:prstGeom prst="rect">
            <a:avLst/>
          </a:prstGeom>
          <a:noFill/>
          <a:ln/>
        </p:spPr>
        <p:txBody>
          <a:bodyPr wrap="square" lIns="0" tIns="0" rIns="0" bIns="0" rtlCol="0" anchor="ctr"/>
          <a:lstStyle/>
          <a:p>
            <a:pPr indent="0" marL="0">
              <a:buNone/>
            </a:pPr>
            <a:r>
              <a:rPr lang="en-US" sz="1150" dirty="0">
                <a:solidFill>
                  <a:srgbClr val="6E7480"/>
                </a:solidFill>
                <a:latin typeface="Calibri" pitchFamily="34" charset="0"/>
                <a:ea typeface="Calibri" pitchFamily="34" charset="-122"/>
                <a:cs typeface="Calibri" pitchFamily="34" charset="-120"/>
              </a:rPr>
              <a:t>Adoption and workload, in whatever unit each company chose to publish.</a:t>
            </a:r>
            <a:endParaRPr lang="en-US" sz="1150" dirty="0"/>
          </a:p>
        </p:txBody>
      </p:sp>
      <p:sp>
        <p:nvSpPr>
          <p:cNvPr id="16" name="Shape 14"/>
          <p:cNvSpPr/>
          <p:nvPr/>
        </p:nvSpPr>
        <p:spPr>
          <a:xfrm>
            <a:off x="548640" y="4453128"/>
            <a:ext cx="402336" cy="402336"/>
          </a:xfrm>
          <a:prstGeom prst="ellipse">
            <a:avLst/>
          </a:prstGeom>
          <a:solidFill>
            <a:srgbClr val="3C4759"/>
          </a:solidFill>
          <a:ln/>
        </p:spPr>
      </p:sp>
      <p:sp>
        <p:nvSpPr>
          <p:cNvPr id="17" name="Text 15"/>
          <p:cNvSpPr txBox="1"/>
          <p:nvPr/>
        </p:nvSpPr>
        <p:spPr>
          <a:xfrm>
            <a:off x="548640" y="44531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M</a:t>
            </a:r>
            <a:endParaRPr lang="en-US" sz="1300" dirty="0"/>
          </a:p>
        </p:txBody>
      </p:sp>
      <p:sp>
        <p:nvSpPr>
          <p:cNvPr id="18" name="Text 16"/>
          <p:cNvSpPr txBox="1"/>
          <p:nvPr/>
        </p:nvSpPr>
        <p:spPr>
          <a:xfrm>
            <a:off x="1152144" y="4434840"/>
            <a:ext cx="1828800" cy="438912"/>
          </a:xfrm>
          <a:prstGeom prst="rect">
            <a:avLst/>
          </a:prstGeom>
          <a:noFill/>
          <a:ln/>
        </p:spPr>
        <p:txBody>
          <a:bodyPr wrap="square" lIns="0" tIns="0" rIns="0" bIns="0" rtlCol="0" anchor="ctr"/>
          <a:lstStyle/>
          <a:p>
            <a:pPr indent="0" marL="0">
              <a:buNone/>
            </a:pPr>
            <a:r>
              <a:rPr lang="en-US" sz="1350" b="1" dirty="0">
                <a:solidFill>
                  <a:srgbClr val="15181E"/>
                </a:solidFill>
                <a:latin typeface="Calibri" pitchFamily="34" charset="0"/>
                <a:ea typeface="Calibri" pitchFamily="34" charset="-122"/>
                <a:cs typeface="Calibri" pitchFamily="34" charset="-120"/>
              </a:rPr>
              <a:t>Maintenance</a:t>
            </a:r>
            <a:endParaRPr lang="en-US" sz="1350" dirty="0"/>
          </a:p>
        </p:txBody>
      </p:sp>
      <p:sp>
        <p:nvSpPr>
          <p:cNvPr id="19" name="Text 17"/>
          <p:cNvSpPr txBox="1"/>
          <p:nvPr/>
        </p:nvSpPr>
        <p:spPr>
          <a:xfrm>
            <a:off x="3063240" y="4434840"/>
            <a:ext cx="4114800" cy="438912"/>
          </a:xfrm>
          <a:prstGeom prst="rect">
            <a:avLst/>
          </a:prstGeom>
          <a:noFill/>
          <a:ln/>
        </p:spPr>
        <p:txBody>
          <a:bodyPr wrap="square" lIns="0" tIns="0" rIns="0" bIns="0" rtlCol="0" anchor="ctr"/>
          <a:lstStyle/>
          <a:p>
            <a:pPr indent="0" marL="0">
              <a:buNone/>
            </a:pPr>
            <a:r>
              <a:rPr lang="en-US" sz="1150" dirty="0">
                <a:solidFill>
                  <a:srgbClr val="6E7480"/>
                </a:solidFill>
                <a:latin typeface="Calibri" pitchFamily="34" charset="0"/>
                <a:ea typeface="Calibri" pitchFamily="34" charset="-122"/>
                <a:cs typeface="Calibri" pitchFamily="34" charset="-120"/>
              </a:rPr>
              <a:t>What keeps the corpus current and the answers honest over time.</a:t>
            </a:r>
            <a:endParaRPr lang="en-US" sz="1150" dirty="0"/>
          </a:p>
        </p:txBody>
      </p:sp>
      <p:sp>
        <p:nvSpPr>
          <p:cNvPr id="20" name="Shape 18"/>
          <p:cNvSpPr/>
          <p:nvPr/>
        </p:nvSpPr>
        <p:spPr>
          <a:xfrm>
            <a:off x="7178040" y="1755648"/>
            <a:ext cx="4462272" cy="3529584"/>
          </a:xfrm>
          <a:prstGeom prst="roundRect">
            <a:avLst>
              <a:gd name="adj" fmla="val 1554"/>
            </a:avLst>
          </a:prstGeom>
          <a:solidFill>
            <a:srgbClr val="F2F2EF"/>
          </a:solidFill>
          <a:ln w="12700">
            <a:solidFill>
              <a:srgbClr val="F2F2EF"/>
            </a:solidFill>
            <a:prstDash val="solid"/>
          </a:ln>
        </p:spPr>
      </p:sp>
      <p:sp>
        <p:nvSpPr>
          <p:cNvPr id="21" name="Text 19"/>
          <p:cNvSpPr txBox="1"/>
          <p:nvPr/>
        </p:nvSpPr>
        <p:spPr>
          <a:xfrm>
            <a:off x="7488936" y="1993392"/>
            <a:ext cx="3840480" cy="274320"/>
          </a:xfrm>
          <a:prstGeom prst="rect">
            <a:avLst/>
          </a:prstGeom>
          <a:noFill/>
          <a:ln/>
        </p:spPr>
        <p:txBody>
          <a:bodyPr wrap="square" lIns="0" tIns="0" rIns="0" bIns="0" rtlCol="0" anchor="ctr"/>
          <a:lstStyle/>
          <a:p>
            <a:pPr indent="0" marL="0">
              <a:buNone/>
            </a:pPr>
            <a:r>
              <a:rPr lang="en-US" sz="1000" b="1" spc="200" kern="0" dirty="0">
                <a:solidFill>
                  <a:srgbClr val="6E7480"/>
                </a:solidFill>
                <a:latin typeface="Calibri" pitchFamily="34" charset="0"/>
                <a:ea typeface="Calibri" pitchFamily="34" charset="-122"/>
                <a:cs typeface="Calibri" pitchFamily="34" charset="-120"/>
              </a:rPr>
              <a:t>SOURCE TIERS</a:t>
            </a:r>
            <a:endParaRPr lang="en-US" sz="1000" dirty="0"/>
          </a:p>
        </p:txBody>
      </p:sp>
      <p:sp>
        <p:nvSpPr>
          <p:cNvPr id="22" name="Shape 20"/>
          <p:cNvSpPr/>
          <p:nvPr/>
        </p:nvSpPr>
        <p:spPr>
          <a:xfrm>
            <a:off x="7488936" y="2441448"/>
            <a:ext cx="182880" cy="182880"/>
          </a:xfrm>
          <a:prstGeom prst="ellipse">
            <a:avLst/>
          </a:prstGeom>
          <a:solidFill>
            <a:srgbClr val="1F6F6B"/>
          </a:solidFill>
          <a:ln/>
        </p:spPr>
      </p:sp>
      <p:sp>
        <p:nvSpPr>
          <p:cNvPr id="23" name="Text 21"/>
          <p:cNvSpPr txBox="1"/>
          <p:nvPr/>
        </p:nvSpPr>
        <p:spPr>
          <a:xfrm>
            <a:off x="7781544" y="2377440"/>
            <a:ext cx="3547872" cy="292608"/>
          </a:xfrm>
          <a:prstGeom prst="rect">
            <a:avLst/>
          </a:prstGeom>
          <a:noFill/>
          <a:ln/>
        </p:spPr>
        <p:txBody>
          <a:bodyPr wrap="square" lIns="0" tIns="0" rIns="0" bIns="0" rtlCol="0" anchor="ctr"/>
          <a:lstStyle/>
          <a:p>
            <a:pPr indent="0" marL="0">
              <a:buNone/>
            </a:pPr>
            <a:r>
              <a:rPr lang="en-US" sz="1300" b="1" dirty="0">
                <a:solidFill>
                  <a:srgbClr val="1F6F6B"/>
                </a:solidFill>
                <a:latin typeface="Calibri" pitchFamily="34" charset="0"/>
                <a:ea typeface="Calibri" pitchFamily="34" charset="-122"/>
                <a:cs typeface="Calibri" pitchFamily="34" charset="-120"/>
              </a:rPr>
              <a:t>First-party</a:t>
            </a:r>
            <a:endParaRPr lang="en-US" sz="1300" dirty="0"/>
          </a:p>
        </p:txBody>
      </p:sp>
      <p:sp>
        <p:nvSpPr>
          <p:cNvPr id="24" name="Text 22"/>
          <p:cNvSpPr txBox="1"/>
          <p:nvPr/>
        </p:nvSpPr>
        <p:spPr>
          <a:xfrm>
            <a:off x="7781544" y="2670048"/>
            <a:ext cx="3547872" cy="621792"/>
          </a:xfrm>
          <a:prstGeom prst="rect">
            <a:avLst/>
          </a:prstGeom>
          <a:noFill/>
          <a:ln/>
        </p:spPr>
        <p:txBody>
          <a:bodyPr wrap="square" lIns="0" tIns="0" rIns="0" bIns="0" rtlCol="0" anchor="t"/>
          <a:lstStyle/>
          <a:p>
            <a:pPr indent="0" marL="0">
              <a:lnSpc>
                <a:spcPct val="110000"/>
              </a:lnSpc>
              <a:buNone/>
            </a:pPr>
            <a:r>
              <a:rPr lang="en-US" sz="1150" dirty="0">
                <a:solidFill>
                  <a:srgbClr val="232833"/>
                </a:solidFill>
                <a:latin typeface="Calibri" pitchFamily="34" charset="0"/>
                <a:ea typeface="Calibri" pitchFamily="34" charset="-122"/>
                <a:cs typeface="Calibri" pitchFamily="34" charset="-120"/>
              </a:rPr>
              <a:t>Their own engineering blog, read in full, and quoted directly.</a:t>
            </a:r>
            <a:endParaRPr lang="en-US" sz="1150" dirty="0"/>
          </a:p>
        </p:txBody>
      </p:sp>
      <p:sp>
        <p:nvSpPr>
          <p:cNvPr id="25" name="Shape 23"/>
          <p:cNvSpPr/>
          <p:nvPr/>
        </p:nvSpPr>
        <p:spPr>
          <a:xfrm>
            <a:off x="7488936" y="3374136"/>
            <a:ext cx="182880" cy="182880"/>
          </a:xfrm>
          <a:prstGeom prst="ellipse">
            <a:avLst/>
          </a:prstGeom>
          <a:solidFill>
            <a:srgbClr val="C0761A"/>
          </a:solidFill>
          <a:ln/>
        </p:spPr>
      </p:sp>
      <p:sp>
        <p:nvSpPr>
          <p:cNvPr id="26" name="Text 24"/>
          <p:cNvSpPr txBox="1"/>
          <p:nvPr/>
        </p:nvSpPr>
        <p:spPr>
          <a:xfrm>
            <a:off x="7781544" y="3310128"/>
            <a:ext cx="3547872" cy="292608"/>
          </a:xfrm>
          <a:prstGeom prst="rect">
            <a:avLst/>
          </a:prstGeom>
          <a:noFill/>
          <a:ln/>
        </p:spPr>
        <p:txBody>
          <a:bodyPr wrap="square" lIns="0" tIns="0" rIns="0" bIns="0" rtlCol="0" anchor="ctr"/>
          <a:lstStyle/>
          <a:p>
            <a:pPr indent="0" marL="0">
              <a:buNone/>
            </a:pPr>
            <a:r>
              <a:rPr lang="en-US" sz="1300" b="1" dirty="0">
                <a:solidFill>
                  <a:srgbClr val="C0761A"/>
                </a:solidFill>
                <a:latin typeface="Calibri" pitchFamily="34" charset="0"/>
                <a:ea typeface="Calibri" pitchFamily="34" charset="-122"/>
                <a:cs typeface="Calibri" pitchFamily="34" charset="-120"/>
              </a:rPr>
              <a:t>First-party PR</a:t>
            </a:r>
            <a:endParaRPr lang="en-US" sz="1300" dirty="0"/>
          </a:p>
        </p:txBody>
      </p:sp>
      <p:sp>
        <p:nvSpPr>
          <p:cNvPr id="27" name="Text 25"/>
          <p:cNvSpPr txBox="1"/>
          <p:nvPr/>
        </p:nvSpPr>
        <p:spPr>
          <a:xfrm>
            <a:off x="7781544" y="3602736"/>
            <a:ext cx="3547872" cy="621792"/>
          </a:xfrm>
          <a:prstGeom prst="rect">
            <a:avLst/>
          </a:prstGeom>
          <a:noFill/>
          <a:ln/>
        </p:spPr>
        <p:txBody>
          <a:bodyPr wrap="square" lIns="0" tIns="0" rIns="0" bIns="0" rtlCol="0" anchor="t"/>
          <a:lstStyle/>
          <a:p>
            <a:pPr indent="0" marL="0">
              <a:lnSpc>
                <a:spcPct val="110000"/>
              </a:lnSpc>
              <a:buNone/>
            </a:pPr>
            <a:r>
              <a:rPr lang="en-US" sz="1150" dirty="0">
                <a:solidFill>
                  <a:srgbClr val="232833"/>
                </a:solidFill>
                <a:latin typeface="Calibri" pitchFamily="34" charset="0"/>
                <a:ea typeface="Calibri" pitchFamily="34" charset="-122"/>
                <a:cs typeface="Calibri" pitchFamily="34" charset="-120"/>
              </a:rPr>
              <a:t>A newsroom post or vendor case study, read in full, but not an engineering account.</a:t>
            </a:r>
            <a:endParaRPr lang="en-US" sz="1150" dirty="0"/>
          </a:p>
        </p:txBody>
      </p:sp>
      <p:sp>
        <p:nvSpPr>
          <p:cNvPr id="28" name="Shape 26"/>
          <p:cNvSpPr/>
          <p:nvPr/>
        </p:nvSpPr>
        <p:spPr>
          <a:xfrm>
            <a:off x="7488936" y="4306824"/>
            <a:ext cx="182880" cy="182880"/>
          </a:xfrm>
          <a:prstGeom prst="ellipse">
            <a:avLst/>
          </a:prstGeom>
          <a:solidFill>
            <a:srgbClr val="8E3350"/>
          </a:solidFill>
          <a:ln/>
        </p:spPr>
      </p:sp>
      <p:sp>
        <p:nvSpPr>
          <p:cNvPr id="29" name="Text 27"/>
          <p:cNvSpPr txBox="1"/>
          <p:nvPr/>
        </p:nvSpPr>
        <p:spPr>
          <a:xfrm>
            <a:off x="7781544" y="4242816"/>
            <a:ext cx="3547872" cy="292608"/>
          </a:xfrm>
          <a:prstGeom prst="rect">
            <a:avLst/>
          </a:prstGeom>
          <a:noFill/>
          <a:ln/>
        </p:spPr>
        <p:txBody>
          <a:bodyPr wrap="square" lIns="0" tIns="0" rIns="0" bIns="0" rtlCol="0" anchor="ctr"/>
          <a:lstStyle/>
          <a:p>
            <a:pPr indent="0" marL="0">
              <a:buNone/>
            </a:pPr>
            <a:r>
              <a:rPr lang="en-US" sz="1300" b="1" dirty="0">
                <a:solidFill>
                  <a:srgbClr val="8E3350"/>
                </a:solidFill>
                <a:latin typeface="Calibri" pitchFamily="34" charset="0"/>
                <a:ea typeface="Calibri" pitchFamily="34" charset="-122"/>
                <a:cs typeface="Calibri" pitchFamily="34" charset="-120"/>
              </a:rPr>
              <a:t>Secondary</a:t>
            </a:r>
            <a:endParaRPr lang="en-US" sz="1300" dirty="0"/>
          </a:p>
        </p:txBody>
      </p:sp>
      <p:sp>
        <p:nvSpPr>
          <p:cNvPr id="30" name="Text 28"/>
          <p:cNvSpPr txBox="1"/>
          <p:nvPr/>
        </p:nvSpPr>
        <p:spPr>
          <a:xfrm>
            <a:off x="7781544" y="4535424"/>
            <a:ext cx="3547872" cy="621792"/>
          </a:xfrm>
          <a:prstGeom prst="rect">
            <a:avLst/>
          </a:prstGeom>
          <a:noFill/>
          <a:ln/>
        </p:spPr>
        <p:txBody>
          <a:bodyPr wrap="square" lIns="0" tIns="0" rIns="0" bIns="0" rtlCol="0" anchor="t"/>
          <a:lstStyle/>
          <a:p>
            <a:pPr indent="0" marL="0">
              <a:lnSpc>
                <a:spcPct val="110000"/>
              </a:lnSpc>
              <a:buNone/>
            </a:pPr>
            <a:r>
              <a:rPr lang="en-US" sz="1150" dirty="0">
                <a:solidFill>
                  <a:srgbClr val="232833"/>
                </a:solidFill>
                <a:latin typeface="Calibri" pitchFamily="34" charset="0"/>
                <a:ea typeface="Calibri" pitchFamily="34" charset="-122"/>
                <a:cs typeface="Calibri" pitchFamily="34" charset="-120"/>
              </a:rPr>
              <a:t>Trade press only, with no engineering account behind it at all.</a:t>
            </a:r>
            <a:endParaRPr lang="en-US" sz="1150" dirty="0"/>
          </a:p>
        </p:txBody>
      </p:sp>
      <p:sp>
        <p:nvSpPr>
          <p:cNvPr id="31" name="Text 29"/>
          <p:cNvSpPr txBox="1"/>
          <p:nvPr/>
        </p:nvSpPr>
        <p:spPr>
          <a:xfrm>
            <a:off x="548640" y="5532120"/>
            <a:ext cx="11091672" cy="822960"/>
          </a:xfrm>
          <a:prstGeom prst="rect">
            <a:avLst/>
          </a:prstGeom>
          <a:noFill/>
          <a:ln/>
        </p:spPr>
        <p:txBody>
          <a:bodyPr wrap="square" lIns="0" tIns="0" rIns="0" bIns="0" rtlCol="0" anchor="t"/>
          <a:lstStyle/>
          <a:p>
            <a:pPr indent="0" marL="0">
              <a:lnSpc>
                <a:spcPct val="115000"/>
              </a:lnSpc>
              <a:buNone/>
            </a:pPr>
            <a:r>
              <a:rPr lang="en-US" sz="1200" dirty="0">
                <a:solidFill>
                  <a:srgbClr val="6E7480"/>
                </a:solidFill>
                <a:latin typeface="Calibri" pitchFamily="34" charset="0"/>
                <a:ea typeface="Calibri" pitchFamily="34" charset="-122"/>
                <a:cs typeface="Calibri" pitchFamily="34" charset="-120"/>
              </a:rPr>
              <a:t>Six of the eight published a real engineering account. Morgan Stanley published press releases and an OpenAI case study instead, read in full but thinner on mechanism. JPMorgan published no architecture at all, and so appears only as a scale datapoint, with no diagram and no four-question read.</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29184"/>
            <a:ext cx="420624" cy="420624"/>
          </a:xfrm>
          <a:prstGeom prst="roundRect">
            <a:avLst>
              <a:gd name="adj" fmla="val 17391"/>
            </a:avLst>
          </a:prstGeom>
          <a:solidFill>
            <a:srgbClr val="FFFFFF"/>
          </a:solidFill>
          <a:ln w="15875">
            <a:solidFill>
              <a:srgbClr val="15181E"/>
            </a:solidFill>
            <a:prstDash val="solid"/>
          </a:ln>
        </p:spPr>
      </p:sp>
      <p:sp>
        <p:nvSpPr>
          <p:cNvPr id="3" name="Text 1"/>
          <p:cNvSpPr txBox="1"/>
          <p:nvPr/>
        </p:nvSpPr>
        <p:spPr>
          <a:xfrm>
            <a:off x="548640" y="329184"/>
            <a:ext cx="420624" cy="420624"/>
          </a:xfrm>
          <a:prstGeom prst="rect">
            <a:avLst/>
          </a:prstGeom>
          <a:noFill/>
          <a:ln/>
        </p:spPr>
        <p:txBody>
          <a:bodyPr wrap="square" lIns="0" tIns="0" rIns="0" bIns="0" rtlCol="0" anchor="ctr"/>
          <a:lstStyle/>
          <a:p>
            <a:pPr algn="ctr" indent="0" marL="0">
              <a:buNone/>
            </a:pPr>
            <a:r>
              <a:rPr lang="en-US" sz="1300" b="1" spc="40" kern="0" dirty="0">
                <a:solidFill>
                  <a:srgbClr val="15181E"/>
                </a:solidFill>
                <a:latin typeface="Cambria" pitchFamily="34" charset="0"/>
                <a:ea typeface="Cambria" pitchFamily="34" charset="-122"/>
                <a:cs typeface="Cambria" pitchFamily="34" charset="-120"/>
              </a:rPr>
              <a:t>CB</a:t>
            </a:r>
            <a:endParaRPr lang="en-US" sz="1300" dirty="0"/>
          </a:p>
        </p:txBody>
      </p:sp>
      <p:sp>
        <p:nvSpPr>
          <p:cNvPr id="4" name="Text 2"/>
          <p:cNvSpPr txBox="1"/>
          <p:nvPr/>
        </p:nvSpPr>
        <p:spPr>
          <a:xfrm>
            <a:off x="1188720" y="256032"/>
            <a:ext cx="7132320" cy="548640"/>
          </a:xfrm>
          <a:prstGeom prst="rect">
            <a:avLst/>
          </a:prstGeom>
          <a:noFill/>
          <a:ln/>
        </p:spPr>
        <p:txBody>
          <a:bodyPr wrap="square" lIns="0" tIns="0" rIns="0" bIns="0" rtlCol="0" anchor="ctr"/>
          <a:lstStyle/>
          <a:p>
            <a:pPr indent="0" marL="0">
              <a:buNone/>
            </a:pPr>
            <a:r>
              <a:rPr lang="en-US" sz="3000" b="1" dirty="0">
                <a:solidFill>
                  <a:srgbClr val="15181E"/>
                </a:solidFill>
                <a:latin typeface="Cambria" pitchFamily="34" charset="0"/>
                <a:ea typeface="Cambria" pitchFamily="34" charset="-122"/>
                <a:cs typeface="Cambria" pitchFamily="34" charset="-120"/>
              </a:rPr>
              <a:t>Cerebras</a:t>
            </a:r>
            <a:endParaRPr lang="en-US" sz="3000" dirty="0"/>
          </a:p>
        </p:txBody>
      </p:sp>
      <p:sp>
        <p:nvSpPr>
          <p:cNvPr id="5" name="Shape 3"/>
          <p:cNvSpPr/>
          <p:nvPr/>
        </p:nvSpPr>
        <p:spPr>
          <a:xfrm>
            <a:off x="9902952" y="384048"/>
            <a:ext cx="1737360" cy="274320"/>
          </a:xfrm>
          <a:prstGeom prst="roundRect">
            <a:avLst>
              <a:gd name="adj" fmla="val 50000"/>
            </a:avLst>
          </a:prstGeom>
          <a:solidFill>
            <a:srgbClr val="1F6F6B"/>
          </a:solidFill>
          <a:ln/>
        </p:spPr>
      </p:sp>
      <p:sp>
        <p:nvSpPr>
          <p:cNvPr id="6" name="Text 4"/>
          <p:cNvSpPr txBox="1"/>
          <p:nvPr/>
        </p:nvSpPr>
        <p:spPr>
          <a:xfrm>
            <a:off x="9902952" y="384048"/>
            <a:ext cx="17373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FIRST-PARTY</a:t>
            </a:r>
            <a:endParaRPr lang="en-US" sz="850" dirty="0"/>
          </a:p>
        </p:txBody>
      </p:sp>
      <p:sp>
        <p:nvSpPr>
          <p:cNvPr id="7" name="Text 5"/>
          <p:cNvSpPr txBox="1"/>
          <p:nvPr/>
        </p:nvSpPr>
        <p:spPr>
          <a:xfrm>
            <a:off x="548640" y="896112"/>
            <a:ext cx="10881360" cy="457200"/>
          </a:xfrm>
          <a:prstGeom prst="rect">
            <a:avLst/>
          </a:prstGeom>
          <a:noFill/>
          <a:ln/>
        </p:spPr>
        <p:txBody>
          <a:bodyPr wrap="square" lIns="0" tIns="0" rIns="0" bIns="0" rtlCol="0" anchor="t"/>
          <a:lstStyle/>
          <a:p>
            <a:pPr indent="0" marL="0">
              <a:lnSpc>
                <a:spcPct val="105000"/>
              </a:lnSpc>
              <a:buNone/>
            </a:pPr>
            <a:r>
              <a:rPr lang="en-US" sz="1550" b="1" dirty="0">
                <a:solidFill>
                  <a:srgbClr val="15181E"/>
                </a:solidFill>
                <a:latin typeface="Calibri" pitchFamily="34" charset="0"/>
                <a:ea typeface="Calibri" pitchFamily="34" charset="-122"/>
                <a:cs typeface="Calibri" pitchFamily="34" charset="-120"/>
              </a:rPr>
              <a:t>Cerebras Knowledge. </a:t>
            </a:r>
            <a:pPr indent="0" marL="0">
              <a:lnSpc>
                <a:spcPct val="105000"/>
              </a:lnSpc>
              <a:buNone/>
            </a:pPr>
            <a:r>
              <a:rPr lang="en-US" sz="1550" dirty="0">
                <a:solidFill>
                  <a:srgbClr val="232833"/>
                </a:solidFill>
                <a:latin typeface="Calibri" pitchFamily="34" charset="0"/>
                <a:ea typeface="Calibri" pitchFamily="34" charset="-122"/>
                <a:cs typeface="Calibri" pitchFamily="34" charset="-120"/>
              </a:rPr>
              <a:t>One Postgres table holds everything, and all the cleverness lives in retrieval.</a:t>
            </a:r>
            <a:endParaRPr lang="en-US" sz="1550" dirty="0"/>
          </a:p>
        </p:txBody>
      </p:sp>
      <p:sp>
        <p:nvSpPr>
          <p:cNvPr id="8" name="Shape 6"/>
          <p:cNvSpPr/>
          <p:nvPr/>
        </p:nvSpPr>
        <p:spPr>
          <a:xfrm>
            <a:off x="548640" y="1463040"/>
            <a:ext cx="5399532" cy="2139696"/>
          </a:xfrm>
          <a:prstGeom prst="roundRect">
            <a:avLst>
              <a:gd name="adj" fmla="val 2564"/>
            </a:avLst>
          </a:prstGeom>
          <a:solidFill>
            <a:srgbClr val="F2F2EF"/>
          </a:solidFill>
          <a:ln w="12700">
            <a:solidFill>
              <a:srgbClr val="F2F2EF"/>
            </a:solidFill>
            <a:prstDash val="solid"/>
          </a:ln>
        </p:spPr>
      </p:sp>
      <p:sp>
        <p:nvSpPr>
          <p:cNvPr id="9" name="Shape 7"/>
          <p:cNvSpPr/>
          <p:nvPr/>
        </p:nvSpPr>
        <p:spPr>
          <a:xfrm>
            <a:off x="786384" y="1627632"/>
            <a:ext cx="292608" cy="292608"/>
          </a:xfrm>
          <a:prstGeom prst="ellipse">
            <a:avLst/>
          </a:prstGeom>
          <a:solidFill>
            <a:srgbClr val="C0761A"/>
          </a:solidFill>
          <a:ln/>
        </p:spPr>
      </p:sp>
      <p:sp>
        <p:nvSpPr>
          <p:cNvPr id="10" name="Text 8"/>
          <p:cNvSpPr txBox="1"/>
          <p:nvPr/>
        </p:nvSpPr>
        <p:spPr>
          <a:xfrm>
            <a:off x="786384" y="1627632"/>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mbria" pitchFamily="34" charset="0"/>
                <a:ea typeface="Cambria" pitchFamily="34" charset="-122"/>
                <a:cs typeface="Cambria" pitchFamily="34" charset="-120"/>
              </a:rPr>
              <a:t>I</a:t>
            </a:r>
            <a:endParaRPr lang="en-US" sz="1150" dirty="0"/>
          </a:p>
        </p:txBody>
      </p:sp>
      <p:sp>
        <p:nvSpPr>
          <p:cNvPr id="11" name="Text 9"/>
          <p:cNvSpPr txBox="1"/>
          <p:nvPr/>
        </p:nvSpPr>
        <p:spPr>
          <a:xfrm>
            <a:off x="1188720" y="1627632"/>
            <a:ext cx="4530852" cy="292608"/>
          </a:xfrm>
          <a:prstGeom prst="rect">
            <a:avLst/>
          </a:prstGeom>
          <a:noFill/>
          <a:ln/>
        </p:spPr>
        <p:txBody>
          <a:bodyPr wrap="square" lIns="0" tIns="0" rIns="0" bIns="0" rtlCol="0" anchor="ctr"/>
          <a:lstStyle/>
          <a:p>
            <a:pPr indent="0" marL="0">
              <a:buNone/>
            </a:pPr>
            <a:r>
              <a:rPr lang="en-US" sz="1150" b="1" spc="60" kern="0" dirty="0">
                <a:solidFill>
                  <a:srgbClr val="C0761A"/>
                </a:solidFill>
                <a:latin typeface="Calibri" pitchFamily="34" charset="0"/>
                <a:ea typeface="Calibri" pitchFamily="34" charset="-122"/>
                <a:cs typeface="Calibri" pitchFamily="34" charset="-120"/>
              </a:rPr>
              <a:t>Implementation</a:t>
            </a:r>
            <a:endParaRPr lang="en-US" sz="1150" dirty="0"/>
          </a:p>
        </p:txBody>
      </p:sp>
      <p:sp>
        <p:nvSpPr>
          <p:cNvPr id="12" name="Text 10"/>
          <p:cNvSpPr txBox="1"/>
          <p:nvPr/>
        </p:nvSpPr>
        <p:spPr>
          <a:xfrm>
            <a:off x="822960" y="2011680"/>
            <a:ext cx="4850892" cy="1463040"/>
          </a:xfrm>
          <a:prstGeom prst="rect">
            <a:avLst/>
          </a:prstGeom>
          <a:noFill/>
          <a:ln/>
        </p:spPr>
        <p:txBody>
          <a:bodyPr wrap="square" lIns="0" tIns="0" rIns="0" bIns="0" rtlCol="0" anchor="t"/>
          <a:lstStyle/>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Every source, from Slack threads to netlists, lands in the same Postgres embeddings table, so anything written there is queryable through one interface.</a:t>
            </a:r>
            <a:endParaRPr lang="en-US" sz="1100" dirty="0"/>
          </a:p>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A single reply in Slack makes the consumer re-fetch the entire thread and rewrite it as one row, so the record always reflects the whole conversation.</a:t>
            </a:r>
            <a:endParaRPr lang="en-US" sz="1100" dirty="0"/>
          </a:p>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A planner, executor and synthesizer drive six retrieval tools in parallel, then fuse the ranked lists with reciprocal rank fusion.</a:t>
            </a:r>
            <a:endParaRPr lang="en-US" sz="1100" dirty="0"/>
          </a:p>
        </p:txBody>
      </p:sp>
      <p:sp>
        <p:nvSpPr>
          <p:cNvPr id="13" name="Shape 11"/>
          <p:cNvSpPr/>
          <p:nvPr/>
        </p:nvSpPr>
        <p:spPr>
          <a:xfrm>
            <a:off x="6240780" y="1463040"/>
            <a:ext cx="5399532" cy="2139696"/>
          </a:xfrm>
          <a:prstGeom prst="roundRect">
            <a:avLst>
              <a:gd name="adj" fmla="val 2564"/>
            </a:avLst>
          </a:prstGeom>
          <a:solidFill>
            <a:srgbClr val="F2F2EF"/>
          </a:solidFill>
          <a:ln w="12700">
            <a:solidFill>
              <a:srgbClr val="F2F2EF"/>
            </a:solidFill>
            <a:prstDash val="solid"/>
          </a:ln>
        </p:spPr>
      </p:sp>
      <p:sp>
        <p:nvSpPr>
          <p:cNvPr id="14" name="Shape 12"/>
          <p:cNvSpPr/>
          <p:nvPr/>
        </p:nvSpPr>
        <p:spPr>
          <a:xfrm>
            <a:off x="6478524" y="1627632"/>
            <a:ext cx="292608" cy="292608"/>
          </a:xfrm>
          <a:prstGeom prst="ellipse">
            <a:avLst/>
          </a:prstGeom>
          <a:solidFill>
            <a:srgbClr val="1F6F6B"/>
          </a:solidFill>
          <a:ln/>
        </p:spPr>
      </p:sp>
      <p:sp>
        <p:nvSpPr>
          <p:cNvPr id="15" name="Text 13"/>
          <p:cNvSpPr txBox="1"/>
          <p:nvPr/>
        </p:nvSpPr>
        <p:spPr>
          <a:xfrm>
            <a:off x="6478524" y="1627632"/>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mbria" pitchFamily="34" charset="0"/>
                <a:ea typeface="Cambria" pitchFamily="34" charset="-122"/>
                <a:cs typeface="Cambria" pitchFamily="34" charset="-120"/>
              </a:rPr>
              <a:t>P</a:t>
            </a:r>
            <a:endParaRPr lang="en-US" sz="1150" dirty="0"/>
          </a:p>
        </p:txBody>
      </p:sp>
      <p:sp>
        <p:nvSpPr>
          <p:cNvPr id="16" name="Text 14"/>
          <p:cNvSpPr txBox="1"/>
          <p:nvPr/>
        </p:nvSpPr>
        <p:spPr>
          <a:xfrm>
            <a:off x="6880860" y="1627632"/>
            <a:ext cx="4530852" cy="292608"/>
          </a:xfrm>
          <a:prstGeom prst="rect">
            <a:avLst/>
          </a:prstGeom>
          <a:noFill/>
          <a:ln/>
        </p:spPr>
        <p:txBody>
          <a:bodyPr wrap="square" lIns="0" tIns="0" rIns="0" bIns="0" rtlCol="0" anchor="ctr"/>
          <a:lstStyle/>
          <a:p>
            <a:pPr indent="0" marL="0">
              <a:buNone/>
            </a:pPr>
            <a:r>
              <a:rPr lang="en-US" sz="1150" b="1" spc="60" kern="0" dirty="0">
                <a:solidFill>
                  <a:srgbClr val="1F6F6B"/>
                </a:solidFill>
                <a:latin typeface="Calibri" pitchFamily="34" charset="0"/>
                <a:ea typeface="Calibri" pitchFamily="34" charset="-122"/>
                <a:cs typeface="Calibri" pitchFamily="34" charset="-120"/>
              </a:rPr>
              <a:t>Philosophy</a:t>
            </a:r>
            <a:endParaRPr lang="en-US" sz="1150" dirty="0"/>
          </a:p>
        </p:txBody>
      </p:sp>
      <p:sp>
        <p:nvSpPr>
          <p:cNvPr id="17" name="Text 15"/>
          <p:cNvSpPr txBox="1"/>
          <p:nvPr/>
        </p:nvSpPr>
        <p:spPr>
          <a:xfrm>
            <a:off x="6515100" y="2011680"/>
            <a:ext cx="4850892" cy="1463040"/>
          </a:xfrm>
          <a:prstGeom prst="rect">
            <a:avLst/>
          </a:prstGeom>
          <a:noFill/>
          <a:ln/>
        </p:spPr>
        <p:txBody>
          <a:bodyPr wrap="square" lIns="0" tIns="0" rIns="0" bIns="0" rtlCol="0" anchor="t"/>
          <a:lstStyle/>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Meet data where it lives, because the dream of a single source of truth “rarely works in practice” when every team writes where it is convenient.</a:t>
            </a:r>
            <a:endParaRPr lang="en-US" sz="1100" dirty="0"/>
          </a:p>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Distil before you embed: an LLM turns each thread into a question, summary and resolution, and only that artifact is embedded.</a:t>
            </a:r>
            <a:endParaRPr lang="en-US" sz="1100" dirty="0"/>
          </a:p>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Expose small retrieval primitives over MCP rather than one answer endpoint, so Claude Code becomes the orchestration engine instead of the server.</a:t>
            </a:r>
            <a:endParaRPr lang="en-US" sz="1100" dirty="0"/>
          </a:p>
        </p:txBody>
      </p:sp>
      <p:sp>
        <p:nvSpPr>
          <p:cNvPr id="18" name="Shape 16"/>
          <p:cNvSpPr/>
          <p:nvPr/>
        </p:nvSpPr>
        <p:spPr>
          <a:xfrm>
            <a:off x="548640" y="3730752"/>
            <a:ext cx="5399532" cy="2139696"/>
          </a:xfrm>
          <a:prstGeom prst="roundRect">
            <a:avLst>
              <a:gd name="adj" fmla="val 2564"/>
            </a:avLst>
          </a:prstGeom>
          <a:solidFill>
            <a:srgbClr val="F2F2EF"/>
          </a:solidFill>
          <a:ln w="12700">
            <a:solidFill>
              <a:srgbClr val="F2F2EF"/>
            </a:solidFill>
            <a:prstDash val="solid"/>
          </a:ln>
        </p:spPr>
      </p:sp>
      <p:sp>
        <p:nvSpPr>
          <p:cNvPr id="19" name="Shape 17"/>
          <p:cNvSpPr/>
          <p:nvPr/>
        </p:nvSpPr>
        <p:spPr>
          <a:xfrm>
            <a:off x="786384" y="3895344"/>
            <a:ext cx="292608" cy="292608"/>
          </a:xfrm>
          <a:prstGeom prst="ellipse">
            <a:avLst/>
          </a:prstGeom>
          <a:solidFill>
            <a:srgbClr val="8E3350"/>
          </a:solidFill>
          <a:ln/>
        </p:spPr>
      </p:sp>
      <p:sp>
        <p:nvSpPr>
          <p:cNvPr id="20" name="Text 18"/>
          <p:cNvSpPr txBox="1"/>
          <p:nvPr/>
        </p:nvSpPr>
        <p:spPr>
          <a:xfrm>
            <a:off x="786384" y="3895344"/>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mbria" pitchFamily="34" charset="0"/>
                <a:ea typeface="Cambria" pitchFamily="34" charset="-122"/>
                <a:cs typeface="Cambria" pitchFamily="34" charset="-120"/>
              </a:rPr>
              <a:t>U</a:t>
            </a:r>
            <a:endParaRPr lang="en-US" sz="1150" dirty="0"/>
          </a:p>
        </p:txBody>
      </p:sp>
      <p:sp>
        <p:nvSpPr>
          <p:cNvPr id="21" name="Text 19"/>
          <p:cNvSpPr txBox="1"/>
          <p:nvPr/>
        </p:nvSpPr>
        <p:spPr>
          <a:xfrm>
            <a:off x="1188720" y="3895344"/>
            <a:ext cx="4530852" cy="292608"/>
          </a:xfrm>
          <a:prstGeom prst="rect">
            <a:avLst/>
          </a:prstGeom>
          <a:noFill/>
          <a:ln/>
        </p:spPr>
        <p:txBody>
          <a:bodyPr wrap="square" lIns="0" tIns="0" rIns="0" bIns="0" rtlCol="0" anchor="ctr"/>
          <a:lstStyle/>
          <a:p>
            <a:pPr indent="0" marL="0">
              <a:buNone/>
            </a:pPr>
            <a:r>
              <a:rPr lang="en-US" sz="1150" b="1" spc="60" kern="0" dirty="0">
                <a:solidFill>
                  <a:srgbClr val="8E3350"/>
                </a:solidFill>
                <a:latin typeface="Calibri" pitchFamily="34" charset="0"/>
                <a:ea typeface="Calibri" pitchFamily="34" charset="-122"/>
                <a:cs typeface="Calibri" pitchFamily="34" charset="-120"/>
              </a:rPr>
              <a:t>How it's used</a:t>
            </a:r>
            <a:endParaRPr lang="en-US" sz="1150" dirty="0"/>
          </a:p>
        </p:txBody>
      </p:sp>
      <p:sp>
        <p:nvSpPr>
          <p:cNvPr id="22" name="Text 20"/>
          <p:cNvSpPr txBox="1"/>
          <p:nvPr/>
        </p:nvSpPr>
        <p:spPr>
          <a:xfrm>
            <a:off x="822960" y="4279392"/>
            <a:ext cx="4850892" cy="1463040"/>
          </a:xfrm>
          <a:prstGeom prst="rect">
            <a:avLst/>
          </a:prstGeom>
          <a:noFill/>
          <a:ln/>
        </p:spPr>
        <p:txBody>
          <a:bodyPr wrap="square" lIns="0" tIns="0" rIns="0" bIns="0" rtlCol="0" anchor="t"/>
          <a:lstStyle/>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15,000+ questions a day within three months of launch, making it one of the most widely adopted internal tools at the company.</a:t>
            </a:r>
            <a:endParaRPr lang="en-US" sz="1100" dirty="0"/>
          </a:p>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Humans, automations and agents all query the same surface, so no team has to maintain a second retrieval path.</a:t>
            </a:r>
            <a:endParaRPr lang="en-US" sz="1100" dirty="0"/>
          </a:p>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Every answer cites its sources and pulls in the surrounding text, so a winning chunk arrives with its heading and caveats intact.</a:t>
            </a:r>
            <a:endParaRPr lang="en-US" sz="1100" dirty="0"/>
          </a:p>
        </p:txBody>
      </p:sp>
      <p:sp>
        <p:nvSpPr>
          <p:cNvPr id="23" name="Shape 21"/>
          <p:cNvSpPr/>
          <p:nvPr/>
        </p:nvSpPr>
        <p:spPr>
          <a:xfrm>
            <a:off x="6240780" y="3730752"/>
            <a:ext cx="5399532" cy="2139696"/>
          </a:xfrm>
          <a:prstGeom prst="roundRect">
            <a:avLst>
              <a:gd name="adj" fmla="val 2564"/>
            </a:avLst>
          </a:prstGeom>
          <a:solidFill>
            <a:srgbClr val="F2F2EF"/>
          </a:solidFill>
          <a:ln w="12700">
            <a:solidFill>
              <a:srgbClr val="F2F2EF"/>
            </a:solidFill>
            <a:prstDash val="solid"/>
          </a:ln>
        </p:spPr>
      </p:sp>
      <p:sp>
        <p:nvSpPr>
          <p:cNvPr id="24" name="Shape 22"/>
          <p:cNvSpPr/>
          <p:nvPr/>
        </p:nvSpPr>
        <p:spPr>
          <a:xfrm>
            <a:off x="6478524" y="3895344"/>
            <a:ext cx="292608" cy="292608"/>
          </a:xfrm>
          <a:prstGeom prst="ellipse">
            <a:avLst/>
          </a:prstGeom>
          <a:solidFill>
            <a:srgbClr val="3C4759"/>
          </a:solidFill>
          <a:ln/>
        </p:spPr>
      </p:sp>
      <p:sp>
        <p:nvSpPr>
          <p:cNvPr id="25" name="Text 23"/>
          <p:cNvSpPr txBox="1"/>
          <p:nvPr/>
        </p:nvSpPr>
        <p:spPr>
          <a:xfrm>
            <a:off x="6478524" y="3895344"/>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mbria" pitchFamily="34" charset="0"/>
                <a:ea typeface="Cambria" pitchFamily="34" charset="-122"/>
                <a:cs typeface="Cambria" pitchFamily="34" charset="-120"/>
              </a:rPr>
              <a:t>M</a:t>
            </a:r>
            <a:endParaRPr lang="en-US" sz="1150" dirty="0"/>
          </a:p>
        </p:txBody>
      </p:sp>
      <p:sp>
        <p:nvSpPr>
          <p:cNvPr id="26" name="Text 24"/>
          <p:cNvSpPr txBox="1"/>
          <p:nvPr/>
        </p:nvSpPr>
        <p:spPr>
          <a:xfrm>
            <a:off x="6880860" y="3895344"/>
            <a:ext cx="4530852" cy="292608"/>
          </a:xfrm>
          <a:prstGeom prst="rect">
            <a:avLst/>
          </a:prstGeom>
          <a:noFill/>
          <a:ln/>
        </p:spPr>
        <p:txBody>
          <a:bodyPr wrap="square" lIns="0" tIns="0" rIns="0" bIns="0" rtlCol="0" anchor="ctr"/>
          <a:lstStyle/>
          <a:p>
            <a:pPr indent="0" marL="0">
              <a:buNone/>
            </a:pPr>
            <a:r>
              <a:rPr lang="en-US" sz="1150" b="1" spc="60" kern="0" dirty="0">
                <a:solidFill>
                  <a:srgbClr val="3C4759"/>
                </a:solidFill>
                <a:latin typeface="Calibri" pitchFamily="34" charset="0"/>
                <a:ea typeface="Calibri" pitchFamily="34" charset="-122"/>
                <a:cs typeface="Calibri" pitchFamily="34" charset="-120"/>
              </a:rPr>
              <a:t>Maintenance</a:t>
            </a:r>
            <a:endParaRPr lang="en-US" sz="1150" dirty="0"/>
          </a:p>
        </p:txBody>
      </p:sp>
      <p:sp>
        <p:nvSpPr>
          <p:cNvPr id="27" name="Text 25"/>
          <p:cNvSpPr txBox="1"/>
          <p:nvPr/>
        </p:nvSpPr>
        <p:spPr>
          <a:xfrm>
            <a:off x="6515100" y="4279392"/>
            <a:ext cx="4850892" cy="1463040"/>
          </a:xfrm>
          <a:prstGeom prst="rect">
            <a:avLst/>
          </a:prstGeom>
          <a:noFill/>
          <a:ln/>
        </p:spPr>
        <p:txBody>
          <a:bodyPr wrap="square" lIns="0" tIns="0" rIns="0" bIns="0" rtlCol="0" anchor="t"/>
          <a:lstStyle/>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Every Slack channel is its own data source, so a busy incident channel can be ingested far more often than a quiet one.</a:t>
            </a:r>
            <a:endParaRPr lang="en-US" sz="1100" dirty="0"/>
          </a:p>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A team adds its own database by opening a PR with a small Python plugin, which means the connector is reviewed like any other code.</a:t>
            </a:r>
            <a:endParaRPr lang="en-US" sz="1100" dirty="0"/>
          </a:p>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“Projects” bundle sources together and new hires pick one at onboarding, so search is scoped from day one instead of returning everything.</a:t>
            </a:r>
            <a:endParaRPr lang="en-US" sz="1100" dirty="0"/>
          </a:p>
        </p:txBody>
      </p:sp>
      <p:sp>
        <p:nvSpPr>
          <p:cNvPr id="28" name="Text 26"/>
          <p:cNvSpPr txBox="1"/>
          <p:nvPr/>
        </p:nvSpPr>
        <p:spPr>
          <a:xfrm>
            <a:off x="548640" y="5943600"/>
            <a:ext cx="2544318" cy="310896"/>
          </a:xfrm>
          <a:prstGeom prst="rect">
            <a:avLst/>
          </a:prstGeom>
          <a:noFill/>
          <a:ln/>
        </p:spPr>
        <p:txBody>
          <a:bodyPr wrap="square" lIns="0" tIns="0" rIns="0" bIns="0" rtlCol="0" anchor="b"/>
          <a:lstStyle/>
          <a:p>
            <a:pPr indent="0" marL="0">
              <a:buNone/>
            </a:pPr>
            <a:r>
              <a:rPr lang="en-US" sz="1900" b="1" dirty="0">
                <a:solidFill>
                  <a:srgbClr val="15181E"/>
                </a:solidFill>
                <a:latin typeface="Cambria" pitchFamily="34" charset="0"/>
                <a:ea typeface="Cambria" pitchFamily="34" charset="-122"/>
                <a:cs typeface="Cambria" pitchFamily="34" charset="-120"/>
              </a:rPr>
              <a:t>15,000+</a:t>
            </a:r>
            <a:endParaRPr lang="en-US" sz="1900" dirty="0"/>
          </a:p>
        </p:txBody>
      </p:sp>
      <p:sp>
        <p:nvSpPr>
          <p:cNvPr id="29" name="Text 27"/>
          <p:cNvSpPr txBox="1"/>
          <p:nvPr/>
        </p:nvSpPr>
        <p:spPr>
          <a:xfrm>
            <a:off x="548640" y="6272784"/>
            <a:ext cx="2544318" cy="475488"/>
          </a:xfrm>
          <a:prstGeom prst="rect">
            <a:avLst/>
          </a:prstGeom>
          <a:noFill/>
          <a:ln/>
        </p:spPr>
        <p:txBody>
          <a:bodyPr wrap="square" lIns="0" tIns="0" rIns="0" bIns="0" rtlCol="0" anchor="t"/>
          <a:lstStyle/>
          <a:p>
            <a:pPr indent="0" marL="0">
              <a:lnSpc>
                <a:spcPct val="106000"/>
              </a:lnSpc>
              <a:buNone/>
            </a:pPr>
            <a:r>
              <a:rPr lang="en-US" sz="950" dirty="0">
                <a:solidFill>
                  <a:srgbClr val="6E7480"/>
                </a:solidFill>
                <a:latin typeface="Calibri" pitchFamily="34" charset="0"/>
                <a:ea typeface="Calibri" pitchFamily="34" charset="-122"/>
                <a:cs typeface="Calibri" pitchFamily="34" charset="-120"/>
              </a:rPr>
              <a:t>questions a day, three months after launch</a:t>
            </a:r>
            <a:endParaRPr lang="en-US" sz="950" dirty="0"/>
          </a:p>
        </p:txBody>
      </p:sp>
      <p:sp>
        <p:nvSpPr>
          <p:cNvPr id="30" name="Text 28"/>
          <p:cNvSpPr txBox="1"/>
          <p:nvPr/>
        </p:nvSpPr>
        <p:spPr>
          <a:xfrm>
            <a:off x="3321558" y="5943600"/>
            <a:ext cx="2544318" cy="310896"/>
          </a:xfrm>
          <a:prstGeom prst="rect">
            <a:avLst/>
          </a:prstGeom>
          <a:noFill/>
          <a:ln/>
        </p:spPr>
        <p:txBody>
          <a:bodyPr wrap="square" lIns="0" tIns="0" rIns="0" bIns="0" rtlCol="0" anchor="b"/>
          <a:lstStyle/>
          <a:p>
            <a:pPr indent="0" marL="0">
              <a:buNone/>
            </a:pPr>
            <a:r>
              <a:rPr lang="en-US" sz="1900" b="1" dirty="0">
                <a:solidFill>
                  <a:srgbClr val="15181E"/>
                </a:solidFill>
                <a:latin typeface="Cambria" pitchFamily="34" charset="0"/>
                <a:ea typeface="Cambria" pitchFamily="34" charset="-122"/>
                <a:cs typeface="Cambria" pitchFamily="34" charset="-120"/>
              </a:rPr>
              <a:t>3 mo</a:t>
            </a:r>
            <a:endParaRPr lang="en-US" sz="1900" dirty="0"/>
          </a:p>
        </p:txBody>
      </p:sp>
      <p:sp>
        <p:nvSpPr>
          <p:cNvPr id="31" name="Text 29"/>
          <p:cNvSpPr txBox="1"/>
          <p:nvPr/>
        </p:nvSpPr>
        <p:spPr>
          <a:xfrm>
            <a:off x="3321558" y="6272784"/>
            <a:ext cx="2544318" cy="475488"/>
          </a:xfrm>
          <a:prstGeom prst="rect">
            <a:avLst/>
          </a:prstGeom>
          <a:noFill/>
          <a:ln/>
        </p:spPr>
        <p:txBody>
          <a:bodyPr wrap="square" lIns="0" tIns="0" rIns="0" bIns="0" rtlCol="0" anchor="t"/>
          <a:lstStyle/>
          <a:p>
            <a:pPr indent="0" marL="0">
              <a:lnSpc>
                <a:spcPct val="106000"/>
              </a:lnSpc>
              <a:buNone/>
            </a:pPr>
            <a:r>
              <a:rPr lang="en-US" sz="950" dirty="0">
                <a:solidFill>
                  <a:srgbClr val="6E7480"/>
                </a:solidFill>
                <a:latin typeface="Calibri" pitchFamily="34" charset="0"/>
                <a:ea typeface="Calibri" pitchFamily="34" charset="-122"/>
                <a:cs typeface="Calibri" pitchFamily="34" charset="-120"/>
              </a:rPr>
              <a:t>from launch to a default internal tool</a:t>
            </a:r>
            <a:endParaRPr lang="en-US" sz="950" dirty="0"/>
          </a:p>
        </p:txBody>
      </p:sp>
      <p:sp>
        <p:nvSpPr>
          <p:cNvPr id="32" name="Text 30"/>
          <p:cNvSpPr txBox="1"/>
          <p:nvPr/>
        </p:nvSpPr>
        <p:spPr>
          <a:xfrm>
            <a:off x="6094476" y="5943600"/>
            <a:ext cx="2544318" cy="310896"/>
          </a:xfrm>
          <a:prstGeom prst="rect">
            <a:avLst/>
          </a:prstGeom>
          <a:noFill/>
          <a:ln/>
        </p:spPr>
        <p:txBody>
          <a:bodyPr wrap="square" lIns="0" tIns="0" rIns="0" bIns="0" rtlCol="0" anchor="b"/>
          <a:lstStyle/>
          <a:p>
            <a:pPr indent="0" marL="0">
              <a:buNone/>
            </a:pPr>
            <a:r>
              <a:rPr lang="en-US" sz="1900" b="1" dirty="0">
                <a:solidFill>
                  <a:srgbClr val="15181E"/>
                </a:solidFill>
                <a:latin typeface="Cambria" pitchFamily="34" charset="0"/>
                <a:ea typeface="Cambria" pitchFamily="34" charset="-122"/>
                <a:cs typeface="Cambria" pitchFamily="34" charset="-120"/>
              </a:rPr>
              <a:t>1 table</a:t>
            </a:r>
            <a:endParaRPr lang="en-US" sz="1900" dirty="0"/>
          </a:p>
        </p:txBody>
      </p:sp>
      <p:sp>
        <p:nvSpPr>
          <p:cNvPr id="33" name="Text 31"/>
          <p:cNvSpPr txBox="1"/>
          <p:nvPr/>
        </p:nvSpPr>
        <p:spPr>
          <a:xfrm>
            <a:off x="6094476" y="6272784"/>
            <a:ext cx="2544318" cy="475488"/>
          </a:xfrm>
          <a:prstGeom prst="rect">
            <a:avLst/>
          </a:prstGeom>
          <a:noFill/>
          <a:ln/>
        </p:spPr>
        <p:txBody>
          <a:bodyPr wrap="square" lIns="0" tIns="0" rIns="0" bIns="0" rtlCol="0" anchor="t"/>
          <a:lstStyle/>
          <a:p>
            <a:pPr indent="0" marL="0">
              <a:lnSpc>
                <a:spcPct val="106000"/>
              </a:lnSpc>
              <a:buNone/>
            </a:pPr>
            <a:r>
              <a:rPr lang="en-US" sz="950" dirty="0">
                <a:solidFill>
                  <a:srgbClr val="6E7480"/>
                </a:solidFill>
                <a:latin typeface="Calibri" pitchFamily="34" charset="0"/>
                <a:ea typeface="Calibri" pitchFamily="34" charset="-122"/>
                <a:cs typeface="Calibri" pitchFamily="34" charset="-120"/>
              </a:rPr>
              <a:t>holds every source under one schema</a:t>
            </a:r>
            <a:endParaRPr lang="en-US" sz="950" dirty="0"/>
          </a:p>
        </p:txBody>
      </p:sp>
      <p:sp>
        <p:nvSpPr>
          <p:cNvPr id="34" name="Text 32"/>
          <p:cNvSpPr txBox="1"/>
          <p:nvPr/>
        </p:nvSpPr>
        <p:spPr>
          <a:xfrm>
            <a:off x="8867394" y="5943600"/>
            <a:ext cx="2544318" cy="310896"/>
          </a:xfrm>
          <a:prstGeom prst="rect">
            <a:avLst/>
          </a:prstGeom>
          <a:noFill/>
          <a:ln/>
        </p:spPr>
        <p:txBody>
          <a:bodyPr wrap="square" lIns="0" tIns="0" rIns="0" bIns="0" rtlCol="0" anchor="b"/>
          <a:lstStyle/>
          <a:p>
            <a:pPr indent="0" marL="0">
              <a:buNone/>
            </a:pPr>
            <a:r>
              <a:rPr lang="en-US" sz="1900" b="1" dirty="0">
                <a:solidFill>
                  <a:srgbClr val="15181E"/>
                </a:solidFill>
                <a:latin typeface="Cambria" pitchFamily="34" charset="0"/>
                <a:ea typeface="Cambria" pitchFamily="34" charset="-122"/>
                <a:cs typeface="Cambria" pitchFamily="34" charset="-120"/>
              </a:rPr>
              <a:t>4 signals</a:t>
            </a:r>
            <a:endParaRPr lang="en-US" sz="1900" dirty="0"/>
          </a:p>
        </p:txBody>
      </p:sp>
      <p:sp>
        <p:nvSpPr>
          <p:cNvPr id="35" name="Text 33"/>
          <p:cNvSpPr txBox="1"/>
          <p:nvPr/>
        </p:nvSpPr>
        <p:spPr>
          <a:xfrm>
            <a:off x="8867394" y="6272784"/>
            <a:ext cx="2544318" cy="475488"/>
          </a:xfrm>
          <a:prstGeom prst="rect">
            <a:avLst/>
          </a:prstGeom>
          <a:noFill/>
          <a:ln/>
        </p:spPr>
        <p:txBody>
          <a:bodyPr wrap="square" lIns="0" tIns="0" rIns="0" bIns="0" rtlCol="0" anchor="t"/>
          <a:lstStyle/>
          <a:p>
            <a:pPr indent="0" marL="0">
              <a:lnSpc>
                <a:spcPct val="106000"/>
              </a:lnSpc>
              <a:buNone/>
            </a:pPr>
            <a:r>
              <a:rPr lang="en-US" sz="950" dirty="0">
                <a:solidFill>
                  <a:srgbClr val="6E7480"/>
                </a:solidFill>
                <a:latin typeface="Calibri" pitchFamily="34" charset="0"/>
                <a:ea typeface="Calibri" pitchFamily="34" charset="-122"/>
                <a:cs typeface="Calibri" pitchFamily="34" charset="-120"/>
              </a:rPr>
              <a:t>fused on every Slack query</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10896"/>
            <a:ext cx="365760" cy="365760"/>
          </a:xfrm>
          <a:prstGeom prst="roundRect">
            <a:avLst>
              <a:gd name="adj" fmla="val 20000"/>
            </a:avLst>
          </a:prstGeom>
          <a:solidFill>
            <a:srgbClr val="FFFFFF"/>
          </a:solidFill>
          <a:ln w="15875">
            <a:solidFill>
              <a:srgbClr val="15181E"/>
            </a:solidFill>
            <a:prstDash val="solid"/>
          </a:ln>
        </p:spPr>
      </p:sp>
      <p:sp>
        <p:nvSpPr>
          <p:cNvPr id="3" name="Text 1"/>
          <p:cNvSpPr txBox="1"/>
          <p:nvPr/>
        </p:nvSpPr>
        <p:spPr>
          <a:xfrm>
            <a:off x="548640" y="310896"/>
            <a:ext cx="365760" cy="365760"/>
          </a:xfrm>
          <a:prstGeom prst="rect">
            <a:avLst/>
          </a:prstGeom>
          <a:noFill/>
          <a:ln/>
        </p:spPr>
        <p:txBody>
          <a:bodyPr wrap="square" lIns="0" tIns="0" rIns="0" bIns="0" rtlCol="0" anchor="ctr"/>
          <a:lstStyle/>
          <a:p>
            <a:pPr algn="ctr" indent="0" marL="0">
              <a:buNone/>
            </a:pPr>
            <a:r>
              <a:rPr lang="en-US" sz="1300" b="1" spc="40" kern="0" dirty="0">
                <a:solidFill>
                  <a:srgbClr val="15181E"/>
                </a:solidFill>
                <a:latin typeface="Cambria" pitchFamily="34" charset="0"/>
                <a:ea typeface="Cambria" pitchFamily="34" charset="-122"/>
                <a:cs typeface="Cambria" pitchFamily="34" charset="-120"/>
              </a:rPr>
              <a:t>CB</a:t>
            </a:r>
            <a:endParaRPr lang="en-US" sz="1300" dirty="0"/>
          </a:p>
        </p:txBody>
      </p:sp>
      <p:sp>
        <p:nvSpPr>
          <p:cNvPr id="4" name="Text 2"/>
          <p:cNvSpPr txBox="1"/>
          <p:nvPr/>
        </p:nvSpPr>
        <p:spPr>
          <a:xfrm>
            <a:off x="1133856" y="237744"/>
            <a:ext cx="7132320" cy="548640"/>
          </a:xfrm>
          <a:prstGeom prst="rect">
            <a:avLst/>
          </a:prstGeom>
          <a:noFill/>
          <a:ln/>
        </p:spPr>
        <p:txBody>
          <a:bodyPr wrap="square" lIns="0" tIns="0" rIns="0" bIns="0" rtlCol="0" anchor="ctr"/>
          <a:lstStyle/>
          <a:p>
            <a:pPr indent="0" marL="0">
              <a:buNone/>
            </a:pPr>
            <a:r>
              <a:rPr lang="en-US" sz="2400" b="1" dirty="0">
                <a:solidFill>
                  <a:srgbClr val="15181E"/>
                </a:solidFill>
                <a:latin typeface="Cambria" pitchFamily="34" charset="0"/>
                <a:ea typeface="Cambria" pitchFamily="34" charset="-122"/>
                <a:cs typeface="Cambria" pitchFamily="34" charset="-120"/>
              </a:rPr>
              <a:t>Cerebras</a:t>
            </a:r>
            <a:endParaRPr lang="en-US" sz="2400" dirty="0"/>
          </a:p>
        </p:txBody>
      </p:sp>
      <p:sp>
        <p:nvSpPr>
          <p:cNvPr id="5" name="Shape 3"/>
          <p:cNvSpPr/>
          <p:nvPr/>
        </p:nvSpPr>
        <p:spPr>
          <a:xfrm>
            <a:off x="9902952" y="347472"/>
            <a:ext cx="1737360" cy="274320"/>
          </a:xfrm>
          <a:prstGeom prst="roundRect">
            <a:avLst>
              <a:gd name="adj" fmla="val 50000"/>
            </a:avLst>
          </a:prstGeom>
          <a:solidFill>
            <a:srgbClr val="1F6F6B"/>
          </a:solidFill>
          <a:ln/>
        </p:spPr>
      </p:sp>
      <p:sp>
        <p:nvSpPr>
          <p:cNvPr id="6" name="Text 4"/>
          <p:cNvSpPr txBox="1"/>
          <p:nvPr/>
        </p:nvSpPr>
        <p:spPr>
          <a:xfrm>
            <a:off x="9902952" y="347472"/>
            <a:ext cx="17373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FIRST-PARTY</a:t>
            </a:r>
            <a:endParaRPr lang="en-US" sz="850" dirty="0"/>
          </a:p>
        </p:txBody>
      </p:sp>
      <p:sp>
        <p:nvSpPr>
          <p:cNvPr id="7" name="Text 5"/>
          <p:cNvSpPr txBox="1"/>
          <p:nvPr/>
        </p:nvSpPr>
        <p:spPr>
          <a:xfrm>
            <a:off x="548640" y="786384"/>
            <a:ext cx="10881360" cy="402336"/>
          </a:xfrm>
          <a:prstGeom prst="rect">
            <a:avLst/>
          </a:prstGeom>
          <a:noFill/>
          <a:ln/>
        </p:spPr>
        <p:txBody>
          <a:bodyPr wrap="square" lIns="0" tIns="0" rIns="0" bIns="0" rtlCol="0" anchor="t"/>
          <a:lstStyle/>
          <a:p>
            <a:pPr indent="0" marL="0">
              <a:lnSpc>
                <a:spcPct val="106000"/>
              </a:lnSpc>
              <a:buNone/>
            </a:pPr>
            <a:r>
              <a:rPr lang="en-US" sz="1450" dirty="0">
                <a:solidFill>
                  <a:srgbClr val="232833"/>
                </a:solidFill>
                <a:latin typeface="Calibri" pitchFamily="34" charset="0"/>
                <a:ea typeface="Calibri" pitchFamily="34" charset="-122"/>
                <a:cs typeface="Calibri" pitchFamily="34" charset="-120"/>
              </a:rPr>
              <a:t>How one Slack thread becomes an answer, from the moment someone types it to the moment someone else reads the result.</a:t>
            </a:r>
            <a:endParaRPr lang="en-US" sz="1450" dirty="0"/>
          </a:p>
        </p:txBody>
      </p:sp>
      <p:sp>
        <p:nvSpPr>
          <p:cNvPr id="8" name="Text 6"/>
          <p:cNvSpPr txBox="1"/>
          <p:nvPr/>
        </p:nvSpPr>
        <p:spPr>
          <a:xfrm>
            <a:off x="548640" y="1316736"/>
            <a:ext cx="5486400" cy="201168"/>
          </a:xfrm>
          <a:prstGeom prst="rect">
            <a:avLst/>
          </a:prstGeom>
          <a:noFill/>
          <a:ln/>
        </p:spPr>
        <p:txBody>
          <a:bodyPr wrap="square" lIns="0" tIns="0" rIns="0" bIns="0" rtlCol="0" anchor="ctr"/>
          <a:lstStyle/>
          <a:p>
            <a:pPr indent="0" marL="0">
              <a:buNone/>
            </a:pPr>
            <a:r>
              <a:rPr lang="en-US" sz="950" b="1" spc="200" kern="0" dirty="0">
                <a:solidFill>
                  <a:srgbClr val="C0761A"/>
                </a:solidFill>
                <a:latin typeface="Calibri" pitchFamily="34" charset="0"/>
                <a:ea typeface="Calibri" pitchFamily="34" charset="-122"/>
                <a:cs typeface="Calibri" pitchFamily="34" charset="-120"/>
              </a:rPr>
              <a:t>INGEST</a:t>
            </a:r>
            <a:endParaRPr lang="en-US" sz="950" dirty="0"/>
          </a:p>
        </p:txBody>
      </p:sp>
      <p:sp>
        <p:nvSpPr>
          <p:cNvPr id="9" name="Shape 7"/>
          <p:cNvSpPr/>
          <p:nvPr/>
        </p:nvSpPr>
        <p:spPr>
          <a:xfrm>
            <a:off x="548640" y="1554480"/>
            <a:ext cx="2512314" cy="1060704"/>
          </a:xfrm>
          <a:prstGeom prst="roundRect">
            <a:avLst>
              <a:gd name="adj" fmla="val 5172"/>
            </a:avLst>
          </a:prstGeom>
          <a:solidFill>
            <a:srgbClr val="F2F2EF"/>
          </a:solidFill>
          <a:ln w="12700">
            <a:solidFill>
              <a:srgbClr val="F2F2EF"/>
            </a:solidFill>
            <a:prstDash val="solid"/>
          </a:ln>
        </p:spPr>
      </p:sp>
      <p:sp>
        <p:nvSpPr>
          <p:cNvPr id="10" name="Text 8"/>
          <p:cNvSpPr txBox="1"/>
          <p:nvPr/>
        </p:nvSpPr>
        <p:spPr>
          <a:xfrm>
            <a:off x="749808" y="1627632"/>
            <a:ext cx="2109978" cy="256032"/>
          </a:xfrm>
          <a:prstGeom prst="rect">
            <a:avLst/>
          </a:prstGeom>
          <a:noFill/>
          <a:ln/>
        </p:spPr>
        <p:txBody>
          <a:bodyPr wrap="square" lIns="0" tIns="0" rIns="0" bIns="0" rtlCol="0" anchor="ctr"/>
          <a:lstStyle/>
          <a:p>
            <a:pPr indent="0" marL="0">
              <a:buNone/>
            </a:pPr>
            <a:r>
              <a:rPr lang="en-US" sz="1150" b="1" dirty="0">
                <a:solidFill>
                  <a:srgbClr val="C0761A"/>
                </a:solidFill>
                <a:latin typeface="Calibri" pitchFamily="34" charset="0"/>
                <a:ea typeface="Calibri" pitchFamily="34" charset="-122"/>
                <a:cs typeface="Calibri" pitchFamily="34" charset="-120"/>
              </a:rPr>
              <a:t>Message arrives</a:t>
            </a:r>
            <a:endParaRPr lang="en-US" sz="1150" dirty="0"/>
          </a:p>
        </p:txBody>
      </p:sp>
      <p:sp>
        <p:nvSpPr>
          <p:cNvPr id="11" name="Text 9"/>
          <p:cNvSpPr txBox="1"/>
          <p:nvPr/>
        </p:nvSpPr>
        <p:spPr>
          <a:xfrm>
            <a:off x="749808" y="1901952"/>
            <a:ext cx="2109978" cy="640080"/>
          </a:xfrm>
          <a:prstGeom prst="rect">
            <a:avLst/>
          </a:prstGeom>
          <a:noFill/>
          <a:ln/>
        </p:spPr>
        <p:txBody>
          <a:bodyPr wrap="square" lIns="0" tIns="0" rIns="0" bIns="0" rtlCol="0" anchor="t"/>
          <a:lstStyle/>
          <a:p>
            <a:pPr indent="0" marL="0">
              <a:lnSpc>
                <a:spcPct val="105000"/>
              </a:lnSpc>
              <a:buNone/>
            </a:pPr>
            <a:r>
              <a:rPr lang="en-US" sz="1000" dirty="0">
                <a:solidFill>
                  <a:srgbClr val="232833"/>
                </a:solidFill>
                <a:latin typeface="Calibri" pitchFamily="34" charset="0"/>
                <a:ea typeface="Calibri" pitchFamily="34" charset="-122"/>
                <a:cs typeface="Calibri" pitchFamily="34" charset="-120"/>
              </a:rPr>
              <a:t>A bot in Socket Mode receives every message over a WebSocket and dedupes it by stable event ID.</a:t>
            </a:r>
            <a:endParaRPr lang="en-US" sz="1000" dirty="0"/>
          </a:p>
        </p:txBody>
      </p:sp>
      <p:sp>
        <p:nvSpPr>
          <p:cNvPr id="12" name="Text 10"/>
          <p:cNvSpPr txBox="1"/>
          <p:nvPr/>
        </p:nvSpPr>
        <p:spPr>
          <a:xfrm>
            <a:off x="3060954" y="1554480"/>
            <a:ext cx="347472" cy="1060704"/>
          </a:xfrm>
          <a:prstGeom prst="rect">
            <a:avLst/>
          </a:prstGeom>
          <a:noFill/>
          <a:ln/>
        </p:spPr>
        <p:txBody>
          <a:bodyPr wrap="square" lIns="0" tIns="0" rIns="0" bIns="0" rtlCol="0" anchor="ctr"/>
          <a:lstStyle/>
          <a:p>
            <a:pPr algn="ctr" indent="0" marL="0">
              <a:buNone/>
            </a:pPr>
            <a:r>
              <a:rPr lang="en-US" sz="1900" b="1" dirty="0">
                <a:solidFill>
                  <a:srgbClr val="A8AEBB"/>
                </a:solidFill>
                <a:latin typeface="Calibri" pitchFamily="34" charset="0"/>
                <a:ea typeface="Calibri" pitchFamily="34" charset="-122"/>
                <a:cs typeface="Calibri" pitchFamily="34" charset="-120"/>
              </a:rPr>
              <a:t>›</a:t>
            </a:r>
            <a:endParaRPr lang="en-US" sz="1900" dirty="0"/>
          </a:p>
        </p:txBody>
      </p:sp>
      <p:sp>
        <p:nvSpPr>
          <p:cNvPr id="13" name="Shape 11"/>
          <p:cNvSpPr/>
          <p:nvPr/>
        </p:nvSpPr>
        <p:spPr>
          <a:xfrm>
            <a:off x="3408426" y="1554480"/>
            <a:ext cx="2512314" cy="1060704"/>
          </a:xfrm>
          <a:prstGeom prst="roundRect">
            <a:avLst>
              <a:gd name="adj" fmla="val 5172"/>
            </a:avLst>
          </a:prstGeom>
          <a:solidFill>
            <a:srgbClr val="F2F2EF"/>
          </a:solidFill>
          <a:ln w="12700">
            <a:solidFill>
              <a:srgbClr val="F2F2EF"/>
            </a:solidFill>
            <a:prstDash val="solid"/>
          </a:ln>
        </p:spPr>
      </p:sp>
      <p:sp>
        <p:nvSpPr>
          <p:cNvPr id="14" name="Text 12"/>
          <p:cNvSpPr txBox="1"/>
          <p:nvPr/>
        </p:nvSpPr>
        <p:spPr>
          <a:xfrm>
            <a:off x="3609594" y="1627632"/>
            <a:ext cx="2109978" cy="256032"/>
          </a:xfrm>
          <a:prstGeom prst="rect">
            <a:avLst/>
          </a:prstGeom>
          <a:noFill/>
          <a:ln/>
        </p:spPr>
        <p:txBody>
          <a:bodyPr wrap="square" lIns="0" tIns="0" rIns="0" bIns="0" rtlCol="0" anchor="ctr"/>
          <a:lstStyle/>
          <a:p>
            <a:pPr indent="0" marL="0">
              <a:buNone/>
            </a:pPr>
            <a:r>
              <a:rPr lang="en-US" sz="1150" b="1" dirty="0">
                <a:solidFill>
                  <a:srgbClr val="C0761A"/>
                </a:solidFill>
                <a:latin typeface="Calibri" pitchFamily="34" charset="0"/>
                <a:ea typeface="Calibri" pitchFamily="34" charset="-122"/>
                <a:cs typeface="Calibri" pitchFamily="34" charset="-120"/>
              </a:rPr>
              <a:t>Thread re-fetched</a:t>
            </a:r>
            <a:endParaRPr lang="en-US" sz="1150" dirty="0"/>
          </a:p>
        </p:txBody>
      </p:sp>
      <p:sp>
        <p:nvSpPr>
          <p:cNvPr id="15" name="Text 13"/>
          <p:cNvSpPr txBox="1"/>
          <p:nvPr/>
        </p:nvSpPr>
        <p:spPr>
          <a:xfrm>
            <a:off x="3609594" y="1901952"/>
            <a:ext cx="2109978" cy="640080"/>
          </a:xfrm>
          <a:prstGeom prst="rect">
            <a:avLst/>
          </a:prstGeom>
          <a:noFill/>
          <a:ln/>
        </p:spPr>
        <p:txBody>
          <a:bodyPr wrap="square" lIns="0" tIns="0" rIns="0" bIns="0" rtlCol="0" anchor="t"/>
          <a:lstStyle/>
          <a:p>
            <a:pPr indent="0" marL="0">
              <a:lnSpc>
                <a:spcPct val="105000"/>
              </a:lnSpc>
              <a:buNone/>
            </a:pPr>
            <a:r>
              <a:rPr lang="en-US" sz="1000" dirty="0">
                <a:solidFill>
                  <a:srgbClr val="232833"/>
                </a:solidFill>
                <a:latin typeface="Calibri" pitchFamily="34" charset="0"/>
                <a:ea typeface="Calibri" pitchFamily="34" charset="-122"/>
                <a:cs typeface="Calibri" pitchFamily="34" charset="-120"/>
              </a:rPr>
              <a:t>The whole conversation is pulled back from the API and stored as a single row, not as separate messages.</a:t>
            </a:r>
            <a:endParaRPr lang="en-US" sz="1000" dirty="0"/>
          </a:p>
        </p:txBody>
      </p:sp>
      <p:sp>
        <p:nvSpPr>
          <p:cNvPr id="16" name="Text 14"/>
          <p:cNvSpPr txBox="1"/>
          <p:nvPr/>
        </p:nvSpPr>
        <p:spPr>
          <a:xfrm>
            <a:off x="5920740" y="1554480"/>
            <a:ext cx="347472" cy="1060704"/>
          </a:xfrm>
          <a:prstGeom prst="rect">
            <a:avLst/>
          </a:prstGeom>
          <a:noFill/>
          <a:ln/>
        </p:spPr>
        <p:txBody>
          <a:bodyPr wrap="square" lIns="0" tIns="0" rIns="0" bIns="0" rtlCol="0" anchor="ctr"/>
          <a:lstStyle/>
          <a:p>
            <a:pPr algn="ctr" indent="0" marL="0">
              <a:buNone/>
            </a:pPr>
            <a:r>
              <a:rPr lang="en-US" sz="1900" b="1" dirty="0">
                <a:solidFill>
                  <a:srgbClr val="A8AEBB"/>
                </a:solidFill>
                <a:latin typeface="Calibri" pitchFamily="34" charset="0"/>
                <a:ea typeface="Calibri" pitchFamily="34" charset="-122"/>
                <a:cs typeface="Calibri" pitchFamily="34" charset="-120"/>
              </a:rPr>
              <a:t>›</a:t>
            </a:r>
            <a:endParaRPr lang="en-US" sz="1900" dirty="0"/>
          </a:p>
        </p:txBody>
      </p:sp>
      <p:sp>
        <p:nvSpPr>
          <p:cNvPr id="17" name="Shape 15"/>
          <p:cNvSpPr/>
          <p:nvPr/>
        </p:nvSpPr>
        <p:spPr>
          <a:xfrm>
            <a:off x="6268212" y="1554480"/>
            <a:ext cx="2512314" cy="1060704"/>
          </a:xfrm>
          <a:prstGeom prst="roundRect">
            <a:avLst>
              <a:gd name="adj" fmla="val 5172"/>
            </a:avLst>
          </a:prstGeom>
          <a:solidFill>
            <a:srgbClr val="F2F2EF"/>
          </a:solidFill>
          <a:ln w="12700">
            <a:solidFill>
              <a:srgbClr val="F2F2EF"/>
            </a:solidFill>
            <a:prstDash val="solid"/>
          </a:ln>
        </p:spPr>
      </p:sp>
      <p:sp>
        <p:nvSpPr>
          <p:cNvPr id="18" name="Text 16"/>
          <p:cNvSpPr txBox="1"/>
          <p:nvPr/>
        </p:nvSpPr>
        <p:spPr>
          <a:xfrm>
            <a:off x="6469380" y="1627632"/>
            <a:ext cx="2109978" cy="256032"/>
          </a:xfrm>
          <a:prstGeom prst="rect">
            <a:avLst/>
          </a:prstGeom>
          <a:noFill/>
          <a:ln/>
        </p:spPr>
        <p:txBody>
          <a:bodyPr wrap="square" lIns="0" tIns="0" rIns="0" bIns="0" rtlCol="0" anchor="ctr"/>
          <a:lstStyle/>
          <a:p>
            <a:pPr indent="0" marL="0">
              <a:buNone/>
            </a:pPr>
            <a:r>
              <a:rPr lang="en-US" sz="1150" b="1" dirty="0">
                <a:solidFill>
                  <a:srgbClr val="C0761A"/>
                </a:solidFill>
                <a:latin typeface="Calibri" pitchFamily="34" charset="0"/>
                <a:ea typeface="Calibri" pitchFamily="34" charset="-122"/>
                <a:cs typeface="Calibri" pitchFamily="34" charset="-120"/>
              </a:rPr>
              <a:t>An LLM distils it</a:t>
            </a:r>
            <a:endParaRPr lang="en-US" sz="1150" dirty="0"/>
          </a:p>
        </p:txBody>
      </p:sp>
      <p:sp>
        <p:nvSpPr>
          <p:cNvPr id="19" name="Text 17"/>
          <p:cNvSpPr txBox="1"/>
          <p:nvPr/>
        </p:nvSpPr>
        <p:spPr>
          <a:xfrm>
            <a:off x="6469380" y="1901952"/>
            <a:ext cx="2109978" cy="640080"/>
          </a:xfrm>
          <a:prstGeom prst="rect">
            <a:avLst/>
          </a:prstGeom>
          <a:noFill/>
          <a:ln/>
        </p:spPr>
        <p:txBody>
          <a:bodyPr wrap="square" lIns="0" tIns="0" rIns="0" bIns="0" rtlCol="0" anchor="t"/>
          <a:lstStyle/>
          <a:p>
            <a:pPr indent="0" marL="0">
              <a:lnSpc>
                <a:spcPct val="105000"/>
              </a:lnSpc>
              <a:buNone/>
            </a:pPr>
            <a:r>
              <a:rPr lang="en-US" sz="1000" dirty="0">
                <a:solidFill>
                  <a:srgbClr val="232833"/>
                </a:solidFill>
                <a:latin typeface="Calibri" pitchFamily="34" charset="0"/>
                <a:ea typeface="Calibri" pitchFamily="34" charset="-122"/>
                <a:cs typeface="Calibri" pitchFamily="34" charset="-120"/>
              </a:rPr>
              <a:t>Out comes a searchable question, a summary, the resolution, and the systems and code that were named.</a:t>
            </a:r>
            <a:endParaRPr lang="en-US" sz="1000" dirty="0"/>
          </a:p>
        </p:txBody>
      </p:sp>
      <p:sp>
        <p:nvSpPr>
          <p:cNvPr id="20" name="Text 18"/>
          <p:cNvSpPr txBox="1"/>
          <p:nvPr/>
        </p:nvSpPr>
        <p:spPr>
          <a:xfrm>
            <a:off x="8780526" y="1554480"/>
            <a:ext cx="347472" cy="1060704"/>
          </a:xfrm>
          <a:prstGeom prst="rect">
            <a:avLst/>
          </a:prstGeom>
          <a:noFill/>
          <a:ln/>
        </p:spPr>
        <p:txBody>
          <a:bodyPr wrap="square" lIns="0" tIns="0" rIns="0" bIns="0" rtlCol="0" anchor="ctr"/>
          <a:lstStyle/>
          <a:p>
            <a:pPr algn="ctr" indent="0" marL="0">
              <a:buNone/>
            </a:pPr>
            <a:r>
              <a:rPr lang="en-US" sz="1900" b="1" dirty="0">
                <a:solidFill>
                  <a:srgbClr val="A8AEBB"/>
                </a:solidFill>
                <a:latin typeface="Calibri" pitchFamily="34" charset="0"/>
                <a:ea typeface="Calibri" pitchFamily="34" charset="-122"/>
                <a:cs typeface="Calibri" pitchFamily="34" charset="-120"/>
              </a:rPr>
              <a:t>›</a:t>
            </a:r>
            <a:endParaRPr lang="en-US" sz="1900" dirty="0"/>
          </a:p>
        </p:txBody>
      </p:sp>
      <p:sp>
        <p:nvSpPr>
          <p:cNvPr id="21" name="Shape 19"/>
          <p:cNvSpPr/>
          <p:nvPr/>
        </p:nvSpPr>
        <p:spPr>
          <a:xfrm>
            <a:off x="9127998" y="1554480"/>
            <a:ext cx="2512314" cy="1060704"/>
          </a:xfrm>
          <a:prstGeom prst="roundRect">
            <a:avLst>
              <a:gd name="adj" fmla="val 5172"/>
            </a:avLst>
          </a:prstGeom>
          <a:solidFill>
            <a:srgbClr val="F2F2EF"/>
          </a:solidFill>
          <a:ln w="12700">
            <a:solidFill>
              <a:srgbClr val="F2F2EF"/>
            </a:solidFill>
            <a:prstDash val="solid"/>
          </a:ln>
        </p:spPr>
      </p:sp>
      <p:sp>
        <p:nvSpPr>
          <p:cNvPr id="22" name="Text 20"/>
          <p:cNvSpPr txBox="1"/>
          <p:nvPr/>
        </p:nvSpPr>
        <p:spPr>
          <a:xfrm>
            <a:off x="9329166" y="1627632"/>
            <a:ext cx="2109978" cy="256032"/>
          </a:xfrm>
          <a:prstGeom prst="rect">
            <a:avLst/>
          </a:prstGeom>
          <a:noFill/>
          <a:ln/>
        </p:spPr>
        <p:txBody>
          <a:bodyPr wrap="square" lIns="0" tIns="0" rIns="0" bIns="0" rtlCol="0" anchor="ctr"/>
          <a:lstStyle/>
          <a:p>
            <a:pPr indent="0" marL="0">
              <a:buNone/>
            </a:pPr>
            <a:r>
              <a:rPr lang="en-US" sz="1150" b="1" dirty="0">
                <a:solidFill>
                  <a:srgbClr val="C0761A"/>
                </a:solidFill>
                <a:latin typeface="Calibri" pitchFamily="34" charset="0"/>
                <a:ea typeface="Calibri" pitchFamily="34" charset="-122"/>
                <a:cs typeface="Calibri" pitchFamily="34" charset="-120"/>
              </a:rPr>
              <a:t>Artifact embedded</a:t>
            </a:r>
            <a:endParaRPr lang="en-US" sz="1150" dirty="0"/>
          </a:p>
        </p:txBody>
      </p:sp>
      <p:sp>
        <p:nvSpPr>
          <p:cNvPr id="23" name="Text 21"/>
          <p:cNvSpPr txBox="1"/>
          <p:nvPr/>
        </p:nvSpPr>
        <p:spPr>
          <a:xfrm>
            <a:off x="9329166" y="1901952"/>
            <a:ext cx="2109978" cy="640080"/>
          </a:xfrm>
          <a:prstGeom prst="rect">
            <a:avLst/>
          </a:prstGeom>
          <a:noFill/>
          <a:ln/>
        </p:spPr>
        <p:txBody>
          <a:bodyPr wrap="square" lIns="0" tIns="0" rIns="0" bIns="0" rtlCol="0" anchor="t"/>
          <a:lstStyle/>
          <a:p>
            <a:pPr indent="0" marL="0">
              <a:lnSpc>
                <a:spcPct val="105000"/>
              </a:lnSpc>
              <a:buNone/>
            </a:pPr>
            <a:r>
              <a:rPr lang="en-US" sz="1000" dirty="0">
                <a:solidFill>
                  <a:srgbClr val="232833"/>
                </a:solidFill>
                <a:latin typeface="Calibri" pitchFamily="34" charset="0"/>
                <a:ea typeface="Calibri" pitchFamily="34" charset="-122"/>
                <a:cs typeface="Calibri" pitchFamily="34" charset="-120"/>
              </a:rPr>
              <a:t>That structured artifact is embedded at 3,072 dimensions. The raw transcript is never embedded.</a:t>
            </a:r>
            <a:endParaRPr lang="en-US" sz="1000" dirty="0"/>
          </a:p>
        </p:txBody>
      </p:sp>
      <p:sp>
        <p:nvSpPr>
          <p:cNvPr id="24" name="Text 22"/>
          <p:cNvSpPr txBox="1"/>
          <p:nvPr/>
        </p:nvSpPr>
        <p:spPr>
          <a:xfrm>
            <a:off x="548640" y="2798064"/>
            <a:ext cx="5486400" cy="201168"/>
          </a:xfrm>
          <a:prstGeom prst="rect">
            <a:avLst/>
          </a:prstGeom>
          <a:noFill/>
          <a:ln/>
        </p:spPr>
        <p:txBody>
          <a:bodyPr wrap="square" lIns="0" tIns="0" rIns="0" bIns="0" rtlCol="0" anchor="ctr"/>
          <a:lstStyle/>
          <a:p>
            <a:pPr indent="0" marL="0">
              <a:buNone/>
            </a:pPr>
            <a:r>
              <a:rPr lang="en-US" sz="950" b="1" spc="200" kern="0" dirty="0">
                <a:solidFill>
                  <a:srgbClr val="1F6F6B"/>
                </a:solidFill>
                <a:latin typeface="Calibri" pitchFamily="34" charset="0"/>
                <a:ea typeface="Calibri" pitchFamily="34" charset="-122"/>
                <a:cs typeface="Calibri" pitchFamily="34" charset="-120"/>
              </a:rPr>
              <a:t>RANK</a:t>
            </a:r>
            <a:endParaRPr lang="en-US" sz="950" dirty="0"/>
          </a:p>
        </p:txBody>
      </p:sp>
      <p:sp>
        <p:nvSpPr>
          <p:cNvPr id="25" name="Shape 23"/>
          <p:cNvSpPr/>
          <p:nvPr/>
        </p:nvSpPr>
        <p:spPr>
          <a:xfrm>
            <a:off x="548640" y="3035808"/>
            <a:ext cx="2512314" cy="1060704"/>
          </a:xfrm>
          <a:prstGeom prst="roundRect">
            <a:avLst>
              <a:gd name="adj" fmla="val 5172"/>
            </a:avLst>
          </a:prstGeom>
          <a:solidFill>
            <a:srgbClr val="F2F2EF"/>
          </a:solidFill>
          <a:ln w="12700">
            <a:solidFill>
              <a:srgbClr val="F2F2EF"/>
            </a:solidFill>
            <a:prstDash val="solid"/>
          </a:ln>
        </p:spPr>
      </p:sp>
      <p:sp>
        <p:nvSpPr>
          <p:cNvPr id="26" name="Text 24"/>
          <p:cNvSpPr txBox="1"/>
          <p:nvPr/>
        </p:nvSpPr>
        <p:spPr>
          <a:xfrm>
            <a:off x="749808" y="3108960"/>
            <a:ext cx="2109978" cy="256032"/>
          </a:xfrm>
          <a:prstGeom prst="rect">
            <a:avLst/>
          </a:prstGeom>
          <a:noFill/>
          <a:ln/>
        </p:spPr>
        <p:txBody>
          <a:bodyPr wrap="square" lIns="0" tIns="0" rIns="0" bIns="0" rtlCol="0" anchor="ctr"/>
          <a:lstStyle/>
          <a:p>
            <a:pPr indent="0" marL="0">
              <a:buNone/>
            </a:pPr>
            <a:r>
              <a:rPr lang="en-US" sz="1150" b="1" dirty="0">
                <a:solidFill>
                  <a:srgbClr val="1F6F6B"/>
                </a:solidFill>
                <a:latin typeface="Calibri" pitchFamily="34" charset="0"/>
                <a:ea typeface="Calibri" pitchFamily="34" charset="-122"/>
                <a:cs typeface="Calibri" pitchFamily="34" charset="-120"/>
              </a:rPr>
              <a:t>Full-text</a:t>
            </a:r>
            <a:endParaRPr lang="en-US" sz="1150" dirty="0"/>
          </a:p>
        </p:txBody>
      </p:sp>
      <p:sp>
        <p:nvSpPr>
          <p:cNvPr id="27" name="Text 25"/>
          <p:cNvSpPr txBox="1"/>
          <p:nvPr/>
        </p:nvSpPr>
        <p:spPr>
          <a:xfrm>
            <a:off x="749808" y="3383280"/>
            <a:ext cx="2109978" cy="640080"/>
          </a:xfrm>
          <a:prstGeom prst="rect">
            <a:avLst/>
          </a:prstGeom>
          <a:noFill/>
          <a:ln/>
        </p:spPr>
        <p:txBody>
          <a:bodyPr wrap="square" lIns="0" tIns="0" rIns="0" bIns="0" rtlCol="0" anchor="t"/>
          <a:lstStyle/>
          <a:p>
            <a:pPr indent="0" marL="0">
              <a:lnSpc>
                <a:spcPct val="105000"/>
              </a:lnSpc>
              <a:buNone/>
            </a:pPr>
            <a:r>
              <a:rPr lang="en-US" sz="1000" dirty="0">
                <a:solidFill>
                  <a:srgbClr val="232833"/>
                </a:solidFill>
                <a:latin typeface="Calibri" pitchFamily="34" charset="0"/>
                <a:ea typeface="Calibri" pitchFamily="34" charset="-122"/>
                <a:cs typeface="Calibri" pitchFamily="34" charset="-120"/>
              </a:rPr>
              <a:t>Catches pasted error strings and flag names, which embeddings blur together.</a:t>
            </a:r>
            <a:endParaRPr lang="en-US" sz="1000" dirty="0"/>
          </a:p>
        </p:txBody>
      </p:sp>
      <p:sp>
        <p:nvSpPr>
          <p:cNvPr id="28" name="Shape 26"/>
          <p:cNvSpPr/>
          <p:nvPr/>
        </p:nvSpPr>
        <p:spPr>
          <a:xfrm>
            <a:off x="3408426" y="3035808"/>
            <a:ext cx="2512314" cy="1060704"/>
          </a:xfrm>
          <a:prstGeom prst="roundRect">
            <a:avLst>
              <a:gd name="adj" fmla="val 5172"/>
            </a:avLst>
          </a:prstGeom>
          <a:solidFill>
            <a:srgbClr val="F2F2EF"/>
          </a:solidFill>
          <a:ln w="12700">
            <a:solidFill>
              <a:srgbClr val="F2F2EF"/>
            </a:solidFill>
            <a:prstDash val="solid"/>
          </a:ln>
        </p:spPr>
      </p:sp>
      <p:sp>
        <p:nvSpPr>
          <p:cNvPr id="29" name="Text 27"/>
          <p:cNvSpPr txBox="1"/>
          <p:nvPr/>
        </p:nvSpPr>
        <p:spPr>
          <a:xfrm>
            <a:off x="3609594" y="3108960"/>
            <a:ext cx="2109978" cy="256032"/>
          </a:xfrm>
          <a:prstGeom prst="rect">
            <a:avLst/>
          </a:prstGeom>
          <a:noFill/>
          <a:ln/>
        </p:spPr>
        <p:txBody>
          <a:bodyPr wrap="square" lIns="0" tIns="0" rIns="0" bIns="0" rtlCol="0" anchor="ctr"/>
          <a:lstStyle/>
          <a:p>
            <a:pPr indent="0" marL="0">
              <a:buNone/>
            </a:pPr>
            <a:r>
              <a:rPr lang="en-US" sz="1150" b="1" dirty="0">
                <a:solidFill>
                  <a:srgbClr val="1F6F6B"/>
                </a:solidFill>
                <a:latin typeface="Calibri" pitchFamily="34" charset="0"/>
                <a:ea typeface="Calibri" pitchFamily="34" charset="-122"/>
                <a:cs typeface="Calibri" pitchFamily="34" charset="-120"/>
              </a:rPr>
              <a:t>Embeddings</a:t>
            </a:r>
            <a:endParaRPr lang="en-US" sz="1150" dirty="0"/>
          </a:p>
        </p:txBody>
      </p:sp>
      <p:sp>
        <p:nvSpPr>
          <p:cNvPr id="30" name="Text 28"/>
          <p:cNvSpPr txBox="1"/>
          <p:nvPr/>
        </p:nvSpPr>
        <p:spPr>
          <a:xfrm>
            <a:off x="3609594" y="3383280"/>
            <a:ext cx="2109978" cy="640080"/>
          </a:xfrm>
          <a:prstGeom prst="rect">
            <a:avLst/>
          </a:prstGeom>
          <a:noFill/>
          <a:ln/>
        </p:spPr>
        <p:txBody>
          <a:bodyPr wrap="square" lIns="0" tIns="0" rIns="0" bIns="0" rtlCol="0" anchor="t"/>
          <a:lstStyle/>
          <a:p>
            <a:pPr indent="0" marL="0">
              <a:lnSpc>
                <a:spcPct val="105000"/>
              </a:lnSpc>
              <a:buNone/>
            </a:pPr>
            <a:r>
              <a:rPr lang="en-US" sz="1000" dirty="0">
                <a:solidFill>
                  <a:srgbClr val="232833"/>
                </a:solidFill>
                <a:latin typeface="Calibri" pitchFamily="34" charset="0"/>
                <a:ea typeface="Calibri" pitchFamily="34" charset="-122"/>
                <a:cs typeface="Calibri" pitchFamily="34" charset="-120"/>
              </a:rPr>
              <a:t>Catches paraphrase, where the question and its answer share no vocabulary.</a:t>
            </a:r>
            <a:endParaRPr lang="en-US" sz="1000" dirty="0"/>
          </a:p>
        </p:txBody>
      </p:sp>
      <p:sp>
        <p:nvSpPr>
          <p:cNvPr id="31" name="Shape 29"/>
          <p:cNvSpPr/>
          <p:nvPr/>
        </p:nvSpPr>
        <p:spPr>
          <a:xfrm>
            <a:off x="6268212" y="3035808"/>
            <a:ext cx="2512314" cy="1060704"/>
          </a:xfrm>
          <a:prstGeom prst="roundRect">
            <a:avLst>
              <a:gd name="adj" fmla="val 5172"/>
            </a:avLst>
          </a:prstGeom>
          <a:solidFill>
            <a:srgbClr val="F2F2EF"/>
          </a:solidFill>
          <a:ln w="12700">
            <a:solidFill>
              <a:srgbClr val="F2F2EF"/>
            </a:solidFill>
            <a:prstDash val="solid"/>
          </a:ln>
        </p:spPr>
      </p:sp>
      <p:sp>
        <p:nvSpPr>
          <p:cNvPr id="32" name="Text 30"/>
          <p:cNvSpPr txBox="1"/>
          <p:nvPr/>
        </p:nvSpPr>
        <p:spPr>
          <a:xfrm>
            <a:off x="6469380" y="3108960"/>
            <a:ext cx="2109978" cy="256032"/>
          </a:xfrm>
          <a:prstGeom prst="rect">
            <a:avLst/>
          </a:prstGeom>
          <a:noFill/>
          <a:ln/>
        </p:spPr>
        <p:txBody>
          <a:bodyPr wrap="square" lIns="0" tIns="0" rIns="0" bIns="0" rtlCol="0" anchor="ctr"/>
          <a:lstStyle/>
          <a:p>
            <a:pPr indent="0" marL="0">
              <a:buNone/>
            </a:pPr>
            <a:r>
              <a:rPr lang="en-US" sz="1150" b="1" dirty="0">
                <a:solidFill>
                  <a:srgbClr val="1F6F6B"/>
                </a:solidFill>
                <a:latin typeface="Calibri" pitchFamily="34" charset="0"/>
                <a:ea typeface="Calibri" pitchFamily="34" charset="-122"/>
                <a:cs typeface="Calibri" pitchFamily="34" charset="-120"/>
              </a:rPr>
              <a:t>IDF</a:t>
            </a:r>
            <a:endParaRPr lang="en-US" sz="1150" dirty="0"/>
          </a:p>
        </p:txBody>
      </p:sp>
      <p:sp>
        <p:nvSpPr>
          <p:cNvPr id="33" name="Text 31"/>
          <p:cNvSpPr txBox="1"/>
          <p:nvPr/>
        </p:nvSpPr>
        <p:spPr>
          <a:xfrm>
            <a:off x="6469380" y="3383280"/>
            <a:ext cx="2109978" cy="640080"/>
          </a:xfrm>
          <a:prstGeom prst="rect">
            <a:avLst/>
          </a:prstGeom>
          <a:noFill/>
          <a:ln/>
        </p:spPr>
        <p:txBody>
          <a:bodyPr wrap="square" lIns="0" tIns="0" rIns="0" bIns="0" rtlCol="0" anchor="t"/>
          <a:lstStyle/>
          <a:p>
            <a:pPr indent="0" marL="0">
              <a:lnSpc>
                <a:spcPct val="105000"/>
              </a:lnSpc>
              <a:buNone/>
            </a:pPr>
            <a:r>
              <a:rPr lang="en-US" sz="1000" dirty="0">
                <a:solidFill>
                  <a:srgbClr val="232833"/>
                </a:solidFill>
                <a:latin typeface="Calibri" pitchFamily="34" charset="0"/>
                <a:ea typeface="Calibri" pitchFamily="34" charset="-122"/>
                <a:cs typeface="Calibri" pitchFamily="34" charset="-120"/>
              </a:rPr>
              <a:t>Rare tokens rank high; “sounds good, thanks!” scores near zero however close it sits.</a:t>
            </a:r>
            <a:endParaRPr lang="en-US" sz="1000" dirty="0"/>
          </a:p>
        </p:txBody>
      </p:sp>
      <p:sp>
        <p:nvSpPr>
          <p:cNvPr id="34" name="Shape 32"/>
          <p:cNvSpPr/>
          <p:nvPr/>
        </p:nvSpPr>
        <p:spPr>
          <a:xfrm>
            <a:off x="9127998" y="3035808"/>
            <a:ext cx="2512314" cy="1060704"/>
          </a:xfrm>
          <a:prstGeom prst="roundRect">
            <a:avLst>
              <a:gd name="adj" fmla="val 5172"/>
            </a:avLst>
          </a:prstGeom>
          <a:solidFill>
            <a:srgbClr val="F2F2EF"/>
          </a:solidFill>
          <a:ln w="12700">
            <a:solidFill>
              <a:srgbClr val="F2F2EF"/>
            </a:solidFill>
            <a:prstDash val="solid"/>
          </a:ln>
        </p:spPr>
      </p:sp>
      <p:sp>
        <p:nvSpPr>
          <p:cNvPr id="35" name="Text 33"/>
          <p:cNvSpPr txBox="1"/>
          <p:nvPr/>
        </p:nvSpPr>
        <p:spPr>
          <a:xfrm>
            <a:off x="9329166" y="3108960"/>
            <a:ext cx="2109978" cy="256032"/>
          </a:xfrm>
          <a:prstGeom prst="rect">
            <a:avLst/>
          </a:prstGeom>
          <a:noFill/>
          <a:ln/>
        </p:spPr>
        <p:txBody>
          <a:bodyPr wrap="square" lIns="0" tIns="0" rIns="0" bIns="0" rtlCol="0" anchor="ctr"/>
          <a:lstStyle/>
          <a:p>
            <a:pPr indent="0" marL="0">
              <a:buNone/>
            </a:pPr>
            <a:r>
              <a:rPr lang="en-US" sz="1150" b="1" dirty="0">
                <a:solidFill>
                  <a:srgbClr val="1F6F6B"/>
                </a:solidFill>
                <a:latin typeface="Calibri" pitchFamily="34" charset="0"/>
                <a:ea typeface="Calibri" pitchFamily="34" charset="-122"/>
                <a:cs typeface="Calibri" pitchFamily="34" charset="-120"/>
              </a:rPr>
              <a:t>Age decay</a:t>
            </a:r>
            <a:endParaRPr lang="en-US" sz="1150" dirty="0"/>
          </a:p>
        </p:txBody>
      </p:sp>
      <p:sp>
        <p:nvSpPr>
          <p:cNvPr id="36" name="Text 34"/>
          <p:cNvSpPr txBox="1"/>
          <p:nvPr/>
        </p:nvSpPr>
        <p:spPr>
          <a:xfrm>
            <a:off x="9329166" y="3383280"/>
            <a:ext cx="2109978" cy="640080"/>
          </a:xfrm>
          <a:prstGeom prst="rect">
            <a:avLst/>
          </a:prstGeom>
          <a:noFill/>
          <a:ln/>
        </p:spPr>
        <p:txBody>
          <a:bodyPr wrap="square" lIns="0" tIns="0" rIns="0" bIns="0" rtlCol="0" anchor="t"/>
          <a:lstStyle/>
          <a:p>
            <a:pPr indent="0" marL="0">
              <a:lnSpc>
                <a:spcPct val="105000"/>
              </a:lnSpc>
              <a:buNone/>
            </a:pPr>
            <a:r>
              <a:rPr lang="en-US" sz="1000" dirty="0">
                <a:solidFill>
                  <a:srgbClr val="232833"/>
                </a:solidFill>
                <a:latin typeface="Calibri" pitchFamily="34" charset="0"/>
                <a:ea typeface="Calibri" pitchFamily="34" charset="-122"/>
                <a:cs typeface="Calibri" pitchFamily="34" charset="-120"/>
              </a:rPr>
              <a:t>Where two threads answer equally well, the newer one wins the tie.</a:t>
            </a:r>
            <a:endParaRPr lang="en-US" sz="1000" dirty="0"/>
          </a:p>
        </p:txBody>
      </p:sp>
      <p:sp>
        <p:nvSpPr>
          <p:cNvPr id="37" name="Text 35"/>
          <p:cNvSpPr txBox="1"/>
          <p:nvPr/>
        </p:nvSpPr>
        <p:spPr>
          <a:xfrm>
            <a:off x="548640" y="4279392"/>
            <a:ext cx="5486400" cy="201168"/>
          </a:xfrm>
          <a:prstGeom prst="rect">
            <a:avLst/>
          </a:prstGeom>
          <a:noFill/>
          <a:ln/>
        </p:spPr>
        <p:txBody>
          <a:bodyPr wrap="square" lIns="0" tIns="0" rIns="0" bIns="0" rtlCol="0" anchor="ctr"/>
          <a:lstStyle/>
          <a:p>
            <a:pPr indent="0" marL="0">
              <a:buNone/>
            </a:pPr>
            <a:r>
              <a:rPr lang="en-US" sz="950" b="1" spc="200" kern="0" dirty="0">
                <a:solidFill>
                  <a:srgbClr val="8E3350"/>
                </a:solidFill>
                <a:latin typeface="Calibri" pitchFamily="34" charset="0"/>
                <a:ea typeface="Calibri" pitchFamily="34" charset="-122"/>
                <a:cs typeface="Calibri" pitchFamily="34" charset="-120"/>
              </a:rPr>
              <a:t>ANSWER</a:t>
            </a:r>
            <a:endParaRPr lang="en-US" sz="950" dirty="0"/>
          </a:p>
        </p:txBody>
      </p:sp>
      <p:sp>
        <p:nvSpPr>
          <p:cNvPr id="38" name="Shape 36"/>
          <p:cNvSpPr/>
          <p:nvPr/>
        </p:nvSpPr>
        <p:spPr>
          <a:xfrm>
            <a:off x="548640" y="4517136"/>
            <a:ext cx="3465576" cy="1060704"/>
          </a:xfrm>
          <a:prstGeom prst="roundRect">
            <a:avLst>
              <a:gd name="adj" fmla="val 5172"/>
            </a:avLst>
          </a:prstGeom>
          <a:solidFill>
            <a:srgbClr val="F2F2EF"/>
          </a:solidFill>
          <a:ln w="12700">
            <a:solidFill>
              <a:srgbClr val="F2F2EF"/>
            </a:solidFill>
            <a:prstDash val="solid"/>
          </a:ln>
        </p:spPr>
      </p:sp>
      <p:sp>
        <p:nvSpPr>
          <p:cNvPr id="39" name="Text 37"/>
          <p:cNvSpPr txBox="1"/>
          <p:nvPr/>
        </p:nvSpPr>
        <p:spPr>
          <a:xfrm>
            <a:off x="749808" y="4590288"/>
            <a:ext cx="3063240" cy="256032"/>
          </a:xfrm>
          <a:prstGeom prst="rect">
            <a:avLst/>
          </a:prstGeom>
          <a:noFill/>
          <a:ln/>
        </p:spPr>
        <p:txBody>
          <a:bodyPr wrap="square" lIns="0" tIns="0" rIns="0" bIns="0" rtlCol="0" anchor="ctr"/>
          <a:lstStyle/>
          <a:p>
            <a:pPr indent="0" marL="0">
              <a:buNone/>
            </a:pPr>
            <a:r>
              <a:rPr lang="en-US" sz="1150" b="1" dirty="0">
                <a:solidFill>
                  <a:srgbClr val="8E3350"/>
                </a:solidFill>
                <a:latin typeface="Calibri" pitchFamily="34" charset="0"/>
                <a:ea typeface="Calibri" pitchFamily="34" charset="-122"/>
                <a:cs typeface="Calibri" pitchFamily="34" charset="-120"/>
              </a:rPr>
              <a:t>Planner</a:t>
            </a:r>
            <a:endParaRPr lang="en-US" sz="1150" dirty="0"/>
          </a:p>
        </p:txBody>
      </p:sp>
      <p:sp>
        <p:nvSpPr>
          <p:cNvPr id="40" name="Text 38"/>
          <p:cNvSpPr txBox="1"/>
          <p:nvPr/>
        </p:nvSpPr>
        <p:spPr>
          <a:xfrm>
            <a:off x="749808" y="4864608"/>
            <a:ext cx="3063240" cy="640080"/>
          </a:xfrm>
          <a:prstGeom prst="rect">
            <a:avLst/>
          </a:prstGeom>
          <a:noFill/>
          <a:ln/>
        </p:spPr>
        <p:txBody>
          <a:bodyPr wrap="square" lIns="0" tIns="0" rIns="0" bIns="0" rtlCol="0" anchor="t"/>
          <a:lstStyle/>
          <a:p>
            <a:pPr indent="0" marL="0">
              <a:lnSpc>
                <a:spcPct val="105000"/>
              </a:lnSpc>
              <a:buNone/>
            </a:pPr>
            <a:r>
              <a:rPr lang="en-US" sz="1000" dirty="0">
                <a:solidFill>
                  <a:srgbClr val="232833"/>
                </a:solidFill>
                <a:latin typeface="Calibri" pitchFamily="34" charset="0"/>
                <a:ea typeface="Calibri" pitchFamily="34" charset="-122"/>
                <a:cs typeface="Calibri" pitchFamily="34" charset="-120"/>
              </a:rPr>
              <a:t>A light LLM pass reads the query and the active project, then picks which retrieval tools to call.</a:t>
            </a:r>
            <a:endParaRPr lang="en-US" sz="1000" dirty="0"/>
          </a:p>
        </p:txBody>
      </p:sp>
      <p:sp>
        <p:nvSpPr>
          <p:cNvPr id="41" name="Text 39"/>
          <p:cNvSpPr txBox="1"/>
          <p:nvPr/>
        </p:nvSpPr>
        <p:spPr>
          <a:xfrm>
            <a:off x="4014216" y="4517136"/>
            <a:ext cx="347472" cy="1060704"/>
          </a:xfrm>
          <a:prstGeom prst="rect">
            <a:avLst/>
          </a:prstGeom>
          <a:noFill/>
          <a:ln/>
        </p:spPr>
        <p:txBody>
          <a:bodyPr wrap="square" lIns="0" tIns="0" rIns="0" bIns="0" rtlCol="0" anchor="ctr"/>
          <a:lstStyle/>
          <a:p>
            <a:pPr algn="ctr" indent="0" marL="0">
              <a:buNone/>
            </a:pPr>
            <a:r>
              <a:rPr lang="en-US" sz="1900" b="1" dirty="0">
                <a:solidFill>
                  <a:srgbClr val="A8AEBB"/>
                </a:solidFill>
                <a:latin typeface="Calibri" pitchFamily="34" charset="0"/>
                <a:ea typeface="Calibri" pitchFamily="34" charset="-122"/>
                <a:cs typeface="Calibri" pitchFamily="34" charset="-120"/>
              </a:rPr>
              <a:t>›</a:t>
            </a:r>
            <a:endParaRPr lang="en-US" sz="1900" dirty="0"/>
          </a:p>
        </p:txBody>
      </p:sp>
      <p:sp>
        <p:nvSpPr>
          <p:cNvPr id="42" name="Shape 40"/>
          <p:cNvSpPr/>
          <p:nvPr/>
        </p:nvSpPr>
        <p:spPr>
          <a:xfrm>
            <a:off x="4361688" y="4517136"/>
            <a:ext cx="3465576" cy="1060704"/>
          </a:xfrm>
          <a:prstGeom prst="roundRect">
            <a:avLst>
              <a:gd name="adj" fmla="val 5172"/>
            </a:avLst>
          </a:prstGeom>
          <a:solidFill>
            <a:srgbClr val="F2F2EF"/>
          </a:solidFill>
          <a:ln w="12700">
            <a:solidFill>
              <a:srgbClr val="F2F2EF"/>
            </a:solidFill>
            <a:prstDash val="solid"/>
          </a:ln>
        </p:spPr>
      </p:sp>
      <p:sp>
        <p:nvSpPr>
          <p:cNvPr id="43" name="Text 41"/>
          <p:cNvSpPr txBox="1"/>
          <p:nvPr/>
        </p:nvSpPr>
        <p:spPr>
          <a:xfrm>
            <a:off x="4562856" y="4590288"/>
            <a:ext cx="3063240" cy="256032"/>
          </a:xfrm>
          <a:prstGeom prst="rect">
            <a:avLst/>
          </a:prstGeom>
          <a:noFill/>
          <a:ln/>
        </p:spPr>
        <p:txBody>
          <a:bodyPr wrap="square" lIns="0" tIns="0" rIns="0" bIns="0" rtlCol="0" anchor="ctr"/>
          <a:lstStyle/>
          <a:p>
            <a:pPr indent="0" marL="0">
              <a:buNone/>
            </a:pPr>
            <a:r>
              <a:rPr lang="en-US" sz="1150" b="1" dirty="0">
                <a:solidFill>
                  <a:srgbClr val="8E3350"/>
                </a:solidFill>
                <a:latin typeface="Calibri" pitchFamily="34" charset="0"/>
                <a:ea typeface="Calibri" pitchFamily="34" charset="-122"/>
                <a:cs typeface="Calibri" pitchFamily="34" charset="-120"/>
              </a:rPr>
              <a:t>Executor</a:t>
            </a:r>
            <a:endParaRPr lang="en-US" sz="1150" dirty="0"/>
          </a:p>
        </p:txBody>
      </p:sp>
      <p:sp>
        <p:nvSpPr>
          <p:cNvPr id="44" name="Text 42"/>
          <p:cNvSpPr txBox="1"/>
          <p:nvPr/>
        </p:nvSpPr>
        <p:spPr>
          <a:xfrm>
            <a:off x="4562856" y="4864608"/>
            <a:ext cx="3063240" cy="640080"/>
          </a:xfrm>
          <a:prstGeom prst="rect">
            <a:avLst/>
          </a:prstGeom>
          <a:noFill/>
          <a:ln/>
        </p:spPr>
        <p:txBody>
          <a:bodyPr wrap="square" lIns="0" tIns="0" rIns="0" bIns="0" rtlCol="0" anchor="t"/>
          <a:lstStyle/>
          <a:p>
            <a:pPr indent="0" marL="0">
              <a:lnSpc>
                <a:spcPct val="105000"/>
              </a:lnSpc>
              <a:buNone/>
            </a:pPr>
            <a:r>
              <a:rPr lang="en-US" sz="1000" dirty="0">
                <a:solidFill>
                  <a:srgbClr val="232833"/>
                </a:solidFill>
                <a:latin typeface="Calibri" pitchFamily="34" charset="0"/>
                <a:ea typeface="Calibri" pitchFamily="34" charset="-122"/>
                <a:cs typeface="Calibri" pitchFamily="34" charset="-120"/>
              </a:rPr>
              <a:t>Fans those calls out in parallel and normalises every result into one shared evidence format.</a:t>
            </a:r>
            <a:endParaRPr lang="en-US" sz="1000" dirty="0"/>
          </a:p>
        </p:txBody>
      </p:sp>
      <p:sp>
        <p:nvSpPr>
          <p:cNvPr id="45" name="Text 43"/>
          <p:cNvSpPr txBox="1"/>
          <p:nvPr/>
        </p:nvSpPr>
        <p:spPr>
          <a:xfrm>
            <a:off x="7827264" y="4517136"/>
            <a:ext cx="347472" cy="1060704"/>
          </a:xfrm>
          <a:prstGeom prst="rect">
            <a:avLst/>
          </a:prstGeom>
          <a:noFill/>
          <a:ln/>
        </p:spPr>
        <p:txBody>
          <a:bodyPr wrap="square" lIns="0" tIns="0" rIns="0" bIns="0" rtlCol="0" anchor="ctr"/>
          <a:lstStyle/>
          <a:p>
            <a:pPr algn="ctr" indent="0" marL="0">
              <a:buNone/>
            </a:pPr>
            <a:r>
              <a:rPr lang="en-US" sz="1900" b="1" dirty="0">
                <a:solidFill>
                  <a:srgbClr val="A8AEBB"/>
                </a:solidFill>
                <a:latin typeface="Calibri" pitchFamily="34" charset="0"/>
                <a:ea typeface="Calibri" pitchFamily="34" charset="-122"/>
                <a:cs typeface="Calibri" pitchFamily="34" charset="-120"/>
              </a:rPr>
              <a:t>›</a:t>
            </a:r>
            <a:endParaRPr lang="en-US" sz="1900" dirty="0"/>
          </a:p>
        </p:txBody>
      </p:sp>
      <p:sp>
        <p:nvSpPr>
          <p:cNvPr id="46" name="Shape 44"/>
          <p:cNvSpPr/>
          <p:nvPr/>
        </p:nvSpPr>
        <p:spPr>
          <a:xfrm>
            <a:off x="8174736" y="4517136"/>
            <a:ext cx="3465576" cy="1060704"/>
          </a:xfrm>
          <a:prstGeom prst="roundRect">
            <a:avLst>
              <a:gd name="adj" fmla="val 5172"/>
            </a:avLst>
          </a:prstGeom>
          <a:solidFill>
            <a:srgbClr val="F2F2EF"/>
          </a:solidFill>
          <a:ln w="12700">
            <a:solidFill>
              <a:srgbClr val="F2F2EF"/>
            </a:solidFill>
            <a:prstDash val="solid"/>
          </a:ln>
        </p:spPr>
      </p:sp>
      <p:sp>
        <p:nvSpPr>
          <p:cNvPr id="47" name="Text 45"/>
          <p:cNvSpPr txBox="1"/>
          <p:nvPr/>
        </p:nvSpPr>
        <p:spPr>
          <a:xfrm>
            <a:off x="8375904" y="4590288"/>
            <a:ext cx="3063240" cy="256032"/>
          </a:xfrm>
          <a:prstGeom prst="rect">
            <a:avLst/>
          </a:prstGeom>
          <a:noFill/>
          <a:ln/>
        </p:spPr>
        <p:txBody>
          <a:bodyPr wrap="square" lIns="0" tIns="0" rIns="0" bIns="0" rtlCol="0" anchor="ctr"/>
          <a:lstStyle/>
          <a:p>
            <a:pPr indent="0" marL="0">
              <a:buNone/>
            </a:pPr>
            <a:r>
              <a:rPr lang="en-US" sz="1150" b="1" dirty="0">
                <a:solidFill>
                  <a:srgbClr val="8E3350"/>
                </a:solidFill>
                <a:latin typeface="Calibri" pitchFamily="34" charset="0"/>
                <a:ea typeface="Calibri" pitchFamily="34" charset="-122"/>
                <a:cs typeface="Calibri" pitchFamily="34" charset="-120"/>
              </a:rPr>
              <a:t>Synthesizer</a:t>
            </a:r>
            <a:endParaRPr lang="en-US" sz="1150" dirty="0"/>
          </a:p>
        </p:txBody>
      </p:sp>
      <p:sp>
        <p:nvSpPr>
          <p:cNvPr id="48" name="Text 46"/>
          <p:cNvSpPr txBox="1"/>
          <p:nvPr/>
        </p:nvSpPr>
        <p:spPr>
          <a:xfrm>
            <a:off x="8375904" y="4864608"/>
            <a:ext cx="3063240" cy="640080"/>
          </a:xfrm>
          <a:prstGeom prst="rect">
            <a:avLst/>
          </a:prstGeom>
          <a:noFill/>
          <a:ln/>
        </p:spPr>
        <p:txBody>
          <a:bodyPr wrap="square" lIns="0" tIns="0" rIns="0" bIns="0" rtlCol="0" anchor="t"/>
          <a:lstStyle/>
          <a:p>
            <a:pPr indent="0" marL="0">
              <a:lnSpc>
                <a:spcPct val="105000"/>
              </a:lnSpc>
              <a:buNone/>
            </a:pPr>
            <a:r>
              <a:rPr lang="en-US" sz="1000" dirty="0">
                <a:solidFill>
                  <a:srgbClr val="232833"/>
                </a:solidFill>
                <a:latin typeface="Calibri" pitchFamily="34" charset="0"/>
                <a:ea typeface="Calibri" pitchFamily="34" charset="-122"/>
                <a:cs typeface="Calibri" pitchFamily="34" charset="-120"/>
              </a:rPr>
              <a:t>Writes the answer with citations and caveats. Over MCP this step is skipped and the calling agent does it.</a:t>
            </a:r>
            <a:endParaRPr lang="en-US" sz="1000" dirty="0"/>
          </a:p>
        </p:txBody>
      </p:sp>
      <p:sp>
        <p:nvSpPr>
          <p:cNvPr id="49" name="Text 47"/>
          <p:cNvSpPr txBox="1"/>
          <p:nvPr/>
        </p:nvSpPr>
        <p:spPr>
          <a:xfrm>
            <a:off x="548640" y="5870448"/>
            <a:ext cx="11091672" cy="603504"/>
          </a:xfrm>
          <a:prstGeom prst="rect">
            <a:avLst/>
          </a:prstGeom>
          <a:noFill/>
          <a:ln/>
        </p:spPr>
        <p:txBody>
          <a:bodyPr wrap="square" lIns="0" tIns="0" rIns="0" bIns="0" rtlCol="0" anchor="t"/>
          <a:lstStyle/>
          <a:p>
            <a:pPr indent="0" marL="0">
              <a:lnSpc>
                <a:spcPct val="112000"/>
              </a:lnSpc>
              <a:buNone/>
            </a:pPr>
            <a:r>
              <a:rPr lang="en-US" sz="1050" i="1" dirty="0">
                <a:solidFill>
                  <a:srgbClr val="6E7480"/>
                </a:solidFill>
                <a:latin typeface="Calibri" pitchFamily="34" charset="0"/>
                <a:ea typeface="Calibri" pitchFamily="34" charset="-122"/>
                <a:cs typeface="Calibri" pitchFamily="34" charset="-120"/>
              </a:rPr>
              <a:t>The four ranking signals are fused with RRF at weight/(60+rank), capped so no single file dominates, cut to twenty and reranked to ten. Code takes a separate path: repos are split at class, then method, then block, and each commit re-embeds only the chunks that changed.</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C:\Users\chint\AppData\Local\Temp\claude\C--Users-chint-Development-conquerorchin-companywiki\d81c9c1b-31dc-4543-8328-70b4d6f55840\scratchpad\logos\stripe.png">    </p:cNvPr>
          <p:cNvPicPr>
            <a:picLocks noChangeAspect="1"/>
          </p:cNvPicPr>
          <p:nvPr/>
        </p:nvPicPr>
        <p:blipFill>
          <a:blip r:embed="rId1"/>
          <a:stretch>
            <a:fillRect/>
          </a:stretch>
        </p:blipFill>
        <p:spPr>
          <a:xfrm>
            <a:off x="548640" y="329184"/>
            <a:ext cx="420624" cy="420624"/>
          </a:xfrm>
          <a:prstGeom prst="rect">
            <a:avLst/>
          </a:prstGeom>
        </p:spPr>
      </p:pic>
      <p:sp>
        <p:nvSpPr>
          <p:cNvPr id="3" name="Text 0"/>
          <p:cNvSpPr txBox="1"/>
          <p:nvPr/>
        </p:nvSpPr>
        <p:spPr>
          <a:xfrm>
            <a:off x="1188720" y="256032"/>
            <a:ext cx="7132320" cy="548640"/>
          </a:xfrm>
          <a:prstGeom prst="rect">
            <a:avLst/>
          </a:prstGeom>
          <a:noFill/>
          <a:ln/>
        </p:spPr>
        <p:txBody>
          <a:bodyPr wrap="square" lIns="0" tIns="0" rIns="0" bIns="0" rtlCol="0" anchor="ctr"/>
          <a:lstStyle/>
          <a:p>
            <a:pPr indent="0" marL="0">
              <a:buNone/>
            </a:pPr>
            <a:r>
              <a:rPr lang="en-US" sz="3000" b="1" dirty="0">
                <a:solidFill>
                  <a:srgbClr val="15181E"/>
                </a:solidFill>
                <a:latin typeface="Cambria" pitchFamily="34" charset="0"/>
                <a:ea typeface="Cambria" pitchFamily="34" charset="-122"/>
                <a:cs typeface="Cambria" pitchFamily="34" charset="-120"/>
              </a:rPr>
              <a:t>Stripe</a:t>
            </a:r>
            <a:endParaRPr lang="en-US" sz="3000" dirty="0"/>
          </a:p>
        </p:txBody>
      </p:sp>
      <p:sp>
        <p:nvSpPr>
          <p:cNvPr id="4" name="Shape 1"/>
          <p:cNvSpPr/>
          <p:nvPr/>
        </p:nvSpPr>
        <p:spPr>
          <a:xfrm>
            <a:off x="9902952" y="384048"/>
            <a:ext cx="1737360" cy="274320"/>
          </a:xfrm>
          <a:prstGeom prst="roundRect">
            <a:avLst>
              <a:gd name="adj" fmla="val 50000"/>
            </a:avLst>
          </a:prstGeom>
          <a:solidFill>
            <a:srgbClr val="1F6F6B"/>
          </a:solidFill>
          <a:ln/>
        </p:spPr>
      </p:sp>
      <p:sp>
        <p:nvSpPr>
          <p:cNvPr id="5" name="Text 2"/>
          <p:cNvSpPr txBox="1"/>
          <p:nvPr/>
        </p:nvSpPr>
        <p:spPr>
          <a:xfrm>
            <a:off x="9902952" y="384048"/>
            <a:ext cx="17373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FIRST-PARTY</a:t>
            </a:r>
            <a:endParaRPr lang="en-US" sz="850" dirty="0"/>
          </a:p>
        </p:txBody>
      </p:sp>
      <p:sp>
        <p:nvSpPr>
          <p:cNvPr id="6" name="Text 3"/>
          <p:cNvSpPr txBox="1"/>
          <p:nvPr/>
        </p:nvSpPr>
        <p:spPr>
          <a:xfrm>
            <a:off x="548640" y="896112"/>
            <a:ext cx="10881360" cy="457200"/>
          </a:xfrm>
          <a:prstGeom prst="rect">
            <a:avLst/>
          </a:prstGeom>
          <a:noFill/>
          <a:ln/>
        </p:spPr>
        <p:txBody>
          <a:bodyPr wrap="square" lIns="0" tIns="0" rIns="0" bIns="0" rtlCol="0" anchor="t"/>
          <a:lstStyle/>
          <a:p>
            <a:pPr indent="0" marL="0">
              <a:lnSpc>
                <a:spcPct val="105000"/>
              </a:lnSpc>
              <a:buNone/>
            </a:pPr>
            <a:r>
              <a:rPr lang="en-US" sz="1550" b="1" dirty="0">
                <a:solidFill>
                  <a:srgbClr val="15181E"/>
                </a:solidFill>
                <a:latin typeface="Calibri" pitchFamily="34" charset="0"/>
                <a:ea typeface="Calibri" pitchFamily="34" charset="-122"/>
                <a:cs typeface="Calibri" pitchFamily="34" charset="-120"/>
              </a:rPr>
              <a:t>Kai. </a:t>
            </a:r>
            <a:pPr indent="0" marL="0">
              <a:lnSpc>
                <a:spcPct val="105000"/>
              </a:lnSpc>
              <a:buNone/>
            </a:pPr>
            <a:r>
              <a:rPr lang="en-US" sz="1550" dirty="0">
                <a:solidFill>
                  <a:srgbClr val="232833"/>
                </a:solidFill>
                <a:latin typeface="Calibri" pitchFamily="34" charset="0"/>
                <a:ea typeface="Calibri" pitchFamily="34" charset="-122"/>
                <a:cs typeface="Calibri" pitchFamily="34" charset="-120"/>
              </a:rPr>
              <a:t>Build the platform centrally, then hand the governance out to the domain teams.</a:t>
            </a:r>
            <a:endParaRPr lang="en-US" sz="1550" dirty="0"/>
          </a:p>
        </p:txBody>
      </p:sp>
      <p:sp>
        <p:nvSpPr>
          <p:cNvPr id="7" name="Shape 4"/>
          <p:cNvSpPr/>
          <p:nvPr/>
        </p:nvSpPr>
        <p:spPr>
          <a:xfrm>
            <a:off x="548640" y="1463040"/>
            <a:ext cx="5399532" cy="2139696"/>
          </a:xfrm>
          <a:prstGeom prst="roundRect">
            <a:avLst>
              <a:gd name="adj" fmla="val 2564"/>
            </a:avLst>
          </a:prstGeom>
          <a:solidFill>
            <a:srgbClr val="F2F2EF"/>
          </a:solidFill>
          <a:ln w="12700">
            <a:solidFill>
              <a:srgbClr val="F2F2EF"/>
            </a:solidFill>
            <a:prstDash val="solid"/>
          </a:ln>
        </p:spPr>
      </p:sp>
      <p:sp>
        <p:nvSpPr>
          <p:cNvPr id="8" name="Shape 5"/>
          <p:cNvSpPr/>
          <p:nvPr/>
        </p:nvSpPr>
        <p:spPr>
          <a:xfrm>
            <a:off x="786384" y="1627632"/>
            <a:ext cx="292608" cy="292608"/>
          </a:xfrm>
          <a:prstGeom prst="ellipse">
            <a:avLst/>
          </a:prstGeom>
          <a:solidFill>
            <a:srgbClr val="C0761A"/>
          </a:solidFill>
          <a:ln/>
        </p:spPr>
      </p:sp>
      <p:sp>
        <p:nvSpPr>
          <p:cNvPr id="9" name="Text 6"/>
          <p:cNvSpPr txBox="1"/>
          <p:nvPr/>
        </p:nvSpPr>
        <p:spPr>
          <a:xfrm>
            <a:off x="786384" y="1627632"/>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mbria" pitchFamily="34" charset="0"/>
                <a:ea typeface="Cambria" pitchFamily="34" charset="-122"/>
                <a:cs typeface="Cambria" pitchFamily="34" charset="-120"/>
              </a:rPr>
              <a:t>I</a:t>
            </a:r>
            <a:endParaRPr lang="en-US" sz="1150" dirty="0"/>
          </a:p>
        </p:txBody>
      </p:sp>
      <p:sp>
        <p:nvSpPr>
          <p:cNvPr id="10" name="Text 7"/>
          <p:cNvSpPr txBox="1"/>
          <p:nvPr/>
        </p:nvSpPr>
        <p:spPr>
          <a:xfrm>
            <a:off x="1188720" y="1627632"/>
            <a:ext cx="4530852" cy="292608"/>
          </a:xfrm>
          <a:prstGeom prst="rect">
            <a:avLst/>
          </a:prstGeom>
          <a:noFill/>
          <a:ln/>
        </p:spPr>
        <p:txBody>
          <a:bodyPr wrap="square" lIns="0" tIns="0" rIns="0" bIns="0" rtlCol="0" anchor="ctr"/>
          <a:lstStyle/>
          <a:p>
            <a:pPr indent="0" marL="0">
              <a:buNone/>
            </a:pPr>
            <a:r>
              <a:rPr lang="en-US" sz="1150" b="1" spc="60" kern="0" dirty="0">
                <a:solidFill>
                  <a:srgbClr val="C0761A"/>
                </a:solidFill>
                <a:latin typeface="Calibri" pitchFamily="34" charset="0"/>
                <a:ea typeface="Calibri" pitchFamily="34" charset="-122"/>
                <a:cs typeface="Calibri" pitchFamily="34" charset="-120"/>
              </a:rPr>
              <a:t>Implementation</a:t>
            </a:r>
            <a:endParaRPr lang="en-US" sz="1150" dirty="0"/>
          </a:p>
        </p:txBody>
      </p:sp>
      <p:sp>
        <p:nvSpPr>
          <p:cNvPr id="11" name="Text 8"/>
          <p:cNvSpPr txBox="1"/>
          <p:nvPr/>
        </p:nvSpPr>
        <p:spPr>
          <a:xfrm>
            <a:off x="822960" y="2011680"/>
            <a:ext cx="4850892" cy="1463040"/>
          </a:xfrm>
          <a:prstGeom prst="rect">
            <a:avLst/>
          </a:prstGeom>
          <a:noFill/>
          <a:ln/>
        </p:spPr>
        <p:txBody>
          <a:bodyPr wrap="square" lIns="0" tIns="0" rIns="0" bIns="0" rtlCol="0" anchor="t"/>
          <a:lstStyle/>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Three layers: surface-agnostic APIs, the AgentStudio control plane, and a shared execution environment that also runs customer-facing agents.</a:t>
            </a:r>
            <a:endParaRPr lang="en-US" sz="1100" dirty="0"/>
          </a:p>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One backend sits behind a web app, Slack, Chrome extensions and direct embeds, so adding a surface does not mean adding a stack.</a:t>
            </a:r>
            <a:endParaRPr lang="en-US" sz="1100" dirty="0"/>
          </a:p>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LangChain deepagents run on Kubernetes with per-session sandboxing and a multi-tenant virtual filesystem, which is what lets a session reach 932 turns.</a:t>
            </a:r>
            <a:endParaRPr lang="en-US" sz="1100" dirty="0"/>
          </a:p>
        </p:txBody>
      </p:sp>
      <p:sp>
        <p:nvSpPr>
          <p:cNvPr id="12" name="Shape 9"/>
          <p:cNvSpPr/>
          <p:nvPr/>
        </p:nvSpPr>
        <p:spPr>
          <a:xfrm>
            <a:off x="6240780" y="1463040"/>
            <a:ext cx="5399532" cy="2139696"/>
          </a:xfrm>
          <a:prstGeom prst="roundRect">
            <a:avLst>
              <a:gd name="adj" fmla="val 2564"/>
            </a:avLst>
          </a:prstGeom>
          <a:solidFill>
            <a:srgbClr val="F2F2EF"/>
          </a:solidFill>
          <a:ln w="12700">
            <a:solidFill>
              <a:srgbClr val="F2F2EF"/>
            </a:solidFill>
            <a:prstDash val="solid"/>
          </a:ln>
        </p:spPr>
      </p:sp>
      <p:sp>
        <p:nvSpPr>
          <p:cNvPr id="13" name="Shape 10"/>
          <p:cNvSpPr/>
          <p:nvPr/>
        </p:nvSpPr>
        <p:spPr>
          <a:xfrm>
            <a:off x="6478524" y="1627632"/>
            <a:ext cx="292608" cy="292608"/>
          </a:xfrm>
          <a:prstGeom prst="ellipse">
            <a:avLst/>
          </a:prstGeom>
          <a:solidFill>
            <a:srgbClr val="1F6F6B"/>
          </a:solidFill>
          <a:ln/>
        </p:spPr>
      </p:sp>
      <p:sp>
        <p:nvSpPr>
          <p:cNvPr id="14" name="Text 11"/>
          <p:cNvSpPr txBox="1"/>
          <p:nvPr/>
        </p:nvSpPr>
        <p:spPr>
          <a:xfrm>
            <a:off x="6478524" y="1627632"/>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mbria" pitchFamily="34" charset="0"/>
                <a:ea typeface="Cambria" pitchFamily="34" charset="-122"/>
                <a:cs typeface="Cambria" pitchFamily="34" charset="-120"/>
              </a:rPr>
              <a:t>P</a:t>
            </a:r>
            <a:endParaRPr lang="en-US" sz="1150" dirty="0"/>
          </a:p>
        </p:txBody>
      </p:sp>
      <p:sp>
        <p:nvSpPr>
          <p:cNvPr id="15" name="Text 12"/>
          <p:cNvSpPr txBox="1"/>
          <p:nvPr/>
        </p:nvSpPr>
        <p:spPr>
          <a:xfrm>
            <a:off x="6880860" y="1627632"/>
            <a:ext cx="4530852" cy="292608"/>
          </a:xfrm>
          <a:prstGeom prst="rect">
            <a:avLst/>
          </a:prstGeom>
          <a:noFill/>
          <a:ln/>
        </p:spPr>
        <p:txBody>
          <a:bodyPr wrap="square" lIns="0" tIns="0" rIns="0" bIns="0" rtlCol="0" anchor="ctr"/>
          <a:lstStyle/>
          <a:p>
            <a:pPr indent="0" marL="0">
              <a:buNone/>
            </a:pPr>
            <a:r>
              <a:rPr lang="en-US" sz="1150" b="1" spc="60" kern="0" dirty="0">
                <a:solidFill>
                  <a:srgbClr val="1F6F6B"/>
                </a:solidFill>
                <a:latin typeface="Calibri" pitchFamily="34" charset="0"/>
                <a:ea typeface="Calibri" pitchFamily="34" charset="-122"/>
                <a:cs typeface="Calibri" pitchFamily="34" charset="-120"/>
              </a:rPr>
              <a:t>Philosophy</a:t>
            </a:r>
            <a:endParaRPr lang="en-US" sz="1150" dirty="0"/>
          </a:p>
        </p:txBody>
      </p:sp>
      <p:sp>
        <p:nvSpPr>
          <p:cNvPr id="16" name="Text 13"/>
          <p:cNvSpPr txBox="1"/>
          <p:nvPr/>
        </p:nvSpPr>
        <p:spPr>
          <a:xfrm>
            <a:off x="6515100" y="2011680"/>
            <a:ext cx="4850892" cy="1463040"/>
          </a:xfrm>
          <a:prstGeom prst="rect">
            <a:avLst/>
          </a:prstGeom>
          <a:noFill/>
          <a:ln/>
        </p:spPr>
        <p:txBody>
          <a:bodyPr wrap="square" lIns="0" tIns="0" rIns="0" bIns="0" rtlCol="0" anchor="t"/>
          <a:lstStyle/>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Expertise is distributed by nature, so the people who know GTM, Finance or Legal build their own agents rather than filing tickets with a platform team.</a:t>
            </a:r>
            <a:endParaRPr lang="en-US" sz="1100" dirty="0"/>
          </a:p>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Meet users in the workflows they already have, which is why Kai appears inside Slack and third-party tools rather than as another app to open.</a:t>
            </a:r>
            <a:endParaRPr lang="en-US" sz="1100" dirty="0"/>
          </a:p>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Enforce guardrails specific to knowledge work, such as never putting two unrelated customer contexts in one analysis, which code-based rules cannot express.</a:t>
            </a:r>
            <a:endParaRPr lang="en-US" sz="1100" dirty="0"/>
          </a:p>
        </p:txBody>
      </p:sp>
      <p:sp>
        <p:nvSpPr>
          <p:cNvPr id="17" name="Shape 14"/>
          <p:cNvSpPr/>
          <p:nvPr/>
        </p:nvSpPr>
        <p:spPr>
          <a:xfrm>
            <a:off x="548640" y="3730752"/>
            <a:ext cx="5399532" cy="2139696"/>
          </a:xfrm>
          <a:prstGeom prst="roundRect">
            <a:avLst>
              <a:gd name="adj" fmla="val 2564"/>
            </a:avLst>
          </a:prstGeom>
          <a:solidFill>
            <a:srgbClr val="F2F2EF"/>
          </a:solidFill>
          <a:ln w="12700">
            <a:solidFill>
              <a:srgbClr val="F2F2EF"/>
            </a:solidFill>
            <a:prstDash val="solid"/>
          </a:ln>
        </p:spPr>
      </p:sp>
      <p:sp>
        <p:nvSpPr>
          <p:cNvPr id="18" name="Shape 15"/>
          <p:cNvSpPr/>
          <p:nvPr/>
        </p:nvSpPr>
        <p:spPr>
          <a:xfrm>
            <a:off x="786384" y="3895344"/>
            <a:ext cx="292608" cy="292608"/>
          </a:xfrm>
          <a:prstGeom prst="ellipse">
            <a:avLst/>
          </a:prstGeom>
          <a:solidFill>
            <a:srgbClr val="8E3350"/>
          </a:solidFill>
          <a:ln/>
        </p:spPr>
      </p:sp>
      <p:sp>
        <p:nvSpPr>
          <p:cNvPr id="19" name="Text 16"/>
          <p:cNvSpPr txBox="1"/>
          <p:nvPr/>
        </p:nvSpPr>
        <p:spPr>
          <a:xfrm>
            <a:off x="786384" y="3895344"/>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mbria" pitchFamily="34" charset="0"/>
                <a:ea typeface="Cambria" pitchFamily="34" charset="-122"/>
                <a:cs typeface="Cambria" pitchFamily="34" charset="-120"/>
              </a:rPr>
              <a:t>U</a:t>
            </a:r>
            <a:endParaRPr lang="en-US" sz="1150" dirty="0"/>
          </a:p>
        </p:txBody>
      </p:sp>
      <p:sp>
        <p:nvSpPr>
          <p:cNvPr id="20" name="Text 17"/>
          <p:cNvSpPr txBox="1"/>
          <p:nvPr/>
        </p:nvSpPr>
        <p:spPr>
          <a:xfrm>
            <a:off x="1188720" y="3895344"/>
            <a:ext cx="4530852" cy="292608"/>
          </a:xfrm>
          <a:prstGeom prst="rect">
            <a:avLst/>
          </a:prstGeom>
          <a:noFill/>
          <a:ln/>
        </p:spPr>
        <p:txBody>
          <a:bodyPr wrap="square" lIns="0" tIns="0" rIns="0" bIns="0" rtlCol="0" anchor="ctr"/>
          <a:lstStyle/>
          <a:p>
            <a:pPr indent="0" marL="0">
              <a:buNone/>
            </a:pPr>
            <a:r>
              <a:rPr lang="en-US" sz="1150" b="1" spc="60" kern="0" dirty="0">
                <a:solidFill>
                  <a:srgbClr val="8E3350"/>
                </a:solidFill>
                <a:latin typeface="Calibri" pitchFamily="34" charset="0"/>
                <a:ea typeface="Calibri" pitchFamily="34" charset="-122"/>
                <a:cs typeface="Calibri" pitchFamily="34" charset="-120"/>
              </a:rPr>
              <a:t>How it's used</a:t>
            </a:r>
            <a:endParaRPr lang="en-US" sz="1150" dirty="0"/>
          </a:p>
        </p:txBody>
      </p:sp>
      <p:sp>
        <p:nvSpPr>
          <p:cNvPr id="21" name="Text 18"/>
          <p:cNvSpPr txBox="1"/>
          <p:nvPr/>
        </p:nvSpPr>
        <p:spPr>
          <a:xfrm>
            <a:off x="822960" y="4279392"/>
            <a:ext cx="4850892" cy="1463040"/>
          </a:xfrm>
          <a:prstGeom prst="rect">
            <a:avLst/>
          </a:prstGeom>
          <a:noFill/>
          <a:ln/>
        </p:spPr>
        <p:txBody>
          <a:bodyPr wrap="square" lIns="0" tIns="0" rIns="0" bIns="0" rtlCol="0" anchor="t"/>
          <a:lstStyle/>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83% weekly active users org-wide within months of the April launch, and adoption is near-universal across go-to-market.</a:t>
            </a:r>
            <a:endParaRPr lang="en-US" sz="1100" dirty="0"/>
          </a:p>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More than 5,000 data-analysis sessions a day, with one recorded session running to 932 turns.</a:t>
            </a:r>
            <a:endParaRPr lang="en-US" sz="1100" dirty="0"/>
          </a:p>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Account executives using Kai closed 39% more deals and created 17% more opportunities during active-use weeks.</a:t>
            </a:r>
            <a:endParaRPr lang="en-US" sz="1100" dirty="0"/>
          </a:p>
        </p:txBody>
      </p:sp>
      <p:sp>
        <p:nvSpPr>
          <p:cNvPr id="22" name="Shape 19"/>
          <p:cNvSpPr/>
          <p:nvPr/>
        </p:nvSpPr>
        <p:spPr>
          <a:xfrm>
            <a:off x="6240780" y="3730752"/>
            <a:ext cx="5399532" cy="2139696"/>
          </a:xfrm>
          <a:prstGeom prst="roundRect">
            <a:avLst>
              <a:gd name="adj" fmla="val 2564"/>
            </a:avLst>
          </a:prstGeom>
          <a:solidFill>
            <a:srgbClr val="F2F2EF"/>
          </a:solidFill>
          <a:ln w="12700">
            <a:solidFill>
              <a:srgbClr val="F2F2EF"/>
            </a:solidFill>
            <a:prstDash val="solid"/>
          </a:ln>
        </p:spPr>
      </p:sp>
      <p:sp>
        <p:nvSpPr>
          <p:cNvPr id="23" name="Shape 20"/>
          <p:cNvSpPr/>
          <p:nvPr/>
        </p:nvSpPr>
        <p:spPr>
          <a:xfrm>
            <a:off x="6478524" y="3895344"/>
            <a:ext cx="292608" cy="292608"/>
          </a:xfrm>
          <a:prstGeom prst="ellipse">
            <a:avLst/>
          </a:prstGeom>
          <a:solidFill>
            <a:srgbClr val="3C4759"/>
          </a:solidFill>
          <a:ln/>
        </p:spPr>
      </p:sp>
      <p:sp>
        <p:nvSpPr>
          <p:cNvPr id="24" name="Text 21"/>
          <p:cNvSpPr txBox="1"/>
          <p:nvPr/>
        </p:nvSpPr>
        <p:spPr>
          <a:xfrm>
            <a:off x="6478524" y="3895344"/>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mbria" pitchFamily="34" charset="0"/>
                <a:ea typeface="Cambria" pitchFamily="34" charset="-122"/>
                <a:cs typeface="Cambria" pitchFamily="34" charset="-120"/>
              </a:rPr>
              <a:t>M</a:t>
            </a:r>
            <a:endParaRPr lang="en-US" sz="1150" dirty="0"/>
          </a:p>
        </p:txBody>
      </p:sp>
      <p:sp>
        <p:nvSpPr>
          <p:cNvPr id="25" name="Text 22"/>
          <p:cNvSpPr txBox="1"/>
          <p:nvPr/>
        </p:nvSpPr>
        <p:spPr>
          <a:xfrm>
            <a:off x="6880860" y="3895344"/>
            <a:ext cx="4530852" cy="292608"/>
          </a:xfrm>
          <a:prstGeom prst="rect">
            <a:avLst/>
          </a:prstGeom>
          <a:noFill/>
          <a:ln/>
        </p:spPr>
        <p:txBody>
          <a:bodyPr wrap="square" lIns="0" tIns="0" rIns="0" bIns="0" rtlCol="0" anchor="ctr"/>
          <a:lstStyle/>
          <a:p>
            <a:pPr indent="0" marL="0">
              <a:buNone/>
            </a:pPr>
            <a:r>
              <a:rPr lang="en-US" sz="1150" b="1" spc="60" kern="0" dirty="0">
                <a:solidFill>
                  <a:srgbClr val="3C4759"/>
                </a:solidFill>
                <a:latin typeface="Calibri" pitchFamily="34" charset="0"/>
                <a:ea typeface="Calibri" pitchFamily="34" charset="-122"/>
                <a:cs typeface="Calibri" pitchFamily="34" charset="-120"/>
              </a:rPr>
              <a:t>Maintenance</a:t>
            </a:r>
            <a:endParaRPr lang="en-US" sz="1150" dirty="0"/>
          </a:p>
        </p:txBody>
      </p:sp>
      <p:sp>
        <p:nvSpPr>
          <p:cNvPr id="26" name="Text 23"/>
          <p:cNvSpPr txBox="1"/>
          <p:nvPr/>
        </p:nvSpPr>
        <p:spPr>
          <a:xfrm>
            <a:off x="6515100" y="4279392"/>
            <a:ext cx="4850892" cy="1463040"/>
          </a:xfrm>
          <a:prstGeom prst="rect">
            <a:avLst/>
          </a:prstGeom>
          <a:noFill/>
          <a:ln/>
        </p:spPr>
        <p:txBody>
          <a:bodyPr wrap="square" lIns="0" tIns="0" rIns="0" bIns="0" rtlCol="0" anchor="t"/>
          <a:lstStyle/>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Domain teams build, test and monitor their own agents inside AgentStudio, so tuning never queues behind the platform team.</a:t>
            </a:r>
            <a:endParaRPr lang="en-US" sz="1100" dirty="0"/>
          </a:p>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Each owner sees usage and quality signals for their own skills and data sources, which is what makes the self-service model safe.</a:t>
            </a:r>
            <a:endParaRPr lang="en-US" sz="1100" dirty="0"/>
          </a:p>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The platform team owns infrastructure rather than content, and sharing the runtime with product agents means infra work compounds across both.</a:t>
            </a:r>
            <a:endParaRPr lang="en-US" sz="1100" dirty="0"/>
          </a:p>
        </p:txBody>
      </p:sp>
      <p:sp>
        <p:nvSpPr>
          <p:cNvPr id="27" name="Text 24"/>
          <p:cNvSpPr txBox="1"/>
          <p:nvPr/>
        </p:nvSpPr>
        <p:spPr>
          <a:xfrm>
            <a:off x="548640" y="5943600"/>
            <a:ext cx="2544318" cy="310896"/>
          </a:xfrm>
          <a:prstGeom prst="rect">
            <a:avLst/>
          </a:prstGeom>
          <a:noFill/>
          <a:ln/>
        </p:spPr>
        <p:txBody>
          <a:bodyPr wrap="square" lIns="0" tIns="0" rIns="0" bIns="0" rtlCol="0" anchor="b"/>
          <a:lstStyle/>
          <a:p>
            <a:pPr indent="0" marL="0">
              <a:buNone/>
            </a:pPr>
            <a:r>
              <a:rPr lang="en-US" sz="1900" b="1" dirty="0">
                <a:solidFill>
                  <a:srgbClr val="15181E"/>
                </a:solidFill>
                <a:latin typeface="Cambria" pitchFamily="34" charset="0"/>
                <a:ea typeface="Cambria" pitchFamily="34" charset="-122"/>
                <a:cs typeface="Cambria" pitchFamily="34" charset="-120"/>
              </a:rPr>
              <a:t>83%</a:t>
            </a:r>
            <a:endParaRPr lang="en-US" sz="1900" dirty="0"/>
          </a:p>
        </p:txBody>
      </p:sp>
      <p:sp>
        <p:nvSpPr>
          <p:cNvPr id="28" name="Text 25"/>
          <p:cNvSpPr txBox="1"/>
          <p:nvPr/>
        </p:nvSpPr>
        <p:spPr>
          <a:xfrm>
            <a:off x="548640" y="6272784"/>
            <a:ext cx="2544318" cy="475488"/>
          </a:xfrm>
          <a:prstGeom prst="rect">
            <a:avLst/>
          </a:prstGeom>
          <a:noFill/>
          <a:ln/>
        </p:spPr>
        <p:txBody>
          <a:bodyPr wrap="square" lIns="0" tIns="0" rIns="0" bIns="0" rtlCol="0" anchor="t"/>
          <a:lstStyle/>
          <a:p>
            <a:pPr indent="0" marL="0">
              <a:lnSpc>
                <a:spcPct val="106000"/>
              </a:lnSpc>
              <a:buNone/>
            </a:pPr>
            <a:r>
              <a:rPr lang="en-US" sz="950" dirty="0">
                <a:solidFill>
                  <a:srgbClr val="6E7480"/>
                </a:solidFill>
                <a:latin typeface="Calibri" pitchFamily="34" charset="0"/>
                <a:ea typeface="Calibri" pitchFamily="34" charset="-122"/>
                <a:cs typeface="Calibri" pitchFamily="34" charset="-120"/>
              </a:rPr>
              <a:t>weekly active users, within months of launch</a:t>
            </a:r>
            <a:endParaRPr lang="en-US" sz="950" dirty="0"/>
          </a:p>
        </p:txBody>
      </p:sp>
      <p:sp>
        <p:nvSpPr>
          <p:cNvPr id="29" name="Text 26"/>
          <p:cNvSpPr txBox="1"/>
          <p:nvPr/>
        </p:nvSpPr>
        <p:spPr>
          <a:xfrm>
            <a:off x="3321558" y="5943600"/>
            <a:ext cx="2544318" cy="310896"/>
          </a:xfrm>
          <a:prstGeom prst="rect">
            <a:avLst/>
          </a:prstGeom>
          <a:noFill/>
          <a:ln/>
        </p:spPr>
        <p:txBody>
          <a:bodyPr wrap="square" lIns="0" tIns="0" rIns="0" bIns="0" rtlCol="0" anchor="b"/>
          <a:lstStyle/>
          <a:p>
            <a:pPr indent="0" marL="0">
              <a:buNone/>
            </a:pPr>
            <a:r>
              <a:rPr lang="en-US" sz="1900" b="1" dirty="0">
                <a:solidFill>
                  <a:srgbClr val="15181E"/>
                </a:solidFill>
                <a:latin typeface="Cambria" pitchFamily="34" charset="0"/>
                <a:ea typeface="Cambria" pitchFamily="34" charset="-122"/>
                <a:cs typeface="Cambria" pitchFamily="34" charset="-120"/>
              </a:rPr>
              <a:t>1,000+</a:t>
            </a:r>
            <a:endParaRPr lang="en-US" sz="1900" dirty="0"/>
          </a:p>
        </p:txBody>
      </p:sp>
      <p:sp>
        <p:nvSpPr>
          <p:cNvPr id="30" name="Text 27"/>
          <p:cNvSpPr txBox="1"/>
          <p:nvPr/>
        </p:nvSpPr>
        <p:spPr>
          <a:xfrm>
            <a:off x="3321558" y="6272784"/>
            <a:ext cx="2544318" cy="475488"/>
          </a:xfrm>
          <a:prstGeom prst="rect">
            <a:avLst/>
          </a:prstGeom>
          <a:noFill/>
          <a:ln/>
        </p:spPr>
        <p:txBody>
          <a:bodyPr wrap="square" lIns="0" tIns="0" rIns="0" bIns="0" rtlCol="0" anchor="t"/>
          <a:lstStyle/>
          <a:p>
            <a:pPr indent="0" marL="0">
              <a:lnSpc>
                <a:spcPct val="106000"/>
              </a:lnSpc>
              <a:buNone/>
            </a:pPr>
            <a:r>
              <a:rPr lang="en-US" sz="950" dirty="0">
                <a:solidFill>
                  <a:srgbClr val="6E7480"/>
                </a:solidFill>
                <a:latin typeface="Calibri" pitchFamily="34" charset="0"/>
                <a:ea typeface="Calibri" pitchFamily="34" charset="-122"/>
                <a:cs typeface="Calibri" pitchFamily="34" charset="-120"/>
              </a:rPr>
              <a:t>internal skills and tools reachable</a:t>
            </a:r>
            <a:endParaRPr lang="en-US" sz="950" dirty="0"/>
          </a:p>
        </p:txBody>
      </p:sp>
      <p:sp>
        <p:nvSpPr>
          <p:cNvPr id="31" name="Text 28"/>
          <p:cNvSpPr txBox="1"/>
          <p:nvPr/>
        </p:nvSpPr>
        <p:spPr>
          <a:xfrm>
            <a:off x="6094476" y="5943600"/>
            <a:ext cx="2544318" cy="310896"/>
          </a:xfrm>
          <a:prstGeom prst="rect">
            <a:avLst/>
          </a:prstGeom>
          <a:noFill/>
          <a:ln/>
        </p:spPr>
        <p:txBody>
          <a:bodyPr wrap="square" lIns="0" tIns="0" rIns="0" bIns="0" rtlCol="0" anchor="b"/>
          <a:lstStyle/>
          <a:p>
            <a:pPr indent="0" marL="0">
              <a:buNone/>
            </a:pPr>
            <a:r>
              <a:rPr lang="en-US" sz="1900" b="1" dirty="0">
                <a:solidFill>
                  <a:srgbClr val="15181E"/>
                </a:solidFill>
                <a:latin typeface="Cambria" pitchFamily="34" charset="0"/>
                <a:ea typeface="Cambria" pitchFamily="34" charset="-122"/>
                <a:cs typeface="Cambria" pitchFamily="34" charset="-120"/>
              </a:rPr>
              <a:t>+39%</a:t>
            </a:r>
            <a:endParaRPr lang="en-US" sz="1900" dirty="0"/>
          </a:p>
        </p:txBody>
      </p:sp>
      <p:sp>
        <p:nvSpPr>
          <p:cNvPr id="32" name="Text 29"/>
          <p:cNvSpPr txBox="1"/>
          <p:nvPr/>
        </p:nvSpPr>
        <p:spPr>
          <a:xfrm>
            <a:off x="6094476" y="6272784"/>
            <a:ext cx="2544318" cy="475488"/>
          </a:xfrm>
          <a:prstGeom prst="rect">
            <a:avLst/>
          </a:prstGeom>
          <a:noFill/>
          <a:ln/>
        </p:spPr>
        <p:txBody>
          <a:bodyPr wrap="square" lIns="0" tIns="0" rIns="0" bIns="0" rtlCol="0" anchor="t"/>
          <a:lstStyle/>
          <a:p>
            <a:pPr indent="0" marL="0">
              <a:lnSpc>
                <a:spcPct val="106000"/>
              </a:lnSpc>
              <a:buNone/>
            </a:pPr>
            <a:r>
              <a:rPr lang="en-US" sz="950" dirty="0">
                <a:solidFill>
                  <a:srgbClr val="6E7480"/>
                </a:solidFill>
                <a:latin typeface="Calibri" pitchFamily="34" charset="0"/>
                <a:ea typeface="Calibri" pitchFamily="34" charset="-122"/>
                <a:cs typeface="Calibri" pitchFamily="34" charset="-120"/>
              </a:rPr>
              <a:t>more deals closed by AEs using Kai</a:t>
            </a:r>
            <a:endParaRPr lang="en-US" sz="950" dirty="0"/>
          </a:p>
        </p:txBody>
      </p:sp>
      <p:sp>
        <p:nvSpPr>
          <p:cNvPr id="33" name="Text 30"/>
          <p:cNvSpPr txBox="1"/>
          <p:nvPr/>
        </p:nvSpPr>
        <p:spPr>
          <a:xfrm>
            <a:off x="8867394" y="5943600"/>
            <a:ext cx="2544318" cy="310896"/>
          </a:xfrm>
          <a:prstGeom prst="rect">
            <a:avLst/>
          </a:prstGeom>
          <a:noFill/>
          <a:ln/>
        </p:spPr>
        <p:txBody>
          <a:bodyPr wrap="square" lIns="0" tIns="0" rIns="0" bIns="0" rtlCol="0" anchor="b"/>
          <a:lstStyle/>
          <a:p>
            <a:pPr indent="0" marL="0">
              <a:buNone/>
            </a:pPr>
            <a:r>
              <a:rPr lang="en-US" sz="1900" b="1" dirty="0">
                <a:solidFill>
                  <a:srgbClr val="15181E"/>
                </a:solidFill>
                <a:latin typeface="Cambria" pitchFamily="34" charset="0"/>
                <a:ea typeface="Cambria" pitchFamily="34" charset="-122"/>
                <a:cs typeface="Cambria" pitchFamily="34" charset="-120"/>
              </a:rPr>
              <a:t>25,000 h</a:t>
            </a:r>
            <a:endParaRPr lang="en-US" sz="1900" dirty="0"/>
          </a:p>
        </p:txBody>
      </p:sp>
      <p:sp>
        <p:nvSpPr>
          <p:cNvPr id="34" name="Text 31"/>
          <p:cNvSpPr txBox="1"/>
          <p:nvPr/>
        </p:nvSpPr>
        <p:spPr>
          <a:xfrm>
            <a:off x="8867394" y="6272784"/>
            <a:ext cx="2544318" cy="475488"/>
          </a:xfrm>
          <a:prstGeom prst="rect">
            <a:avLst/>
          </a:prstGeom>
          <a:noFill/>
          <a:ln/>
        </p:spPr>
        <p:txBody>
          <a:bodyPr wrap="square" lIns="0" tIns="0" rIns="0" bIns="0" rtlCol="0" anchor="t"/>
          <a:lstStyle/>
          <a:p>
            <a:pPr indent="0" marL="0">
              <a:lnSpc>
                <a:spcPct val="106000"/>
              </a:lnSpc>
              <a:buNone/>
            </a:pPr>
            <a:r>
              <a:rPr lang="en-US" sz="950" dirty="0">
                <a:solidFill>
                  <a:srgbClr val="6E7480"/>
                </a:solidFill>
                <a:latin typeface="Calibri" pitchFamily="34" charset="0"/>
                <a:ea typeface="Calibri" pitchFamily="34" charset="-122"/>
                <a:cs typeface="Calibri" pitchFamily="34" charset="-120"/>
              </a:rPr>
              <a:t>a year moved from admin to revenue work</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C:\Users\chint\AppData\Local\Temp\claude\C--Users-chint-Development-conquerorchin-companywiki\d81c9c1b-31dc-4543-8328-70b4d6f55840\scratchpad\logos\stripe.png">    </p:cNvPr>
          <p:cNvPicPr>
            <a:picLocks noChangeAspect="1"/>
          </p:cNvPicPr>
          <p:nvPr/>
        </p:nvPicPr>
        <p:blipFill>
          <a:blip r:embed="rId1"/>
          <a:stretch>
            <a:fillRect/>
          </a:stretch>
        </p:blipFill>
        <p:spPr>
          <a:xfrm>
            <a:off x="548640" y="310896"/>
            <a:ext cx="365760" cy="365760"/>
          </a:xfrm>
          <a:prstGeom prst="rect">
            <a:avLst/>
          </a:prstGeom>
        </p:spPr>
      </p:pic>
      <p:sp>
        <p:nvSpPr>
          <p:cNvPr id="3" name="Text 0"/>
          <p:cNvSpPr txBox="1"/>
          <p:nvPr/>
        </p:nvSpPr>
        <p:spPr>
          <a:xfrm>
            <a:off x="1133856" y="237744"/>
            <a:ext cx="7132320" cy="548640"/>
          </a:xfrm>
          <a:prstGeom prst="rect">
            <a:avLst/>
          </a:prstGeom>
          <a:noFill/>
          <a:ln/>
        </p:spPr>
        <p:txBody>
          <a:bodyPr wrap="square" lIns="0" tIns="0" rIns="0" bIns="0" rtlCol="0" anchor="ctr"/>
          <a:lstStyle/>
          <a:p>
            <a:pPr indent="0" marL="0">
              <a:buNone/>
            </a:pPr>
            <a:r>
              <a:rPr lang="en-US" sz="2400" b="1" dirty="0">
                <a:solidFill>
                  <a:srgbClr val="15181E"/>
                </a:solidFill>
                <a:latin typeface="Cambria" pitchFamily="34" charset="0"/>
                <a:ea typeface="Cambria" pitchFamily="34" charset="-122"/>
                <a:cs typeface="Cambria" pitchFamily="34" charset="-120"/>
              </a:rPr>
              <a:t>Stripe</a:t>
            </a:r>
            <a:endParaRPr lang="en-US" sz="2400" dirty="0"/>
          </a:p>
        </p:txBody>
      </p:sp>
      <p:sp>
        <p:nvSpPr>
          <p:cNvPr id="4" name="Shape 1"/>
          <p:cNvSpPr/>
          <p:nvPr/>
        </p:nvSpPr>
        <p:spPr>
          <a:xfrm>
            <a:off x="9902952" y="347472"/>
            <a:ext cx="1737360" cy="274320"/>
          </a:xfrm>
          <a:prstGeom prst="roundRect">
            <a:avLst>
              <a:gd name="adj" fmla="val 50000"/>
            </a:avLst>
          </a:prstGeom>
          <a:solidFill>
            <a:srgbClr val="1F6F6B"/>
          </a:solidFill>
          <a:ln/>
        </p:spPr>
      </p:sp>
      <p:sp>
        <p:nvSpPr>
          <p:cNvPr id="5" name="Text 2"/>
          <p:cNvSpPr txBox="1"/>
          <p:nvPr/>
        </p:nvSpPr>
        <p:spPr>
          <a:xfrm>
            <a:off x="9902952" y="347472"/>
            <a:ext cx="17373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FIRST-PARTY</a:t>
            </a:r>
            <a:endParaRPr lang="en-US" sz="850" dirty="0"/>
          </a:p>
        </p:txBody>
      </p:sp>
      <p:sp>
        <p:nvSpPr>
          <p:cNvPr id="6" name="Text 3"/>
          <p:cNvSpPr txBox="1"/>
          <p:nvPr/>
        </p:nvSpPr>
        <p:spPr>
          <a:xfrm>
            <a:off x="548640" y="786384"/>
            <a:ext cx="10881360" cy="402336"/>
          </a:xfrm>
          <a:prstGeom prst="rect">
            <a:avLst/>
          </a:prstGeom>
          <a:noFill/>
          <a:ln/>
        </p:spPr>
        <p:txBody>
          <a:bodyPr wrap="square" lIns="0" tIns="0" rIns="0" bIns="0" rtlCol="0" anchor="t"/>
          <a:lstStyle/>
          <a:p>
            <a:pPr indent="0" marL="0">
              <a:lnSpc>
                <a:spcPct val="106000"/>
              </a:lnSpc>
              <a:buNone/>
            </a:pPr>
            <a:r>
              <a:rPr lang="en-US" sz="1450" dirty="0">
                <a:solidFill>
                  <a:srgbClr val="232833"/>
                </a:solidFill>
                <a:latin typeface="Calibri" pitchFamily="34" charset="0"/>
                <a:ea typeface="Calibri" pitchFamily="34" charset="-122"/>
                <a:cs typeface="Calibri" pitchFamily="34" charset="-120"/>
              </a:rPr>
              <a:t>Three layers, deliberately separated so the centre can own the infrastructure while each domain team owns its own agents.</a:t>
            </a:r>
            <a:endParaRPr lang="en-US" sz="1450" dirty="0"/>
          </a:p>
        </p:txBody>
      </p:sp>
      <p:sp>
        <p:nvSpPr>
          <p:cNvPr id="7" name="Text 4"/>
          <p:cNvSpPr txBox="1"/>
          <p:nvPr/>
        </p:nvSpPr>
        <p:spPr>
          <a:xfrm>
            <a:off x="548640" y="1316736"/>
            <a:ext cx="5486400" cy="201168"/>
          </a:xfrm>
          <a:prstGeom prst="rect">
            <a:avLst/>
          </a:prstGeom>
          <a:noFill/>
          <a:ln/>
        </p:spPr>
        <p:txBody>
          <a:bodyPr wrap="square" lIns="0" tIns="0" rIns="0" bIns="0" rtlCol="0" anchor="ctr"/>
          <a:lstStyle/>
          <a:p>
            <a:pPr indent="0" marL="0">
              <a:buNone/>
            </a:pPr>
            <a:r>
              <a:rPr lang="en-US" sz="950" b="1" spc="200" kern="0" dirty="0">
                <a:solidFill>
                  <a:srgbClr val="C0761A"/>
                </a:solidFill>
                <a:latin typeface="Calibri" pitchFamily="34" charset="0"/>
                <a:ea typeface="Calibri" pitchFamily="34" charset="-122"/>
                <a:cs typeface="Calibri" pitchFamily="34" charset="-120"/>
              </a:rPr>
              <a:t>SURFACES</a:t>
            </a:r>
            <a:endParaRPr lang="en-US" sz="950" dirty="0"/>
          </a:p>
        </p:txBody>
      </p:sp>
      <p:sp>
        <p:nvSpPr>
          <p:cNvPr id="8" name="Shape 5"/>
          <p:cNvSpPr/>
          <p:nvPr/>
        </p:nvSpPr>
        <p:spPr>
          <a:xfrm>
            <a:off x="548640" y="1554480"/>
            <a:ext cx="2512314" cy="1060704"/>
          </a:xfrm>
          <a:prstGeom prst="roundRect">
            <a:avLst>
              <a:gd name="adj" fmla="val 5172"/>
            </a:avLst>
          </a:prstGeom>
          <a:solidFill>
            <a:srgbClr val="F2F2EF"/>
          </a:solidFill>
          <a:ln w="12700">
            <a:solidFill>
              <a:srgbClr val="F2F2EF"/>
            </a:solidFill>
            <a:prstDash val="solid"/>
          </a:ln>
        </p:spPr>
      </p:sp>
      <p:sp>
        <p:nvSpPr>
          <p:cNvPr id="9" name="Text 6"/>
          <p:cNvSpPr txBox="1"/>
          <p:nvPr/>
        </p:nvSpPr>
        <p:spPr>
          <a:xfrm>
            <a:off x="749808" y="1627632"/>
            <a:ext cx="2109978" cy="256032"/>
          </a:xfrm>
          <a:prstGeom prst="rect">
            <a:avLst/>
          </a:prstGeom>
          <a:noFill/>
          <a:ln/>
        </p:spPr>
        <p:txBody>
          <a:bodyPr wrap="square" lIns="0" tIns="0" rIns="0" bIns="0" rtlCol="0" anchor="ctr"/>
          <a:lstStyle/>
          <a:p>
            <a:pPr indent="0" marL="0">
              <a:buNone/>
            </a:pPr>
            <a:r>
              <a:rPr lang="en-US" sz="1150" b="1" dirty="0">
                <a:solidFill>
                  <a:srgbClr val="C0761A"/>
                </a:solidFill>
                <a:latin typeface="Calibri" pitchFamily="34" charset="0"/>
                <a:ea typeface="Calibri" pitchFamily="34" charset="-122"/>
                <a:cs typeface="Calibri" pitchFamily="34" charset="-120"/>
              </a:rPr>
              <a:t>Web app</a:t>
            </a:r>
            <a:endParaRPr lang="en-US" sz="1150" dirty="0"/>
          </a:p>
        </p:txBody>
      </p:sp>
      <p:sp>
        <p:nvSpPr>
          <p:cNvPr id="10" name="Text 7"/>
          <p:cNvSpPr txBox="1"/>
          <p:nvPr/>
        </p:nvSpPr>
        <p:spPr>
          <a:xfrm>
            <a:off x="749808" y="1901952"/>
            <a:ext cx="2109978" cy="640080"/>
          </a:xfrm>
          <a:prstGeom prst="rect">
            <a:avLst/>
          </a:prstGeom>
          <a:noFill/>
          <a:ln/>
        </p:spPr>
        <p:txBody>
          <a:bodyPr wrap="square" lIns="0" tIns="0" rIns="0" bIns="0" rtlCol="0" anchor="t"/>
          <a:lstStyle/>
          <a:p>
            <a:pPr indent="0" marL="0">
              <a:lnSpc>
                <a:spcPct val="105000"/>
              </a:lnSpc>
              <a:buNone/>
            </a:pPr>
            <a:r>
              <a:rPr lang="en-US" sz="1000" dirty="0">
                <a:solidFill>
                  <a:srgbClr val="232833"/>
                </a:solidFill>
                <a:latin typeface="Calibri" pitchFamily="34" charset="0"/>
                <a:ea typeface="Calibri" pitchFamily="34" charset="-122"/>
                <a:cs typeface="Calibri" pitchFamily="34" charset="-120"/>
              </a:rPr>
              <a:t>The full standalone client for long analysis sessions.</a:t>
            </a:r>
            <a:endParaRPr lang="en-US" sz="1000" dirty="0"/>
          </a:p>
        </p:txBody>
      </p:sp>
      <p:sp>
        <p:nvSpPr>
          <p:cNvPr id="11" name="Shape 8"/>
          <p:cNvSpPr/>
          <p:nvPr/>
        </p:nvSpPr>
        <p:spPr>
          <a:xfrm>
            <a:off x="3408426" y="1554480"/>
            <a:ext cx="2512314" cy="1060704"/>
          </a:xfrm>
          <a:prstGeom prst="roundRect">
            <a:avLst>
              <a:gd name="adj" fmla="val 5172"/>
            </a:avLst>
          </a:prstGeom>
          <a:solidFill>
            <a:srgbClr val="F2F2EF"/>
          </a:solidFill>
          <a:ln w="12700">
            <a:solidFill>
              <a:srgbClr val="F2F2EF"/>
            </a:solidFill>
            <a:prstDash val="solid"/>
          </a:ln>
        </p:spPr>
      </p:sp>
      <p:sp>
        <p:nvSpPr>
          <p:cNvPr id="12" name="Text 9"/>
          <p:cNvSpPr txBox="1"/>
          <p:nvPr/>
        </p:nvSpPr>
        <p:spPr>
          <a:xfrm>
            <a:off x="3609594" y="1627632"/>
            <a:ext cx="2109978" cy="256032"/>
          </a:xfrm>
          <a:prstGeom prst="rect">
            <a:avLst/>
          </a:prstGeom>
          <a:noFill/>
          <a:ln/>
        </p:spPr>
        <p:txBody>
          <a:bodyPr wrap="square" lIns="0" tIns="0" rIns="0" bIns="0" rtlCol="0" anchor="ctr"/>
          <a:lstStyle/>
          <a:p>
            <a:pPr indent="0" marL="0">
              <a:buNone/>
            </a:pPr>
            <a:r>
              <a:rPr lang="en-US" sz="1150" b="1" dirty="0">
                <a:solidFill>
                  <a:srgbClr val="C0761A"/>
                </a:solidFill>
                <a:latin typeface="Calibri" pitchFamily="34" charset="0"/>
                <a:ea typeface="Calibri" pitchFamily="34" charset="-122"/>
                <a:cs typeface="Calibri" pitchFamily="34" charset="-120"/>
              </a:rPr>
              <a:t>Slack</a:t>
            </a:r>
            <a:endParaRPr lang="en-US" sz="1150" dirty="0"/>
          </a:p>
        </p:txBody>
      </p:sp>
      <p:sp>
        <p:nvSpPr>
          <p:cNvPr id="13" name="Text 10"/>
          <p:cNvSpPr txBox="1"/>
          <p:nvPr/>
        </p:nvSpPr>
        <p:spPr>
          <a:xfrm>
            <a:off x="3609594" y="1901952"/>
            <a:ext cx="2109978" cy="640080"/>
          </a:xfrm>
          <a:prstGeom prst="rect">
            <a:avLst/>
          </a:prstGeom>
          <a:noFill/>
          <a:ln/>
        </p:spPr>
        <p:txBody>
          <a:bodyPr wrap="square" lIns="0" tIns="0" rIns="0" bIns="0" rtlCol="0" anchor="t"/>
          <a:lstStyle/>
          <a:p>
            <a:pPr indent="0" marL="0">
              <a:lnSpc>
                <a:spcPct val="105000"/>
              </a:lnSpc>
              <a:buNone/>
            </a:pPr>
            <a:r>
              <a:rPr lang="en-US" sz="1000" dirty="0">
                <a:solidFill>
                  <a:srgbClr val="232833"/>
                </a:solidFill>
                <a:latin typeface="Calibri" pitchFamily="34" charset="0"/>
                <a:ea typeface="Calibri" pitchFamily="34" charset="-122"/>
                <a:cs typeface="Calibri" pitchFamily="34" charset="-120"/>
              </a:rPr>
              <a:t>The same backend, reached where the conversation already is.</a:t>
            </a:r>
            <a:endParaRPr lang="en-US" sz="1000" dirty="0"/>
          </a:p>
        </p:txBody>
      </p:sp>
      <p:sp>
        <p:nvSpPr>
          <p:cNvPr id="14" name="Shape 11"/>
          <p:cNvSpPr/>
          <p:nvPr/>
        </p:nvSpPr>
        <p:spPr>
          <a:xfrm>
            <a:off x="6268212" y="1554480"/>
            <a:ext cx="2512314" cy="1060704"/>
          </a:xfrm>
          <a:prstGeom prst="roundRect">
            <a:avLst>
              <a:gd name="adj" fmla="val 5172"/>
            </a:avLst>
          </a:prstGeom>
          <a:solidFill>
            <a:srgbClr val="F2F2EF"/>
          </a:solidFill>
          <a:ln w="12700">
            <a:solidFill>
              <a:srgbClr val="F2F2EF"/>
            </a:solidFill>
            <a:prstDash val="solid"/>
          </a:ln>
        </p:spPr>
      </p:sp>
      <p:sp>
        <p:nvSpPr>
          <p:cNvPr id="15" name="Text 12"/>
          <p:cNvSpPr txBox="1"/>
          <p:nvPr/>
        </p:nvSpPr>
        <p:spPr>
          <a:xfrm>
            <a:off x="6469380" y="1627632"/>
            <a:ext cx="2109978" cy="256032"/>
          </a:xfrm>
          <a:prstGeom prst="rect">
            <a:avLst/>
          </a:prstGeom>
          <a:noFill/>
          <a:ln/>
        </p:spPr>
        <p:txBody>
          <a:bodyPr wrap="square" lIns="0" tIns="0" rIns="0" bIns="0" rtlCol="0" anchor="ctr"/>
          <a:lstStyle/>
          <a:p>
            <a:pPr indent="0" marL="0">
              <a:buNone/>
            </a:pPr>
            <a:r>
              <a:rPr lang="en-US" sz="1150" b="1" dirty="0">
                <a:solidFill>
                  <a:srgbClr val="C0761A"/>
                </a:solidFill>
                <a:latin typeface="Calibri" pitchFamily="34" charset="0"/>
                <a:ea typeface="Calibri" pitchFamily="34" charset="-122"/>
                <a:cs typeface="Calibri" pitchFamily="34" charset="-120"/>
              </a:rPr>
              <a:t>Chrome extension</a:t>
            </a:r>
            <a:endParaRPr lang="en-US" sz="1150" dirty="0"/>
          </a:p>
        </p:txBody>
      </p:sp>
      <p:sp>
        <p:nvSpPr>
          <p:cNvPr id="16" name="Text 13"/>
          <p:cNvSpPr txBox="1"/>
          <p:nvPr/>
        </p:nvSpPr>
        <p:spPr>
          <a:xfrm>
            <a:off x="6469380" y="1901952"/>
            <a:ext cx="2109978" cy="640080"/>
          </a:xfrm>
          <a:prstGeom prst="rect">
            <a:avLst/>
          </a:prstGeom>
          <a:noFill/>
          <a:ln/>
        </p:spPr>
        <p:txBody>
          <a:bodyPr wrap="square" lIns="0" tIns="0" rIns="0" bIns="0" rtlCol="0" anchor="t"/>
          <a:lstStyle/>
          <a:p>
            <a:pPr indent="0" marL="0">
              <a:lnSpc>
                <a:spcPct val="105000"/>
              </a:lnSpc>
              <a:buNone/>
            </a:pPr>
            <a:r>
              <a:rPr lang="en-US" sz="1000" dirty="0">
                <a:solidFill>
                  <a:srgbClr val="232833"/>
                </a:solidFill>
                <a:latin typeface="Calibri" pitchFamily="34" charset="0"/>
                <a:ea typeface="Calibri" pitchFamily="34" charset="-122"/>
                <a:cs typeface="Calibri" pitchFamily="34" charset="-120"/>
              </a:rPr>
              <a:t>Kai embedded inside third-party tools people already use.</a:t>
            </a:r>
            <a:endParaRPr lang="en-US" sz="1000" dirty="0"/>
          </a:p>
        </p:txBody>
      </p:sp>
      <p:sp>
        <p:nvSpPr>
          <p:cNvPr id="17" name="Shape 14"/>
          <p:cNvSpPr/>
          <p:nvPr/>
        </p:nvSpPr>
        <p:spPr>
          <a:xfrm>
            <a:off x="9127998" y="1554480"/>
            <a:ext cx="2512314" cy="1060704"/>
          </a:xfrm>
          <a:prstGeom prst="roundRect">
            <a:avLst>
              <a:gd name="adj" fmla="val 5172"/>
            </a:avLst>
          </a:prstGeom>
          <a:solidFill>
            <a:srgbClr val="F2F2EF"/>
          </a:solidFill>
          <a:ln w="12700">
            <a:solidFill>
              <a:srgbClr val="F2F2EF"/>
            </a:solidFill>
            <a:prstDash val="solid"/>
          </a:ln>
        </p:spPr>
      </p:sp>
      <p:sp>
        <p:nvSpPr>
          <p:cNvPr id="18" name="Text 15"/>
          <p:cNvSpPr txBox="1"/>
          <p:nvPr/>
        </p:nvSpPr>
        <p:spPr>
          <a:xfrm>
            <a:off x="9329166" y="1627632"/>
            <a:ext cx="2109978" cy="256032"/>
          </a:xfrm>
          <a:prstGeom prst="rect">
            <a:avLst/>
          </a:prstGeom>
          <a:noFill/>
          <a:ln/>
        </p:spPr>
        <p:txBody>
          <a:bodyPr wrap="square" lIns="0" tIns="0" rIns="0" bIns="0" rtlCol="0" anchor="ctr"/>
          <a:lstStyle/>
          <a:p>
            <a:pPr indent="0" marL="0">
              <a:buNone/>
            </a:pPr>
            <a:r>
              <a:rPr lang="en-US" sz="1150" b="1" dirty="0">
                <a:solidFill>
                  <a:srgbClr val="C0761A"/>
                </a:solidFill>
                <a:latin typeface="Calibri" pitchFamily="34" charset="0"/>
                <a:ea typeface="Calibri" pitchFamily="34" charset="-122"/>
                <a:cs typeface="Calibri" pitchFamily="34" charset="-120"/>
              </a:rPr>
              <a:t>Direct API embeds</a:t>
            </a:r>
            <a:endParaRPr lang="en-US" sz="1150" dirty="0"/>
          </a:p>
        </p:txBody>
      </p:sp>
      <p:sp>
        <p:nvSpPr>
          <p:cNvPr id="19" name="Text 16"/>
          <p:cNvSpPr txBox="1"/>
          <p:nvPr/>
        </p:nvSpPr>
        <p:spPr>
          <a:xfrm>
            <a:off x="9329166" y="1901952"/>
            <a:ext cx="2109978" cy="640080"/>
          </a:xfrm>
          <a:prstGeom prst="rect">
            <a:avLst/>
          </a:prstGeom>
          <a:noFill/>
          <a:ln/>
        </p:spPr>
        <p:txBody>
          <a:bodyPr wrap="square" lIns="0" tIns="0" rIns="0" bIns="0" rtlCol="0" anchor="t"/>
          <a:lstStyle/>
          <a:p>
            <a:pPr indent="0" marL="0">
              <a:lnSpc>
                <a:spcPct val="105000"/>
              </a:lnSpc>
              <a:buNone/>
            </a:pPr>
            <a:r>
              <a:rPr lang="en-US" sz="1000" dirty="0">
                <a:solidFill>
                  <a:srgbClr val="232833"/>
                </a:solidFill>
                <a:latin typeface="Calibri" pitchFamily="34" charset="0"/>
                <a:ea typeface="Calibri" pitchFamily="34" charset="-122"/>
                <a:cs typeface="Calibri" pitchFamily="34" charset="-120"/>
              </a:rPr>
              <a:t>Other internal products call the same service directly.</a:t>
            </a:r>
            <a:endParaRPr lang="en-US" sz="1000" dirty="0"/>
          </a:p>
        </p:txBody>
      </p:sp>
      <p:sp>
        <p:nvSpPr>
          <p:cNvPr id="20" name="Text 17"/>
          <p:cNvSpPr txBox="1"/>
          <p:nvPr/>
        </p:nvSpPr>
        <p:spPr>
          <a:xfrm>
            <a:off x="548640" y="2798064"/>
            <a:ext cx="5486400" cy="201168"/>
          </a:xfrm>
          <a:prstGeom prst="rect">
            <a:avLst/>
          </a:prstGeom>
          <a:noFill/>
          <a:ln/>
        </p:spPr>
        <p:txBody>
          <a:bodyPr wrap="square" lIns="0" tIns="0" rIns="0" bIns="0" rtlCol="0" anchor="ctr"/>
          <a:lstStyle/>
          <a:p>
            <a:pPr indent="0" marL="0">
              <a:buNone/>
            </a:pPr>
            <a:r>
              <a:rPr lang="en-US" sz="950" b="1" spc="200" kern="0" dirty="0">
                <a:solidFill>
                  <a:srgbClr val="1F6F6B"/>
                </a:solidFill>
                <a:latin typeface="Calibri" pitchFamily="34" charset="0"/>
                <a:ea typeface="Calibri" pitchFamily="34" charset="-122"/>
                <a:cs typeface="Calibri" pitchFamily="34" charset="-120"/>
              </a:rPr>
              <a:t>AGENTSTUDIO</a:t>
            </a:r>
            <a:endParaRPr lang="en-US" sz="950" dirty="0"/>
          </a:p>
        </p:txBody>
      </p:sp>
      <p:sp>
        <p:nvSpPr>
          <p:cNvPr id="21" name="Shape 18"/>
          <p:cNvSpPr/>
          <p:nvPr/>
        </p:nvSpPr>
        <p:spPr>
          <a:xfrm>
            <a:off x="548640" y="3035808"/>
            <a:ext cx="2512314" cy="1060704"/>
          </a:xfrm>
          <a:prstGeom prst="roundRect">
            <a:avLst>
              <a:gd name="adj" fmla="val 5172"/>
            </a:avLst>
          </a:prstGeom>
          <a:solidFill>
            <a:srgbClr val="F2F2EF"/>
          </a:solidFill>
          <a:ln w="12700">
            <a:solidFill>
              <a:srgbClr val="F2F2EF"/>
            </a:solidFill>
            <a:prstDash val="solid"/>
          </a:ln>
        </p:spPr>
      </p:sp>
      <p:sp>
        <p:nvSpPr>
          <p:cNvPr id="22" name="Text 19"/>
          <p:cNvSpPr txBox="1"/>
          <p:nvPr/>
        </p:nvSpPr>
        <p:spPr>
          <a:xfrm>
            <a:off x="749808" y="3108960"/>
            <a:ext cx="2109978" cy="256032"/>
          </a:xfrm>
          <a:prstGeom prst="rect">
            <a:avLst/>
          </a:prstGeom>
          <a:noFill/>
          <a:ln/>
        </p:spPr>
        <p:txBody>
          <a:bodyPr wrap="square" lIns="0" tIns="0" rIns="0" bIns="0" rtlCol="0" anchor="ctr"/>
          <a:lstStyle/>
          <a:p>
            <a:pPr indent="0" marL="0">
              <a:buNone/>
            </a:pPr>
            <a:r>
              <a:rPr lang="en-US" sz="1150" b="1" dirty="0">
                <a:solidFill>
                  <a:srgbClr val="1F6F6B"/>
                </a:solidFill>
                <a:latin typeface="Calibri" pitchFamily="34" charset="0"/>
                <a:ea typeface="Calibri" pitchFamily="34" charset="-122"/>
                <a:cs typeface="Calibri" pitchFamily="34" charset="-120"/>
              </a:rPr>
              <a:t>Build</a:t>
            </a:r>
            <a:endParaRPr lang="en-US" sz="1150" dirty="0"/>
          </a:p>
        </p:txBody>
      </p:sp>
      <p:sp>
        <p:nvSpPr>
          <p:cNvPr id="23" name="Text 20"/>
          <p:cNvSpPr txBox="1"/>
          <p:nvPr/>
        </p:nvSpPr>
        <p:spPr>
          <a:xfrm>
            <a:off x="749808" y="3383280"/>
            <a:ext cx="2109978" cy="640080"/>
          </a:xfrm>
          <a:prstGeom prst="rect">
            <a:avLst/>
          </a:prstGeom>
          <a:noFill/>
          <a:ln/>
        </p:spPr>
        <p:txBody>
          <a:bodyPr wrap="square" lIns="0" tIns="0" rIns="0" bIns="0" rtlCol="0" anchor="t"/>
          <a:lstStyle/>
          <a:p>
            <a:pPr indent="0" marL="0">
              <a:lnSpc>
                <a:spcPct val="105000"/>
              </a:lnSpc>
              <a:buNone/>
            </a:pPr>
            <a:r>
              <a:rPr lang="en-US" sz="1000" dirty="0">
                <a:solidFill>
                  <a:srgbClr val="232833"/>
                </a:solidFill>
                <a:latin typeface="Calibri" pitchFamily="34" charset="0"/>
                <a:ea typeface="Calibri" pitchFamily="34" charset="-122"/>
                <a:cs typeface="Calibri" pitchFamily="34" charset="-120"/>
              </a:rPr>
              <a:t>Domain experts assemble agents, skills and tool selections themselves.</a:t>
            </a:r>
            <a:endParaRPr lang="en-US" sz="1000" dirty="0"/>
          </a:p>
        </p:txBody>
      </p:sp>
      <p:sp>
        <p:nvSpPr>
          <p:cNvPr id="24" name="Shape 21"/>
          <p:cNvSpPr/>
          <p:nvPr/>
        </p:nvSpPr>
        <p:spPr>
          <a:xfrm>
            <a:off x="3408426" y="3035808"/>
            <a:ext cx="2512314" cy="1060704"/>
          </a:xfrm>
          <a:prstGeom prst="roundRect">
            <a:avLst>
              <a:gd name="adj" fmla="val 5172"/>
            </a:avLst>
          </a:prstGeom>
          <a:solidFill>
            <a:srgbClr val="F2F2EF"/>
          </a:solidFill>
          <a:ln w="12700">
            <a:solidFill>
              <a:srgbClr val="F2F2EF"/>
            </a:solidFill>
            <a:prstDash val="solid"/>
          </a:ln>
        </p:spPr>
      </p:sp>
      <p:sp>
        <p:nvSpPr>
          <p:cNvPr id="25" name="Text 22"/>
          <p:cNvSpPr txBox="1"/>
          <p:nvPr/>
        </p:nvSpPr>
        <p:spPr>
          <a:xfrm>
            <a:off x="3609594" y="3108960"/>
            <a:ext cx="2109978" cy="256032"/>
          </a:xfrm>
          <a:prstGeom prst="rect">
            <a:avLst/>
          </a:prstGeom>
          <a:noFill/>
          <a:ln/>
        </p:spPr>
        <p:txBody>
          <a:bodyPr wrap="square" lIns="0" tIns="0" rIns="0" bIns="0" rtlCol="0" anchor="ctr"/>
          <a:lstStyle/>
          <a:p>
            <a:pPr indent="0" marL="0">
              <a:buNone/>
            </a:pPr>
            <a:r>
              <a:rPr lang="en-US" sz="1150" b="1" dirty="0">
                <a:solidFill>
                  <a:srgbClr val="1F6F6B"/>
                </a:solidFill>
                <a:latin typeface="Calibri" pitchFamily="34" charset="0"/>
                <a:ea typeface="Calibri" pitchFamily="34" charset="-122"/>
                <a:cs typeface="Calibri" pitchFamily="34" charset="-120"/>
              </a:rPr>
              <a:t>Test</a:t>
            </a:r>
            <a:endParaRPr lang="en-US" sz="1150" dirty="0"/>
          </a:p>
        </p:txBody>
      </p:sp>
      <p:sp>
        <p:nvSpPr>
          <p:cNvPr id="26" name="Text 23"/>
          <p:cNvSpPr txBox="1"/>
          <p:nvPr/>
        </p:nvSpPr>
        <p:spPr>
          <a:xfrm>
            <a:off x="3609594" y="3383280"/>
            <a:ext cx="2109978" cy="640080"/>
          </a:xfrm>
          <a:prstGeom prst="rect">
            <a:avLst/>
          </a:prstGeom>
          <a:noFill/>
          <a:ln/>
        </p:spPr>
        <p:txBody>
          <a:bodyPr wrap="square" lIns="0" tIns="0" rIns="0" bIns="0" rtlCol="0" anchor="t"/>
          <a:lstStyle/>
          <a:p>
            <a:pPr indent="0" marL="0">
              <a:lnSpc>
                <a:spcPct val="105000"/>
              </a:lnSpc>
              <a:buNone/>
            </a:pPr>
            <a:r>
              <a:rPr lang="en-US" sz="1000" dirty="0">
                <a:solidFill>
                  <a:srgbClr val="232833"/>
                </a:solidFill>
                <a:latin typeface="Calibri" pitchFamily="34" charset="0"/>
                <a:ea typeface="Calibri" pitchFamily="34" charset="-122"/>
                <a:cs typeface="Calibri" pitchFamily="34" charset="-120"/>
              </a:rPr>
              <a:t>They validate behaviour before anything reaches colleagues.</a:t>
            </a:r>
            <a:endParaRPr lang="en-US" sz="1000" dirty="0"/>
          </a:p>
        </p:txBody>
      </p:sp>
      <p:sp>
        <p:nvSpPr>
          <p:cNvPr id="27" name="Shape 24"/>
          <p:cNvSpPr/>
          <p:nvPr/>
        </p:nvSpPr>
        <p:spPr>
          <a:xfrm>
            <a:off x="6268212" y="3035808"/>
            <a:ext cx="2512314" cy="1060704"/>
          </a:xfrm>
          <a:prstGeom prst="roundRect">
            <a:avLst>
              <a:gd name="adj" fmla="val 5172"/>
            </a:avLst>
          </a:prstGeom>
          <a:solidFill>
            <a:srgbClr val="F2F2EF"/>
          </a:solidFill>
          <a:ln w="12700">
            <a:solidFill>
              <a:srgbClr val="F2F2EF"/>
            </a:solidFill>
            <a:prstDash val="solid"/>
          </a:ln>
        </p:spPr>
      </p:sp>
      <p:sp>
        <p:nvSpPr>
          <p:cNvPr id="28" name="Text 25"/>
          <p:cNvSpPr txBox="1"/>
          <p:nvPr/>
        </p:nvSpPr>
        <p:spPr>
          <a:xfrm>
            <a:off x="6469380" y="3108960"/>
            <a:ext cx="2109978" cy="256032"/>
          </a:xfrm>
          <a:prstGeom prst="rect">
            <a:avLst/>
          </a:prstGeom>
          <a:noFill/>
          <a:ln/>
        </p:spPr>
        <p:txBody>
          <a:bodyPr wrap="square" lIns="0" tIns="0" rIns="0" bIns="0" rtlCol="0" anchor="ctr"/>
          <a:lstStyle/>
          <a:p>
            <a:pPr indent="0" marL="0">
              <a:buNone/>
            </a:pPr>
            <a:r>
              <a:rPr lang="en-US" sz="1150" b="1" dirty="0">
                <a:solidFill>
                  <a:srgbClr val="1F6F6B"/>
                </a:solidFill>
                <a:latin typeface="Calibri" pitchFamily="34" charset="0"/>
                <a:ea typeface="Calibri" pitchFamily="34" charset="-122"/>
                <a:cs typeface="Calibri" pitchFamily="34" charset="-120"/>
              </a:rPr>
              <a:t>Monitor</a:t>
            </a:r>
            <a:endParaRPr lang="en-US" sz="1150" dirty="0"/>
          </a:p>
        </p:txBody>
      </p:sp>
      <p:sp>
        <p:nvSpPr>
          <p:cNvPr id="29" name="Text 26"/>
          <p:cNvSpPr txBox="1"/>
          <p:nvPr/>
        </p:nvSpPr>
        <p:spPr>
          <a:xfrm>
            <a:off x="6469380" y="3383280"/>
            <a:ext cx="2109978" cy="640080"/>
          </a:xfrm>
          <a:prstGeom prst="rect">
            <a:avLst/>
          </a:prstGeom>
          <a:noFill/>
          <a:ln/>
        </p:spPr>
        <p:txBody>
          <a:bodyPr wrap="square" lIns="0" tIns="0" rIns="0" bIns="0" rtlCol="0" anchor="t"/>
          <a:lstStyle/>
          <a:p>
            <a:pPr indent="0" marL="0">
              <a:lnSpc>
                <a:spcPct val="105000"/>
              </a:lnSpc>
              <a:buNone/>
            </a:pPr>
            <a:r>
              <a:rPr lang="en-US" sz="1000" dirty="0">
                <a:solidFill>
                  <a:srgbClr val="232833"/>
                </a:solidFill>
                <a:latin typeface="Calibri" pitchFamily="34" charset="0"/>
                <a:ea typeface="Calibri" pitchFamily="34" charset="-122"/>
                <a:cs typeface="Calibri" pitchFamily="34" charset="-120"/>
              </a:rPr>
              <a:t>Usage and quality signals come back per asset, to the owning team.</a:t>
            </a:r>
            <a:endParaRPr lang="en-US" sz="1000" dirty="0"/>
          </a:p>
        </p:txBody>
      </p:sp>
      <p:sp>
        <p:nvSpPr>
          <p:cNvPr id="30" name="Shape 27"/>
          <p:cNvSpPr/>
          <p:nvPr/>
        </p:nvSpPr>
        <p:spPr>
          <a:xfrm>
            <a:off x="9127998" y="3035808"/>
            <a:ext cx="2512314" cy="1060704"/>
          </a:xfrm>
          <a:prstGeom prst="roundRect">
            <a:avLst>
              <a:gd name="adj" fmla="val 5172"/>
            </a:avLst>
          </a:prstGeom>
          <a:solidFill>
            <a:srgbClr val="F2F2EF"/>
          </a:solidFill>
          <a:ln w="12700">
            <a:solidFill>
              <a:srgbClr val="F2F2EF"/>
            </a:solidFill>
            <a:prstDash val="solid"/>
          </a:ln>
        </p:spPr>
      </p:sp>
      <p:sp>
        <p:nvSpPr>
          <p:cNvPr id="31" name="Text 28"/>
          <p:cNvSpPr txBox="1"/>
          <p:nvPr/>
        </p:nvSpPr>
        <p:spPr>
          <a:xfrm>
            <a:off x="9329166" y="3108960"/>
            <a:ext cx="2109978" cy="256032"/>
          </a:xfrm>
          <a:prstGeom prst="rect">
            <a:avLst/>
          </a:prstGeom>
          <a:noFill/>
          <a:ln/>
        </p:spPr>
        <p:txBody>
          <a:bodyPr wrap="square" lIns="0" tIns="0" rIns="0" bIns="0" rtlCol="0" anchor="ctr"/>
          <a:lstStyle/>
          <a:p>
            <a:pPr indent="0" marL="0">
              <a:buNone/>
            </a:pPr>
            <a:r>
              <a:rPr lang="en-US" sz="1150" b="1" dirty="0">
                <a:solidFill>
                  <a:srgbClr val="1F6F6B"/>
                </a:solidFill>
                <a:latin typeface="Calibri" pitchFamily="34" charset="0"/>
                <a:ea typeface="Calibri" pitchFamily="34" charset="-122"/>
                <a:cs typeface="Calibri" pitchFamily="34" charset="-120"/>
              </a:rPr>
              <a:t>1,000+ skills</a:t>
            </a:r>
            <a:endParaRPr lang="en-US" sz="1150" dirty="0"/>
          </a:p>
        </p:txBody>
      </p:sp>
      <p:sp>
        <p:nvSpPr>
          <p:cNvPr id="32" name="Text 29"/>
          <p:cNvSpPr txBox="1"/>
          <p:nvPr/>
        </p:nvSpPr>
        <p:spPr>
          <a:xfrm>
            <a:off x="9329166" y="3383280"/>
            <a:ext cx="2109978" cy="640080"/>
          </a:xfrm>
          <a:prstGeom prst="rect">
            <a:avLst/>
          </a:prstGeom>
          <a:noFill/>
          <a:ln/>
        </p:spPr>
        <p:txBody>
          <a:bodyPr wrap="square" lIns="0" tIns="0" rIns="0" bIns="0" rtlCol="0" anchor="t"/>
          <a:lstStyle/>
          <a:p>
            <a:pPr indent="0" marL="0">
              <a:lnSpc>
                <a:spcPct val="105000"/>
              </a:lnSpc>
              <a:buNone/>
            </a:pPr>
            <a:r>
              <a:rPr lang="en-US" sz="1000" dirty="0">
                <a:solidFill>
                  <a:srgbClr val="232833"/>
                </a:solidFill>
                <a:latin typeface="Calibri" pitchFamily="34" charset="0"/>
                <a:ea typeface="Calibri" pitchFamily="34" charset="-122"/>
                <a:cs typeface="Calibri" pitchFamily="34" charset="-120"/>
              </a:rPr>
              <a:t>A hybrid RAG and LLM approach picks tools, not a fixed hierarchy.</a:t>
            </a:r>
            <a:endParaRPr lang="en-US" sz="1000" dirty="0"/>
          </a:p>
        </p:txBody>
      </p:sp>
      <p:sp>
        <p:nvSpPr>
          <p:cNvPr id="33" name="Text 30"/>
          <p:cNvSpPr txBox="1"/>
          <p:nvPr/>
        </p:nvSpPr>
        <p:spPr>
          <a:xfrm>
            <a:off x="548640" y="4279392"/>
            <a:ext cx="5486400" cy="201168"/>
          </a:xfrm>
          <a:prstGeom prst="rect">
            <a:avLst/>
          </a:prstGeom>
          <a:noFill/>
          <a:ln/>
        </p:spPr>
        <p:txBody>
          <a:bodyPr wrap="square" lIns="0" tIns="0" rIns="0" bIns="0" rtlCol="0" anchor="ctr"/>
          <a:lstStyle/>
          <a:p>
            <a:pPr indent="0" marL="0">
              <a:buNone/>
            </a:pPr>
            <a:r>
              <a:rPr lang="en-US" sz="950" b="1" spc="200" kern="0" dirty="0">
                <a:solidFill>
                  <a:srgbClr val="8E3350"/>
                </a:solidFill>
                <a:latin typeface="Calibri" pitchFamily="34" charset="0"/>
                <a:ea typeface="Calibri" pitchFamily="34" charset="-122"/>
                <a:cs typeface="Calibri" pitchFamily="34" charset="-120"/>
              </a:rPr>
              <a:t>EXECUTION</a:t>
            </a:r>
            <a:endParaRPr lang="en-US" sz="950" dirty="0"/>
          </a:p>
        </p:txBody>
      </p:sp>
      <p:sp>
        <p:nvSpPr>
          <p:cNvPr id="34" name="Shape 31"/>
          <p:cNvSpPr/>
          <p:nvPr/>
        </p:nvSpPr>
        <p:spPr>
          <a:xfrm>
            <a:off x="548640" y="4517136"/>
            <a:ext cx="3465576" cy="1060704"/>
          </a:xfrm>
          <a:prstGeom prst="roundRect">
            <a:avLst>
              <a:gd name="adj" fmla="val 5172"/>
            </a:avLst>
          </a:prstGeom>
          <a:solidFill>
            <a:srgbClr val="F2F2EF"/>
          </a:solidFill>
          <a:ln w="12700">
            <a:solidFill>
              <a:srgbClr val="F2F2EF"/>
            </a:solidFill>
            <a:prstDash val="solid"/>
          </a:ln>
        </p:spPr>
      </p:sp>
      <p:sp>
        <p:nvSpPr>
          <p:cNvPr id="35" name="Text 32"/>
          <p:cNvSpPr txBox="1"/>
          <p:nvPr/>
        </p:nvSpPr>
        <p:spPr>
          <a:xfrm>
            <a:off x="749808" y="4590288"/>
            <a:ext cx="3063240" cy="256032"/>
          </a:xfrm>
          <a:prstGeom prst="rect">
            <a:avLst/>
          </a:prstGeom>
          <a:noFill/>
          <a:ln/>
        </p:spPr>
        <p:txBody>
          <a:bodyPr wrap="square" lIns="0" tIns="0" rIns="0" bIns="0" rtlCol="0" anchor="ctr"/>
          <a:lstStyle/>
          <a:p>
            <a:pPr indent="0" marL="0">
              <a:buNone/>
            </a:pPr>
            <a:r>
              <a:rPr lang="en-US" sz="1150" b="1" dirty="0">
                <a:solidFill>
                  <a:srgbClr val="8E3350"/>
                </a:solidFill>
                <a:latin typeface="Calibri" pitchFamily="34" charset="0"/>
                <a:ea typeface="Calibri" pitchFamily="34" charset="-122"/>
                <a:cs typeface="Calibri" pitchFamily="34" charset="-120"/>
              </a:rPr>
              <a:t>deepagents on Kubernetes</a:t>
            </a:r>
            <a:endParaRPr lang="en-US" sz="1150" dirty="0"/>
          </a:p>
        </p:txBody>
      </p:sp>
      <p:sp>
        <p:nvSpPr>
          <p:cNvPr id="36" name="Text 33"/>
          <p:cNvSpPr txBox="1"/>
          <p:nvPr/>
        </p:nvSpPr>
        <p:spPr>
          <a:xfrm>
            <a:off x="749808" y="4864608"/>
            <a:ext cx="3063240" cy="640080"/>
          </a:xfrm>
          <a:prstGeom prst="rect">
            <a:avLst/>
          </a:prstGeom>
          <a:noFill/>
          <a:ln/>
        </p:spPr>
        <p:txBody>
          <a:bodyPr wrap="square" lIns="0" tIns="0" rIns="0" bIns="0" rtlCol="0" anchor="t"/>
          <a:lstStyle/>
          <a:p>
            <a:pPr indent="0" marL="0">
              <a:lnSpc>
                <a:spcPct val="105000"/>
              </a:lnSpc>
              <a:buNone/>
            </a:pPr>
            <a:r>
              <a:rPr lang="en-US" sz="1000" dirty="0">
                <a:solidFill>
                  <a:srgbClr val="232833"/>
                </a:solidFill>
                <a:latin typeface="Calibri" pitchFamily="34" charset="0"/>
                <a:ea typeface="Calibri" pitchFamily="34" charset="-122"/>
                <a:cs typeface="Calibri" pitchFamily="34" charset="-120"/>
              </a:rPr>
              <a:t>LangChain agents scheduled as ordinary cluster workloads.</a:t>
            </a:r>
            <a:endParaRPr lang="en-US" sz="1000" dirty="0"/>
          </a:p>
        </p:txBody>
      </p:sp>
      <p:sp>
        <p:nvSpPr>
          <p:cNvPr id="37" name="Shape 34"/>
          <p:cNvSpPr/>
          <p:nvPr/>
        </p:nvSpPr>
        <p:spPr>
          <a:xfrm>
            <a:off x="4361688" y="4517136"/>
            <a:ext cx="3465576" cy="1060704"/>
          </a:xfrm>
          <a:prstGeom prst="roundRect">
            <a:avLst>
              <a:gd name="adj" fmla="val 5172"/>
            </a:avLst>
          </a:prstGeom>
          <a:solidFill>
            <a:srgbClr val="F2F2EF"/>
          </a:solidFill>
          <a:ln w="12700">
            <a:solidFill>
              <a:srgbClr val="F2F2EF"/>
            </a:solidFill>
            <a:prstDash val="solid"/>
          </a:ln>
        </p:spPr>
      </p:sp>
      <p:sp>
        <p:nvSpPr>
          <p:cNvPr id="38" name="Text 35"/>
          <p:cNvSpPr txBox="1"/>
          <p:nvPr/>
        </p:nvSpPr>
        <p:spPr>
          <a:xfrm>
            <a:off x="4562856" y="4590288"/>
            <a:ext cx="3063240" cy="256032"/>
          </a:xfrm>
          <a:prstGeom prst="rect">
            <a:avLst/>
          </a:prstGeom>
          <a:noFill/>
          <a:ln/>
        </p:spPr>
        <p:txBody>
          <a:bodyPr wrap="square" lIns="0" tIns="0" rIns="0" bIns="0" rtlCol="0" anchor="ctr"/>
          <a:lstStyle/>
          <a:p>
            <a:pPr indent="0" marL="0">
              <a:buNone/>
            </a:pPr>
            <a:r>
              <a:rPr lang="en-US" sz="1150" b="1" dirty="0">
                <a:solidFill>
                  <a:srgbClr val="8E3350"/>
                </a:solidFill>
                <a:latin typeface="Calibri" pitchFamily="34" charset="0"/>
                <a:ea typeface="Calibri" pitchFamily="34" charset="-122"/>
                <a:cs typeface="Calibri" pitchFamily="34" charset="-120"/>
              </a:rPr>
              <a:t>Per-session sandbox</a:t>
            </a:r>
            <a:endParaRPr lang="en-US" sz="1150" dirty="0"/>
          </a:p>
        </p:txBody>
      </p:sp>
      <p:sp>
        <p:nvSpPr>
          <p:cNvPr id="39" name="Text 36"/>
          <p:cNvSpPr txBox="1"/>
          <p:nvPr/>
        </p:nvSpPr>
        <p:spPr>
          <a:xfrm>
            <a:off x="4562856" y="4864608"/>
            <a:ext cx="3063240" cy="640080"/>
          </a:xfrm>
          <a:prstGeom prst="rect">
            <a:avLst/>
          </a:prstGeom>
          <a:noFill/>
          <a:ln/>
        </p:spPr>
        <p:txBody>
          <a:bodyPr wrap="square" lIns="0" tIns="0" rIns="0" bIns="0" rtlCol="0" anchor="t"/>
          <a:lstStyle/>
          <a:p>
            <a:pPr indent="0" marL="0">
              <a:lnSpc>
                <a:spcPct val="105000"/>
              </a:lnSpc>
              <a:buNone/>
            </a:pPr>
            <a:r>
              <a:rPr lang="en-US" sz="1000" dirty="0">
                <a:solidFill>
                  <a:srgbClr val="232833"/>
                </a:solidFill>
                <a:latin typeface="Calibri" pitchFamily="34" charset="0"/>
                <a:ea typeface="Calibri" pitchFamily="34" charset="-122"/>
                <a:cs typeface="Calibri" pitchFamily="34" charset="-120"/>
              </a:rPr>
              <a:t>Each session is isolated, which is what enforces the guardrails.</a:t>
            </a:r>
            <a:endParaRPr lang="en-US" sz="1000" dirty="0"/>
          </a:p>
        </p:txBody>
      </p:sp>
      <p:sp>
        <p:nvSpPr>
          <p:cNvPr id="40" name="Shape 37"/>
          <p:cNvSpPr/>
          <p:nvPr/>
        </p:nvSpPr>
        <p:spPr>
          <a:xfrm>
            <a:off x="8174736" y="4517136"/>
            <a:ext cx="3465576" cy="1060704"/>
          </a:xfrm>
          <a:prstGeom prst="roundRect">
            <a:avLst>
              <a:gd name="adj" fmla="val 5172"/>
            </a:avLst>
          </a:prstGeom>
          <a:solidFill>
            <a:srgbClr val="F2F2EF"/>
          </a:solidFill>
          <a:ln w="12700">
            <a:solidFill>
              <a:srgbClr val="F2F2EF"/>
            </a:solidFill>
            <a:prstDash val="solid"/>
          </a:ln>
        </p:spPr>
      </p:sp>
      <p:sp>
        <p:nvSpPr>
          <p:cNvPr id="41" name="Text 38"/>
          <p:cNvSpPr txBox="1"/>
          <p:nvPr/>
        </p:nvSpPr>
        <p:spPr>
          <a:xfrm>
            <a:off x="8375904" y="4590288"/>
            <a:ext cx="3063240" cy="256032"/>
          </a:xfrm>
          <a:prstGeom prst="rect">
            <a:avLst/>
          </a:prstGeom>
          <a:noFill/>
          <a:ln/>
        </p:spPr>
        <p:txBody>
          <a:bodyPr wrap="square" lIns="0" tIns="0" rIns="0" bIns="0" rtlCol="0" anchor="ctr"/>
          <a:lstStyle/>
          <a:p>
            <a:pPr indent="0" marL="0">
              <a:buNone/>
            </a:pPr>
            <a:r>
              <a:rPr lang="en-US" sz="1150" b="1" dirty="0">
                <a:solidFill>
                  <a:srgbClr val="8E3350"/>
                </a:solidFill>
                <a:latin typeface="Calibri" pitchFamily="34" charset="0"/>
                <a:ea typeface="Calibri" pitchFamily="34" charset="-122"/>
                <a:cs typeface="Calibri" pitchFamily="34" charset="-120"/>
              </a:rPr>
              <a:t>Virtual filesystem</a:t>
            </a:r>
            <a:endParaRPr lang="en-US" sz="1150" dirty="0"/>
          </a:p>
        </p:txBody>
      </p:sp>
      <p:sp>
        <p:nvSpPr>
          <p:cNvPr id="42" name="Text 39"/>
          <p:cNvSpPr txBox="1"/>
          <p:nvPr/>
        </p:nvSpPr>
        <p:spPr>
          <a:xfrm>
            <a:off x="8375904" y="4864608"/>
            <a:ext cx="3063240" cy="640080"/>
          </a:xfrm>
          <a:prstGeom prst="rect">
            <a:avLst/>
          </a:prstGeom>
          <a:noFill/>
          <a:ln/>
        </p:spPr>
        <p:txBody>
          <a:bodyPr wrap="square" lIns="0" tIns="0" rIns="0" bIns="0" rtlCol="0" anchor="t"/>
          <a:lstStyle/>
          <a:p>
            <a:pPr indent="0" marL="0">
              <a:lnSpc>
                <a:spcPct val="105000"/>
              </a:lnSpc>
              <a:buNone/>
            </a:pPr>
            <a:r>
              <a:rPr lang="en-US" sz="1000" dirty="0">
                <a:solidFill>
                  <a:srgbClr val="232833"/>
                </a:solidFill>
                <a:latin typeface="Calibri" pitchFamily="34" charset="0"/>
                <a:ea typeface="Calibri" pitchFamily="34" charset="-122"/>
                <a:cs typeface="Calibri" pitchFamily="34" charset="-120"/>
              </a:rPr>
              <a:t>Multi-tenant, so long sessions keep state without leaking across tenants.</a:t>
            </a:r>
            <a:endParaRPr lang="en-US" sz="1000" dirty="0"/>
          </a:p>
        </p:txBody>
      </p:sp>
      <p:sp>
        <p:nvSpPr>
          <p:cNvPr id="43" name="Text 40"/>
          <p:cNvSpPr txBox="1"/>
          <p:nvPr/>
        </p:nvSpPr>
        <p:spPr>
          <a:xfrm>
            <a:off x="548640" y="5870448"/>
            <a:ext cx="11091672" cy="603504"/>
          </a:xfrm>
          <a:prstGeom prst="rect">
            <a:avLst/>
          </a:prstGeom>
          <a:noFill/>
          <a:ln/>
        </p:spPr>
        <p:txBody>
          <a:bodyPr wrap="square" lIns="0" tIns="0" rIns="0" bIns="0" rtlCol="0" anchor="t"/>
          <a:lstStyle/>
          <a:p>
            <a:pPr indent="0" marL="0">
              <a:lnSpc>
                <a:spcPct val="112000"/>
              </a:lnSpc>
              <a:buNone/>
            </a:pPr>
            <a:r>
              <a:rPr lang="en-US" sz="1050" i="1" dirty="0">
                <a:solidFill>
                  <a:srgbClr val="6E7480"/>
                </a:solidFill>
                <a:latin typeface="Calibri" pitchFamily="34" charset="0"/>
                <a:ea typeface="Calibri" pitchFamily="34" charset="-122"/>
                <a:cs typeface="Calibri" pitchFamily="34" charset="-120"/>
              </a:rPr>
              <a:t>The execution environment is shared with Stripe's customer-facing product agents, so hardening done for one benefits the other. That shared runtime is the reason the platform team can stay small while the agent count grows.</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C:\Users\chint\AppData\Local\Temp\claude\C--Users-chint-Development-conquerorchin-companywiki\d81c9c1b-31dc-4543-8328-70b4d6f55840\scratchpad\logos\uber.png">    </p:cNvPr>
          <p:cNvPicPr>
            <a:picLocks noChangeAspect="1"/>
          </p:cNvPicPr>
          <p:nvPr/>
        </p:nvPicPr>
        <p:blipFill>
          <a:blip r:embed="rId1"/>
          <a:stretch>
            <a:fillRect/>
          </a:stretch>
        </p:blipFill>
        <p:spPr>
          <a:xfrm>
            <a:off x="548640" y="329184"/>
            <a:ext cx="420624" cy="420624"/>
          </a:xfrm>
          <a:prstGeom prst="rect">
            <a:avLst/>
          </a:prstGeom>
        </p:spPr>
      </p:pic>
      <p:sp>
        <p:nvSpPr>
          <p:cNvPr id="3" name="Text 0"/>
          <p:cNvSpPr txBox="1"/>
          <p:nvPr/>
        </p:nvSpPr>
        <p:spPr>
          <a:xfrm>
            <a:off x="1188720" y="256032"/>
            <a:ext cx="7132320" cy="548640"/>
          </a:xfrm>
          <a:prstGeom prst="rect">
            <a:avLst/>
          </a:prstGeom>
          <a:noFill/>
          <a:ln/>
        </p:spPr>
        <p:txBody>
          <a:bodyPr wrap="square" lIns="0" tIns="0" rIns="0" bIns="0" rtlCol="0" anchor="ctr"/>
          <a:lstStyle/>
          <a:p>
            <a:pPr indent="0" marL="0">
              <a:buNone/>
            </a:pPr>
            <a:r>
              <a:rPr lang="en-US" sz="3000" b="1" dirty="0">
                <a:solidFill>
                  <a:srgbClr val="15181E"/>
                </a:solidFill>
                <a:latin typeface="Cambria" pitchFamily="34" charset="0"/>
                <a:ea typeface="Cambria" pitchFamily="34" charset="-122"/>
                <a:cs typeface="Cambria" pitchFamily="34" charset="-120"/>
              </a:rPr>
              <a:t>Uber</a:t>
            </a:r>
            <a:endParaRPr lang="en-US" sz="3000" dirty="0"/>
          </a:p>
        </p:txBody>
      </p:sp>
      <p:sp>
        <p:nvSpPr>
          <p:cNvPr id="4" name="Shape 1"/>
          <p:cNvSpPr/>
          <p:nvPr/>
        </p:nvSpPr>
        <p:spPr>
          <a:xfrm>
            <a:off x="9902952" y="384048"/>
            <a:ext cx="1737360" cy="274320"/>
          </a:xfrm>
          <a:prstGeom prst="roundRect">
            <a:avLst>
              <a:gd name="adj" fmla="val 50000"/>
            </a:avLst>
          </a:prstGeom>
          <a:solidFill>
            <a:srgbClr val="1F6F6B"/>
          </a:solidFill>
          <a:ln/>
        </p:spPr>
      </p:sp>
      <p:sp>
        <p:nvSpPr>
          <p:cNvPr id="5" name="Text 2"/>
          <p:cNvSpPr txBox="1"/>
          <p:nvPr/>
        </p:nvSpPr>
        <p:spPr>
          <a:xfrm>
            <a:off x="9902952" y="384048"/>
            <a:ext cx="17373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FIRST-PARTY</a:t>
            </a:r>
            <a:endParaRPr lang="en-US" sz="850" dirty="0"/>
          </a:p>
        </p:txBody>
      </p:sp>
      <p:sp>
        <p:nvSpPr>
          <p:cNvPr id="6" name="Text 3"/>
          <p:cNvSpPr txBox="1"/>
          <p:nvPr/>
        </p:nvSpPr>
        <p:spPr>
          <a:xfrm>
            <a:off x="548640" y="896112"/>
            <a:ext cx="10881360" cy="457200"/>
          </a:xfrm>
          <a:prstGeom prst="rect">
            <a:avLst/>
          </a:prstGeom>
          <a:noFill/>
          <a:ln/>
        </p:spPr>
        <p:txBody>
          <a:bodyPr wrap="square" lIns="0" tIns="0" rIns="0" bIns="0" rtlCol="0" anchor="t"/>
          <a:lstStyle/>
          <a:p>
            <a:pPr indent="0" marL="0">
              <a:lnSpc>
                <a:spcPct val="105000"/>
              </a:lnSpc>
              <a:buNone/>
            </a:pPr>
            <a:r>
              <a:rPr lang="en-US" sz="1550" b="1" dirty="0">
                <a:solidFill>
                  <a:srgbClr val="15181E"/>
                </a:solidFill>
                <a:latin typeface="Calibri" pitchFamily="34" charset="0"/>
                <a:ea typeface="Calibri" pitchFamily="34" charset="-122"/>
                <a:cs typeface="Calibri" pitchFamily="34" charset="-120"/>
              </a:rPr>
              <a:t>Genie. </a:t>
            </a:r>
            <a:pPr indent="0" marL="0">
              <a:lnSpc>
                <a:spcPct val="105000"/>
              </a:lnSpc>
              <a:buNone/>
            </a:pPr>
            <a:r>
              <a:rPr lang="en-US" sz="1550" dirty="0">
                <a:solidFill>
                  <a:srgbClr val="232833"/>
                </a:solidFill>
                <a:latin typeface="Calibri" pitchFamily="34" charset="0"/>
                <a:ea typeface="Calibri" pitchFamily="34" charset="-122"/>
                <a:cs typeface="Calibri" pitchFamily="34" charset="-120"/>
              </a:rPr>
              <a:t>Ground every answer in retrieved text, then show the user the text you retrieved.</a:t>
            </a:r>
            <a:endParaRPr lang="en-US" sz="1550" dirty="0"/>
          </a:p>
        </p:txBody>
      </p:sp>
      <p:sp>
        <p:nvSpPr>
          <p:cNvPr id="7" name="Shape 4"/>
          <p:cNvSpPr/>
          <p:nvPr/>
        </p:nvSpPr>
        <p:spPr>
          <a:xfrm>
            <a:off x="548640" y="1463040"/>
            <a:ext cx="5399532" cy="2139696"/>
          </a:xfrm>
          <a:prstGeom prst="roundRect">
            <a:avLst>
              <a:gd name="adj" fmla="val 2564"/>
            </a:avLst>
          </a:prstGeom>
          <a:solidFill>
            <a:srgbClr val="F2F2EF"/>
          </a:solidFill>
          <a:ln w="12700">
            <a:solidFill>
              <a:srgbClr val="F2F2EF"/>
            </a:solidFill>
            <a:prstDash val="solid"/>
          </a:ln>
        </p:spPr>
      </p:sp>
      <p:sp>
        <p:nvSpPr>
          <p:cNvPr id="8" name="Shape 5"/>
          <p:cNvSpPr/>
          <p:nvPr/>
        </p:nvSpPr>
        <p:spPr>
          <a:xfrm>
            <a:off x="786384" y="1627632"/>
            <a:ext cx="292608" cy="292608"/>
          </a:xfrm>
          <a:prstGeom prst="ellipse">
            <a:avLst/>
          </a:prstGeom>
          <a:solidFill>
            <a:srgbClr val="C0761A"/>
          </a:solidFill>
          <a:ln/>
        </p:spPr>
      </p:sp>
      <p:sp>
        <p:nvSpPr>
          <p:cNvPr id="9" name="Text 6"/>
          <p:cNvSpPr txBox="1"/>
          <p:nvPr/>
        </p:nvSpPr>
        <p:spPr>
          <a:xfrm>
            <a:off x="786384" y="1627632"/>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mbria" pitchFamily="34" charset="0"/>
                <a:ea typeface="Cambria" pitchFamily="34" charset="-122"/>
                <a:cs typeface="Cambria" pitchFamily="34" charset="-120"/>
              </a:rPr>
              <a:t>I</a:t>
            </a:r>
            <a:endParaRPr lang="en-US" sz="1150" dirty="0"/>
          </a:p>
        </p:txBody>
      </p:sp>
      <p:sp>
        <p:nvSpPr>
          <p:cNvPr id="10" name="Text 7"/>
          <p:cNvSpPr txBox="1"/>
          <p:nvPr/>
        </p:nvSpPr>
        <p:spPr>
          <a:xfrm>
            <a:off x="1188720" y="1627632"/>
            <a:ext cx="4530852" cy="292608"/>
          </a:xfrm>
          <a:prstGeom prst="rect">
            <a:avLst/>
          </a:prstGeom>
          <a:noFill/>
          <a:ln/>
        </p:spPr>
        <p:txBody>
          <a:bodyPr wrap="square" lIns="0" tIns="0" rIns="0" bIns="0" rtlCol="0" anchor="ctr"/>
          <a:lstStyle/>
          <a:p>
            <a:pPr indent="0" marL="0">
              <a:buNone/>
            </a:pPr>
            <a:r>
              <a:rPr lang="en-US" sz="1150" b="1" spc="60" kern="0" dirty="0">
                <a:solidFill>
                  <a:srgbClr val="C0761A"/>
                </a:solidFill>
                <a:latin typeface="Calibri" pitchFamily="34" charset="0"/>
                <a:ea typeface="Calibri" pitchFamily="34" charset="-122"/>
                <a:cs typeface="Calibri" pitchFamily="34" charset="-120"/>
              </a:rPr>
              <a:t>Implementation</a:t>
            </a:r>
            <a:endParaRPr lang="en-US" sz="1150" dirty="0"/>
          </a:p>
        </p:txBody>
      </p:sp>
      <p:sp>
        <p:nvSpPr>
          <p:cNvPr id="11" name="Text 8"/>
          <p:cNvSpPr txBox="1"/>
          <p:nvPr/>
        </p:nvSpPr>
        <p:spPr>
          <a:xfrm>
            <a:off x="822960" y="2011680"/>
            <a:ext cx="4850892" cy="1463040"/>
          </a:xfrm>
          <a:prstGeom prst="rect">
            <a:avLst/>
          </a:prstGeom>
          <a:noFill/>
          <a:ln/>
        </p:spPr>
        <p:txBody>
          <a:bodyPr wrap="square" lIns="0" tIns="0" rIns="0" bIns="0" rtlCol="0" anchor="t"/>
          <a:lstStyle/>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RAG over Engwiki and Uber's internal Stack Overflow, with no fine-tuning anywhere in the system.</a:t>
            </a:r>
            <a:endParaRPr lang="en-US" sz="1100" dirty="0"/>
          </a:p>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A Spark ETL generates OpenAI embeddings and writes them into Sia, Uber's in-house vector database, with Terrablob holding the index.</a:t>
            </a:r>
            <a:endParaRPr lang="en-US" sz="1100" dirty="0"/>
          </a:p>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Michelangelo Gateway fronts the LLM, and the entire user-facing surface is a single Slack bot rather than a separate app.</a:t>
            </a:r>
            <a:endParaRPr lang="en-US" sz="1100" dirty="0"/>
          </a:p>
        </p:txBody>
      </p:sp>
      <p:sp>
        <p:nvSpPr>
          <p:cNvPr id="12" name="Shape 9"/>
          <p:cNvSpPr/>
          <p:nvPr/>
        </p:nvSpPr>
        <p:spPr>
          <a:xfrm>
            <a:off x="6240780" y="1463040"/>
            <a:ext cx="5399532" cy="2139696"/>
          </a:xfrm>
          <a:prstGeom prst="roundRect">
            <a:avLst>
              <a:gd name="adj" fmla="val 2564"/>
            </a:avLst>
          </a:prstGeom>
          <a:solidFill>
            <a:srgbClr val="F2F2EF"/>
          </a:solidFill>
          <a:ln w="12700">
            <a:solidFill>
              <a:srgbClr val="F2F2EF"/>
            </a:solidFill>
            <a:prstDash val="solid"/>
          </a:ln>
        </p:spPr>
      </p:sp>
      <p:sp>
        <p:nvSpPr>
          <p:cNvPr id="13" name="Shape 10"/>
          <p:cNvSpPr/>
          <p:nvPr/>
        </p:nvSpPr>
        <p:spPr>
          <a:xfrm>
            <a:off x="6478524" y="1627632"/>
            <a:ext cx="292608" cy="292608"/>
          </a:xfrm>
          <a:prstGeom prst="ellipse">
            <a:avLst/>
          </a:prstGeom>
          <a:solidFill>
            <a:srgbClr val="1F6F6B"/>
          </a:solidFill>
          <a:ln/>
        </p:spPr>
      </p:sp>
      <p:sp>
        <p:nvSpPr>
          <p:cNvPr id="14" name="Text 11"/>
          <p:cNvSpPr txBox="1"/>
          <p:nvPr/>
        </p:nvSpPr>
        <p:spPr>
          <a:xfrm>
            <a:off x="6478524" y="1627632"/>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mbria" pitchFamily="34" charset="0"/>
                <a:ea typeface="Cambria" pitchFamily="34" charset="-122"/>
                <a:cs typeface="Cambria" pitchFamily="34" charset="-120"/>
              </a:rPr>
              <a:t>P</a:t>
            </a:r>
            <a:endParaRPr lang="en-US" sz="1150" dirty="0"/>
          </a:p>
        </p:txBody>
      </p:sp>
      <p:sp>
        <p:nvSpPr>
          <p:cNvPr id="15" name="Text 12"/>
          <p:cNvSpPr txBox="1"/>
          <p:nvPr/>
        </p:nvSpPr>
        <p:spPr>
          <a:xfrm>
            <a:off x="6880860" y="1627632"/>
            <a:ext cx="4530852" cy="292608"/>
          </a:xfrm>
          <a:prstGeom prst="rect">
            <a:avLst/>
          </a:prstGeom>
          <a:noFill/>
          <a:ln/>
        </p:spPr>
        <p:txBody>
          <a:bodyPr wrap="square" lIns="0" tIns="0" rIns="0" bIns="0" rtlCol="0" anchor="ctr"/>
          <a:lstStyle/>
          <a:p>
            <a:pPr indent="0" marL="0">
              <a:buNone/>
            </a:pPr>
            <a:r>
              <a:rPr lang="en-US" sz="1150" b="1" spc="60" kern="0" dirty="0">
                <a:solidFill>
                  <a:srgbClr val="1F6F6B"/>
                </a:solidFill>
                <a:latin typeface="Calibri" pitchFamily="34" charset="0"/>
                <a:ea typeface="Calibri" pitchFamily="34" charset="-122"/>
                <a:cs typeface="Calibri" pitchFamily="34" charset="-120"/>
              </a:rPr>
              <a:t>Philosophy</a:t>
            </a:r>
            <a:endParaRPr lang="en-US" sz="1150" dirty="0"/>
          </a:p>
        </p:txBody>
      </p:sp>
      <p:sp>
        <p:nvSpPr>
          <p:cNvPr id="16" name="Text 13"/>
          <p:cNvSpPr txBox="1"/>
          <p:nvPr/>
        </p:nvSpPr>
        <p:spPr>
          <a:xfrm>
            <a:off x="6515100" y="2011680"/>
            <a:ext cx="4850892" cy="1463040"/>
          </a:xfrm>
          <a:prstGeom prst="rect">
            <a:avLst/>
          </a:prstGeom>
          <a:noFill/>
          <a:ln/>
        </p:spPr>
        <p:txBody>
          <a:bodyPr wrap="square" lIns="0" tIns="0" rIns="0" bIns="0" rtlCol="0" anchor="t"/>
          <a:lstStyle/>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They chose RAG over fine-tuning purely for time to market, because fine-tuning would have required a corpus of diverse examples before anything shipped.</a:t>
            </a:r>
            <a:endParaRPr lang="en-US" sz="1100" dirty="0"/>
          </a:p>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The model is instructed to answer exclusively from retrieved context, so grounding is enforced by the prompt rather than hoped for.</a:t>
            </a:r>
            <a:endParaRPr lang="en-US" sz="1100" dirty="0"/>
          </a:p>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Every answer shows the retrieved sub-contexts and offers next steps, so a user can check the work or escalate to a human immediately.</a:t>
            </a:r>
            <a:endParaRPr lang="en-US" sz="1100" dirty="0"/>
          </a:p>
        </p:txBody>
      </p:sp>
      <p:sp>
        <p:nvSpPr>
          <p:cNvPr id="17" name="Shape 14"/>
          <p:cNvSpPr/>
          <p:nvPr/>
        </p:nvSpPr>
        <p:spPr>
          <a:xfrm>
            <a:off x="548640" y="3730752"/>
            <a:ext cx="5399532" cy="2139696"/>
          </a:xfrm>
          <a:prstGeom prst="roundRect">
            <a:avLst>
              <a:gd name="adj" fmla="val 2564"/>
            </a:avLst>
          </a:prstGeom>
          <a:solidFill>
            <a:srgbClr val="F2F2EF"/>
          </a:solidFill>
          <a:ln w="12700">
            <a:solidFill>
              <a:srgbClr val="F2F2EF"/>
            </a:solidFill>
            <a:prstDash val="solid"/>
          </a:ln>
        </p:spPr>
      </p:sp>
      <p:sp>
        <p:nvSpPr>
          <p:cNvPr id="18" name="Shape 15"/>
          <p:cNvSpPr/>
          <p:nvPr/>
        </p:nvSpPr>
        <p:spPr>
          <a:xfrm>
            <a:off x="786384" y="3895344"/>
            <a:ext cx="292608" cy="292608"/>
          </a:xfrm>
          <a:prstGeom prst="ellipse">
            <a:avLst/>
          </a:prstGeom>
          <a:solidFill>
            <a:srgbClr val="8E3350"/>
          </a:solidFill>
          <a:ln/>
        </p:spPr>
      </p:sp>
      <p:sp>
        <p:nvSpPr>
          <p:cNvPr id="19" name="Text 16"/>
          <p:cNvSpPr txBox="1"/>
          <p:nvPr/>
        </p:nvSpPr>
        <p:spPr>
          <a:xfrm>
            <a:off x="786384" y="3895344"/>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mbria" pitchFamily="34" charset="0"/>
                <a:ea typeface="Cambria" pitchFamily="34" charset="-122"/>
                <a:cs typeface="Cambria" pitchFamily="34" charset="-120"/>
              </a:rPr>
              <a:t>U</a:t>
            </a:r>
            <a:endParaRPr lang="en-US" sz="1150" dirty="0"/>
          </a:p>
        </p:txBody>
      </p:sp>
      <p:sp>
        <p:nvSpPr>
          <p:cNvPr id="20" name="Text 17"/>
          <p:cNvSpPr txBox="1"/>
          <p:nvPr/>
        </p:nvSpPr>
        <p:spPr>
          <a:xfrm>
            <a:off x="1188720" y="3895344"/>
            <a:ext cx="4530852" cy="292608"/>
          </a:xfrm>
          <a:prstGeom prst="rect">
            <a:avLst/>
          </a:prstGeom>
          <a:noFill/>
          <a:ln/>
        </p:spPr>
        <p:txBody>
          <a:bodyPr wrap="square" lIns="0" tIns="0" rIns="0" bIns="0" rtlCol="0" anchor="ctr"/>
          <a:lstStyle/>
          <a:p>
            <a:pPr indent="0" marL="0">
              <a:buNone/>
            </a:pPr>
            <a:r>
              <a:rPr lang="en-US" sz="1150" b="1" spc="60" kern="0" dirty="0">
                <a:solidFill>
                  <a:srgbClr val="8E3350"/>
                </a:solidFill>
                <a:latin typeface="Calibri" pitchFamily="34" charset="0"/>
                <a:ea typeface="Calibri" pitchFamily="34" charset="-122"/>
                <a:cs typeface="Calibri" pitchFamily="34" charset="-120"/>
              </a:rPr>
              <a:t>How it's used</a:t>
            </a:r>
            <a:endParaRPr lang="en-US" sz="1150" dirty="0"/>
          </a:p>
        </p:txBody>
      </p:sp>
      <p:sp>
        <p:nvSpPr>
          <p:cNvPr id="21" name="Text 18"/>
          <p:cNvSpPr txBox="1"/>
          <p:nvPr/>
        </p:nvSpPr>
        <p:spPr>
          <a:xfrm>
            <a:off x="822960" y="4279392"/>
            <a:ext cx="4850892" cy="1463040"/>
          </a:xfrm>
          <a:prstGeom prst="rect">
            <a:avLst/>
          </a:prstGeom>
          <a:noFill/>
          <a:ln/>
        </p:spPr>
        <p:txBody>
          <a:bodyPr wrap="square" lIns="0" tIns="0" rIns="0" bIns="0" rtlCol="0" anchor="t"/>
          <a:lstStyle/>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154 Slack channels covered, with more than 70,000 questions answered since it went live in September 2023.</a:t>
            </a:r>
            <a:endParaRPr lang="en-US" sz="1100" dirty="0"/>
          </a:p>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A 48.9% helpfulness rate on answered questions, which they publish plainly rather than rounding into a friendlier number.</a:t>
            </a:r>
            <a:endParaRPr lang="en-US" sz="1100" dirty="0"/>
          </a:p>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Roughly 13,000 engineering hours estimated saved, though that figure is internally modelled rather than measured.</a:t>
            </a:r>
            <a:endParaRPr lang="en-US" sz="1100" dirty="0"/>
          </a:p>
        </p:txBody>
      </p:sp>
      <p:sp>
        <p:nvSpPr>
          <p:cNvPr id="22" name="Shape 19"/>
          <p:cNvSpPr/>
          <p:nvPr/>
        </p:nvSpPr>
        <p:spPr>
          <a:xfrm>
            <a:off x="6240780" y="3730752"/>
            <a:ext cx="5399532" cy="2139696"/>
          </a:xfrm>
          <a:prstGeom prst="roundRect">
            <a:avLst>
              <a:gd name="adj" fmla="val 2564"/>
            </a:avLst>
          </a:prstGeom>
          <a:solidFill>
            <a:srgbClr val="F2F2EF"/>
          </a:solidFill>
          <a:ln w="12700">
            <a:solidFill>
              <a:srgbClr val="F2F2EF"/>
            </a:solidFill>
            <a:prstDash val="solid"/>
          </a:ln>
        </p:spPr>
      </p:sp>
      <p:sp>
        <p:nvSpPr>
          <p:cNvPr id="23" name="Shape 20"/>
          <p:cNvSpPr/>
          <p:nvPr/>
        </p:nvSpPr>
        <p:spPr>
          <a:xfrm>
            <a:off x="6478524" y="3895344"/>
            <a:ext cx="292608" cy="292608"/>
          </a:xfrm>
          <a:prstGeom prst="ellipse">
            <a:avLst/>
          </a:prstGeom>
          <a:solidFill>
            <a:srgbClr val="3C4759"/>
          </a:solidFill>
          <a:ln/>
        </p:spPr>
      </p:sp>
      <p:sp>
        <p:nvSpPr>
          <p:cNvPr id="24" name="Text 21"/>
          <p:cNvSpPr txBox="1"/>
          <p:nvPr/>
        </p:nvSpPr>
        <p:spPr>
          <a:xfrm>
            <a:off x="6478524" y="3895344"/>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mbria" pitchFamily="34" charset="0"/>
                <a:ea typeface="Cambria" pitchFamily="34" charset="-122"/>
                <a:cs typeface="Cambria" pitchFamily="34" charset="-120"/>
              </a:rPr>
              <a:t>M</a:t>
            </a:r>
            <a:endParaRPr lang="en-US" sz="1150" dirty="0"/>
          </a:p>
        </p:txBody>
      </p:sp>
      <p:sp>
        <p:nvSpPr>
          <p:cNvPr id="25" name="Text 22"/>
          <p:cNvSpPr txBox="1"/>
          <p:nvPr/>
        </p:nvSpPr>
        <p:spPr>
          <a:xfrm>
            <a:off x="6880860" y="3895344"/>
            <a:ext cx="4530852" cy="292608"/>
          </a:xfrm>
          <a:prstGeom prst="rect">
            <a:avLst/>
          </a:prstGeom>
          <a:noFill/>
          <a:ln/>
        </p:spPr>
        <p:txBody>
          <a:bodyPr wrap="square" lIns="0" tIns="0" rIns="0" bIns="0" rtlCol="0" anchor="ctr"/>
          <a:lstStyle/>
          <a:p>
            <a:pPr indent="0" marL="0">
              <a:buNone/>
            </a:pPr>
            <a:r>
              <a:rPr lang="en-US" sz="1150" b="1" spc="60" kern="0" dirty="0">
                <a:solidFill>
                  <a:srgbClr val="3C4759"/>
                </a:solidFill>
                <a:latin typeface="Calibri" pitchFamily="34" charset="0"/>
                <a:ea typeface="Calibri" pitchFamily="34" charset="-122"/>
                <a:cs typeface="Calibri" pitchFamily="34" charset="-120"/>
              </a:rPr>
              <a:t>Maintenance</a:t>
            </a:r>
            <a:endParaRPr lang="en-US" sz="1150" dirty="0"/>
          </a:p>
        </p:txBody>
      </p:sp>
      <p:sp>
        <p:nvSpPr>
          <p:cNvPr id="26" name="Text 23"/>
          <p:cNvSpPr txBox="1"/>
          <p:nvPr/>
        </p:nvSpPr>
        <p:spPr>
          <a:xfrm>
            <a:off x="6515100" y="4279392"/>
            <a:ext cx="4850892" cy="1463040"/>
          </a:xfrm>
          <a:prstGeom prst="rect">
            <a:avLst/>
          </a:prstGeom>
          <a:noFill/>
          <a:ln/>
        </p:spPr>
        <p:txBody>
          <a:bodyPr wrap="square" lIns="0" tIns="0" rIns="0" bIns="0" rtlCol="0" anchor="t"/>
          <a:lstStyle/>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The Spark ETL runs continuously and incrementally, so the index stays current and nothing is ever retrained.</a:t>
            </a:r>
            <a:endParaRPr lang="en-US" sz="1100" dirty="0"/>
          </a:p>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An LLM-as-judge grades the source documents themselves and suggests improvements, so the assistant improves the docs it reads from.</a:t>
            </a:r>
            <a:endParaRPr lang="en-US" sz="1100" dirty="0"/>
          </a:p>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Only pre-curated, widely-accessible sources are embedded, which keeps sensitive material out of the index entirely.</a:t>
            </a:r>
            <a:endParaRPr lang="en-US" sz="1100" dirty="0"/>
          </a:p>
        </p:txBody>
      </p:sp>
      <p:sp>
        <p:nvSpPr>
          <p:cNvPr id="27" name="Text 24"/>
          <p:cNvSpPr txBox="1"/>
          <p:nvPr/>
        </p:nvSpPr>
        <p:spPr>
          <a:xfrm>
            <a:off x="548640" y="5943600"/>
            <a:ext cx="2544318" cy="310896"/>
          </a:xfrm>
          <a:prstGeom prst="rect">
            <a:avLst/>
          </a:prstGeom>
          <a:noFill/>
          <a:ln/>
        </p:spPr>
        <p:txBody>
          <a:bodyPr wrap="square" lIns="0" tIns="0" rIns="0" bIns="0" rtlCol="0" anchor="b"/>
          <a:lstStyle/>
          <a:p>
            <a:pPr indent="0" marL="0">
              <a:buNone/>
            </a:pPr>
            <a:r>
              <a:rPr lang="en-US" sz="1900" b="1" dirty="0">
                <a:solidFill>
                  <a:srgbClr val="15181E"/>
                </a:solidFill>
                <a:latin typeface="Cambria" pitchFamily="34" charset="0"/>
                <a:ea typeface="Cambria" pitchFamily="34" charset="-122"/>
                <a:cs typeface="Cambria" pitchFamily="34" charset="-120"/>
              </a:rPr>
              <a:t>154</a:t>
            </a:r>
            <a:endParaRPr lang="en-US" sz="1900" dirty="0"/>
          </a:p>
        </p:txBody>
      </p:sp>
      <p:sp>
        <p:nvSpPr>
          <p:cNvPr id="28" name="Text 25"/>
          <p:cNvSpPr txBox="1"/>
          <p:nvPr/>
        </p:nvSpPr>
        <p:spPr>
          <a:xfrm>
            <a:off x="548640" y="6272784"/>
            <a:ext cx="2544318" cy="475488"/>
          </a:xfrm>
          <a:prstGeom prst="rect">
            <a:avLst/>
          </a:prstGeom>
          <a:noFill/>
          <a:ln/>
        </p:spPr>
        <p:txBody>
          <a:bodyPr wrap="square" lIns="0" tIns="0" rIns="0" bIns="0" rtlCol="0" anchor="t"/>
          <a:lstStyle/>
          <a:p>
            <a:pPr indent="0" marL="0">
              <a:lnSpc>
                <a:spcPct val="106000"/>
              </a:lnSpc>
              <a:buNone/>
            </a:pPr>
            <a:r>
              <a:rPr lang="en-US" sz="950" dirty="0">
                <a:solidFill>
                  <a:srgbClr val="6E7480"/>
                </a:solidFill>
                <a:latin typeface="Calibri" pitchFamily="34" charset="0"/>
                <a:ea typeface="Calibri" pitchFamily="34" charset="-122"/>
                <a:cs typeface="Calibri" pitchFamily="34" charset="-120"/>
              </a:rPr>
              <a:t>Slack channels covered since Sept 2023</a:t>
            </a:r>
            <a:endParaRPr lang="en-US" sz="950" dirty="0"/>
          </a:p>
        </p:txBody>
      </p:sp>
      <p:sp>
        <p:nvSpPr>
          <p:cNvPr id="29" name="Text 26"/>
          <p:cNvSpPr txBox="1"/>
          <p:nvPr/>
        </p:nvSpPr>
        <p:spPr>
          <a:xfrm>
            <a:off x="3321558" y="5943600"/>
            <a:ext cx="2544318" cy="310896"/>
          </a:xfrm>
          <a:prstGeom prst="rect">
            <a:avLst/>
          </a:prstGeom>
          <a:noFill/>
          <a:ln/>
        </p:spPr>
        <p:txBody>
          <a:bodyPr wrap="square" lIns="0" tIns="0" rIns="0" bIns="0" rtlCol="0" anchor="b"/>
          <a:lstStyle/>
          <a:p>
            <a:pPr indent="0" marL="0">
              <a:buNone/>
            </a:pPr>
            <a:r>
              <a:rPr lang="en-US" sz="1900" b="1" dirty="0">
                <a:solidFill>
                  <a:srgbClr val="15181E"/>
                </a:solidFill>
                <a:latin typeface="Cambria" pitchFamily="34" charset="0"/>
                <a:ea typeface="Cambria" pitchFamily="34" charset="-122"/>
                <a:cs typeface="Cambria" pitchFamily="34" charset="-120"/>
              </a:rPr>
              <a:t>70,000+</a:t>
            </a:r>
            <a:endParaRPr lang="en-US" sz="1900" dirty="0"/>
          </a:p>
        </p:txBody>
      </p:sp>
      <p:sp>
        <p:nvSpPr>
          <p:cNvPr id="30" name="Text 27"/>
          <p:cNvSpPr txBox="1"/>
          <p:nvPr/>
        </p:nvSpPr>
        <p:spPr>
          <a:xfrm>
            <a:off x="3321558" y="6272784"/>
            <a:ext cx="2544318" cy="475488"/>
          </a:xfrm>
          <a:prstGeom prst="rect">
            <a:avLst/>
          </a:prstGeom>
          <a:noFill/>
          <a:ln/>
        </p:spPr>
        <p:txBody>
          <a:bodyPr wrap="square" lIns="0" tIns="0" rIns="0" bIns="0" rtlCol="0" anchor="t"/>
          <a:lstStyle/>
          <a:p>
            <a:pPr indent="0" marL="0">
              <a:lnSpc>
                <a:spcPct val="106000"/>
              </a:lnSpc>
              <a:buNone/>
            </a:pPr>
            <a:r>
              <a:rPr lang="en-US" sz="950" dirty="0">
                <a:solidFill>
                  <a:srgbClr val="6E7480"/>
                </a:solidFill>
                <a:latin typeface="Calibri" pitchFamily="34" charset="0"/>
                <a:ea typeface="Calibri" pitchFamily="34" charset="-122"/>
                <a:cs typeface="Calibri" pitchFamily="34" charset="-120"/>
              </a:rPr>
              <a:t>questions answered to date</a:t>
            </a:r>
            <a:endParaRPr lang="en-US" sz="950" dirty="0"/>
          </a:p>
        </p:txBody>
      </p:sp>
      <p:sp>
        <p:nvSpPr>
          <p:cNvPr id="31" name="Text 28"/>
          <p:cNvSpPr txBox="1"/>
          <p:nvPr/>
        </p:nvSpPr>
        <p:spPr>
          <a:xfrm>
            <a:off x="6094476" y="5943600"/>
            <a:ext cx="2544318" cy="310896"/>
          </a:xfrm>
          <a:prstGeom prst="rect">
            <a:avLst/>
          </a:prstGeom>
          <a:noFill/>
          <a:ln/>
        </p:spPr>
        <p:txBody>
          <a:bodyPr wrap="square" lIns="0" tIns="0" rIns="0" bIns="0" rtlCol="0" anchor="b"/>
          <a:lstStyle/>
          <a:p>
            <a:pPr indent="0" marL="0">
              <a:buNone/>
            </a:pPr>
            <a:r>
              <a:rPr lang="en-US" sz="1900" b="1" dirty="0">
                <a:solidFill>
                  <a:srgbClr val="15181E"/>
                </a:solidFill>
                <a:latin typeface="Cambria" pitchFamily="34" charset="0"/>
                <a:ea typeface="Cambria" pitchFamily="34" charset="-122"/>
                <a:cs typeface="Cambria" pitchFamily="34" charset="-120"/>
              </a:rPr>
              <a:t>48.9%</a:t>
            </a:r>
            <a:endParaRPr lang="en-US" sz="1900" dirty="0"/>
          </a:p>
        </p:txBody>
      </p:sp>
      <p:sp>
        <p:nvSpPr>
          <p:cNvPr id="32" name="Text 29"/>
          <p:cNvSpPr txBox="1"/>
          <p:nvPr/>
        </p:nvSpPr>
        <p:spPr>
          <a:xfrm>
            <a:off x="6094476" y="6272784"/>
            <a:ext cx="2544318" cy="475488"/>
          </a:xfrm>
          <a:prstGeom prst="rect">
            <a:avLst/>
          </a:prstGeom>
          <a:noFill/>
          <a:ln/>
        </p:spPr>
        <p:txBody>
          <a:bodyPr wrap="square" lIns="0" tIns="0" rIns="0" bIns="0" rtlCol="0" anchor="t"/>
          <a:lstStyle/>
          <a:p>
            <a:pPr indent="0" marL="0">
              <a:lnSpc>
                <a:spcPct val="106000"/>
              </a:lnSpc>
              <a:buNone/>
            </a:pPr>
            <a:r>
              <a:rPr lang="en-US" sz="950" dirty="0">
                <a:solidFill>
                  <a:srgbClr val="6E7480"/>
                </a:solidFill>
                <a:latin typeface="Calibri" pitchFamily="34" charset="0"/>
                <a:ea typeface="Calibri" pitchFamily="34" charset="-122"/>
                <a:cs typeface="Calibri" pitchFamily="34" charset="-120"/>
              </a:rPr>
              <a:t>of answered questions rated helpful</a:t>
            </a:r>
            <a:endParaRPr lang="en-US" sz="950" dirty="0"/>
          </a:p>
        </p:txBody>
      </p:sp>
      <p:sp>
        <p:nvSpPr>
          <p:cNvPr id="33" name="Text 30"/>
          <p:cNvSpPr txBox="1"/>
          <p:nvPr/>
        </p:nvSpPr>
        <p:spPr>
          <a:xfrm>
            <a:off x="8867394" y="5943600"/>
            <a:ext cx="2544318" cy="310896"/>
          </a:xfrm>
          <a:prstGeom prst="rect">
            <a:avLst/>
          </a:prstGeom>
          <a:noFill/>
          <a:ln/>
        </p:spPr>
        <p:txBody>
          <a:bodyPr wrap="square" lIns="0" tIns="0" rIns="0" bIns="0" rtlCol="0" anchor="b"/>
          <a:lstStyle/>
          <a:p>
            <a:pPr indent="0" marL="0">
              <a:buNone/>
            </a:pPr>
            <a:r>
              <a:rPr lang="en-US" sz="1900" b="1" dirty="0">
                <a:solidFill>
                  <a:srgbClr val="15181E"/>
                </a:solidFill>
                <a:latin typeface="Cambria" pitchFamily="34" charset="0"/>
                <a:ea typeface="Cambria" pitchFamily="34" charset="-122"/>
                <a:cs typeface="Cambria" pitchFamily="34" charset="-120"/>
              </a:rPr>
              <a:t>~13,000 h</a:t>
            </a:r>
            <a:endParaRPr lang="en-US" sz="1900" dirty="0"/>
          </a:p>
        </p:txBody>
      </p:sp>
      <p:sp>
        <p:nvSpPr>
          <p:cNvPr id="34" name="Text 31"/>
          <p:cNvSpPr txBox="1"/>
          <p:nvPr/>
        </p:nvSpPr>
        <p:spPr>
          <a:xfrm>
            <a:off x="8867394" y="6272784"/>
            <a:ext cx="2544318" cy="475488"/>
          </a:xfrm>
          <a:prstGeom prst="rect">
            <a:avLst/>
          </a:prstGeom>
          <a:noFill/>
          <a:ln/>
        </p:spPr>
        <p:txBody>
          <a:bodyPr wrap="square" lIns="0" tIns="0" rIns="0" bIns="0" rtlCol="0" anchor="t"/>
          <a:lstStyle/>
          <a:p>
            <a:pPr indent="0" marL="0">
              <a:lnSpc>
                <a:spcPct val="106000"/>
              </a:lnSpc>
              <a:buNone/>
            </a:pPr>
            <a:r>
              <a:rPr lang="en-US" sz="950" dirty="0">
                <a:solidFill>
                  <a:srgbClr val="6E7480"/>
                </a:solidFill>
                <a:latin typeface="Calibri" pitchFamily="34" charset="0"/>
                <a:ea typeface="Calibri" pitchFamily="34" charset="-122"/>
                <a:cs typeface="Calibri" pitchFamily="34" charset="-120"/>
              </a:rPr>
              <a:t>of engineering time estimated saved</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C:\Users\chint\AppData\Local\Temp\claude\C--Users-chint-Development-conquerorchin-companywiki\d81c9c1b-31dc-4543-8328-70b4d6f55840\scratchpad\logos\uber.png">    </p:cNvPr>
          <p:cNvPicPr>
            <a:picLocks noChangeAspect="1"/>
          </p:cNvPicPr>
          <p:nvPr/>
        </p:nvPicPr>
        <p:blipFill>
          <a:blip r:embed="rId1"/>
          <a:stretch>
            <a:fillRect/>
          </a:stretch>
        </p:blipFill>
        <p:spPr>
          <a:xfrm>
            <a:off x="548640" y="310896"/>
            <a:ext cx="365760" cy="365760"/>
          </a:xfrm>
          <a:prstGeom prst="rect">
            <a:avLst/>
          </a:prstGeom>
        </p:spPr>
      </p:pic>
      <p:sp>
        <p:nvSpPr>
          <p:cNvPr id="3" name="Text 0"/>
          <p:cNvSpPr txBox="1"/>
          <p:nvPr/>
        </p:nvSpPr>
        <p:spPr>
          <a:xfrm>
            <a:off x="1133856" y="237744"/>
            <a:ext cx="7132320" cy="548640"/>
          </a:xfrm>
          <a:prstGeom prst="rect">
            <a:avLst/>
          </a:prstGeom>
          <a:noFill/>
          <a:ln/>
        </p:spPr>
        <p:txBody>
          <a:bodyPr wrap="square" lIns="0" tIns="0" rIns="0" bIns="0" rtlCol="0" anchor="ctr"/>
          <a:lstStyle/>
          <a:p>
            <a:pPr indent="0" marL="0">
              <a:buNone/>
            </a:pPr>
            <a:r>
              <a:rPr lang="en-US" sz="2400" b="1" dirty="0">
                <a:solidFill>
                  <a:srgbClr val="15181E"/>
                </a:solidFill>
                <a:latin typeface="Cambria" pitchFamily="34" charset="0"/>
                <a:ea typeface="Cambria" pitchFamily="34" charset="-122"/>
                <a:cs typeface="Cambria" pitchFamily="34" charset="-120"/>
              </a:rPr>
              <a:t>Uber</a:t>
            </a:r>
            <a:endParaRPr lang="en-US" sz="2400" dirty="0"/>
          </a:p>
        </p:txBody>
      </p:sp>
      <p:sp>
        <p:nvSpPr>
          <p:cNvPr id="4" name="Shape 1"/>
          <p:cNvSpPr/>
          <p:nvPr/>
        </p:nvSpPr>
        <p:spPr>
          <a:xfrm>
            <a:off x="9902952" y="347472"/>
            <a:ext cx="1737360" cy="274320"/>
          </a:xfrm>
          <a:prstGeom prst="roundRect">
            <a:avLst>
              <a:gd name="adj" fmla="val 50000"/>
            </a:avLst>
          </a:prstGeom>
          <a:solidFill>
            <a:srgbClr val="1F6F6B"/>
          </a:solidFill>
          <a:ln/>
        </p:spPr>
      </p:sp>
      <p:sp>
        <p:nvSpPr>
          <p:cNvPr id="5" name="Text 2"/>
          <p:cNvSpPr txBox="1"/>
          <p:nvPr/>
        </p:nvSpPr>
        <p:spPr>
          <a:xfrm>
            <a:off x="9902952" y="347472"/>
            <a:ext cx="17373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FIRST-PARTY</a:t>
            </a:r>
            <a:endParaRPr lang="en-US" sz="850" dirty="0"/>
          </a:p>
        </p:txBody>
      </p:sp>
      <p:sp>
        <p:nvSpPr>
          <p:cNvPr id="6" name="Text 3"/>
          <p:cNvSpPr txBox="1"/>
          <p:nvPr/>
        </p:nvSpPr>
        <p:spPr>
          <a:xfrm>
            <a:off x="548640" y="786384"/>
            <a:ext cx="10881360" cy="402336"/>
          </a:xfrm>
          <a:prstGeom prst="rect">
            <a:avLst/>
          </a:prstGeom>
          <a:noFill/>
          <a:ln/>
        </p:spPr>
        <p:txBody>
          <a:bodyPr wrap="square" lIns="0" tIns="0" rIns="0" bIns="0" rtlCol="0" anchor="t"/>
          <a:lstStyle/>
          <a:p>
            <a:pPr indent="0" marL="0">
              <a:lnSpc>
                <a:spcPct val="106000"/>
              </a:lnSpc>
              <a:buNone/>
            </a:pPr>
            <a:r>
              <a:rPr lang="en-US" sz="1450" dirty="0">
                <a:solidFill>
                  <a:srgbClr val="232833"/>
                </a:solidFill>
                <a:latin typeface="Calibri" pitchFamily="34" charset="0"/>
                <a:ea typeface="Calibri" pitchFamily="34" charset="-122"/>
                <a:cs typeface="Calibri" pitchFamily="34" charset="-120"/>
              </a:rPr>
              <a:t>A retrieval loop that also repairs its own sources: feedback is scored by an LLM judge and fed back into the documentation.</a:t>
            </a:r>
            <a:endParaRPr lang="en-US" sz="1450" dirty="0"/>
          </a:p>
        </p:txBody>
      </p:sp>
      <p:sp>
        <p:nvSpPr>
          <p:cNvPr id="7" name="Text 4"/>
          <p:cNvSpPr txBox="1"/>
          <p:nvPr/>
        </p:nvSpPr>
        <p:spPr>
          <a:xfrm>
            <a:off x="548640" y="1316736"/>
            <a:ext cx="5486400" cy="201168"/>
          </a:xfrm>
          <a:prstGeom prst="rect">
            <a:avLst/>
          </a:prstGeom>
          <a:noFill/>
          <a:ln/>
        </p:spPr>
        <p:txBody>
          <a:bodyPr wrap="square" lIns="0" tIns="0" rIns="0" bIns="0" rtlCol="0" anchor="ctr"/>
          <a:lstStyle/>
          <a:p>
            <a:pPr indent="0" marL="0">
              <a:buNone/>
            </a:pPr>
            <a:r>
              <a:rPr lang="en-US" sz="950" b="1" spc="200" kern="0" dirty="0">
                <a:solidFill>
                  <a:srgbClr val="C0761A"/>
                </a:solidFill>
                <a:latin typeface="Calibri" pitchFamily="34" charset="0"/>
                <a:ea typeface="Calibri" pitchFamily="34" charset="-122"/>
                <a:cs typeface="Calibri" pitchFamily="34" charset="-120"/>
              </a:rPr>
              <a:t>INDEX</a:t>
            </a:r>
            <a:endParaRPr lang="en-US" sz="950" dirty="0"/>
          </a:p>
        </p:txBody>
      </p:sp>
      <p:sp>
        <p:nvSpPr>
          <p:cNvPr id="8" name="Shape 5"/>
          <p:cNvSpPr/>
          <p:nvPr/>
        </p:nvSpPr>
        <p:spPr>
          <a:xfrm>
            <a:off x="548640" y="1554480"/>
            <a:ext cx="2512314" cy="1060704"/>
          </a:xfrm>
          <a:prstGeom prst="roundRect">
            <a:avLst>
              <a:gd name="adj" fmla="val 5172"/>
            </a:avLst>
          </a:prstGeom>
          <a:solidFill>
            <a:srgbClr val="F2F2EF"/>
          </a:solidFill>
          <a:ln w="12700">
            <a:solidFill>
              <a:srgbClr val="F2F2EF"/>
            </a:solidFill>
            <a:prstDash val="solid"/>
          </a:ln>
        </p:spPr>
      </p:sp>
      <p:sp>
        <p:nvSpPr>
          <p:cNvPr id="9" name="Text 6"/>
          <p:cNvSpPr txBox="1"/>
          <p:nvPr/>
        </p:nvSpPr>
        <p:spPr>
          <a:xfrm>
            <a:off x="749808" y="1627632"/>
            <a:ext cx="2109978" cy="256032"/>
          </a:xfrm>
          <a:prstGeom prst="rect">
            <a:avLst/>
          </a:prstGeom>
          <a:noFill/>
          <a:ln/>
        </p:spPr>
        <p:txBody>
          <a:bodyPr wrap="square" lIns="0" tIns="0" rIns="0" bIns="0" rtlCol="0" anchor="ctr"/>
          <a:lstStyle/>
          <a:p>
            <a:pPr indent="0" marL="0">
              <a:buNone/>
            </a:pPr>
            <a:r>
              <a:rPr lang="en-US" sz="1150" b="1" dirty="0">
                <a:solidFill>
                  <a:srgbClr val="C0761A"/>
                </a:solidFill>
                <a:latin typeface="Calibri" pitchFamily="34" charset="0"/>
                <a:ea typeface="Calibri" pitchFamily="34" charset="-122"/>
                <a:cs typeface="Calibri" pitchFamily="34" charset="-120"/>
              </a:rPr>
              <a:t>Engwiki and Stack Overflow</a:t>
            </a:r>
            <a:endParaRPr lang="en-US" sz="1150" dirty="0"/>
          </a:p>
        </p:txBody>
      </p:sp>
      <p:sp>
        <p:nvSpPr>
          <p:cNvPr id="10" name="Text 7"/>
          <p:cNvSpPr txBox="1"/>
          <p:nvPr/>
        </p:nvSpPr>
        <p:spPr>
          <a:xfrm>
            <a:off x="749808" y="1901952"/>
            <a:ext cx="2109978" cy="640080"/>
          </a:xfrm>
          <a:prstGeom prst="rect">
            <a:avLst/>
          </a:prstGeom>
          <a:noFill/>
          <a:ln/>
        </p:spPr>
        <p:txBody>
          <a:bodyPr wrap="square" lIns="0" tIns="0" rIns="0" bIns="0" rtlCol="0" anchor="t"/>
          <a:lstStyle/>
          <a:p>
            <a:pPr indent="0" marL="0">
              <a:lnSpc>
                <a:spcPct val="105000"/>
              </a:lnSpc>
              <a:buNone/>
            </a:pPr>
            <a:r>
              <a:rPr lang="en-US" sz="1000" dirty="0">
                <a:solidFill>
                  <a:srgbClr val="232833"/>
                </a:solidFill>
                <a:latin typeface="Calibri" pitchFamily="34" charset="0"/>
                <a:ea typeface="Calibri" pitchFamily="34" charset="-122"/>
                <a:cs typeface="Calibri" pitchFamily="34" charset="-120"/>
              </a:rPr>
              <a:t>Internal wiki plus Uber's own Stack Overflow are the curated sources.</a:t>
            </a:r>
            <a:endParaRPr lang="en-US" sz="1000" dirty="0"/>
          </a:p>
        </p:txBody>
      </p:sp>
      <p:sp>
        <p:nvSpPr>
          <p:cNvPr id="11" name="Text 8"/>
          <p:cNvSpPr txBox="1"/>
          <p:nvPr/>
        </p:nvSpPr>
        <p:spPr>
          <a:xfrm>
            <a:off x="3060954" y="1554480"/>
            <a:ext cx="347472" cy="1060704"/>
          </a:xfrm>
          <a:prstGeom prst="rect">
            <a:avLst/>
          </a:prstGeom>
          <a:noFill/>
          <a:ln/>
        </p:spPr>
        <p:txBody>
          <a:bodyPr wrap="square" lIns="0" tIns="0" rIns="0" bIns="0" rtlCol="0" anchor="ctr"/>
          <a:lstStyle/>
          <a:p>
            <a:pPr algn="ctr" indent="0" marL="0">
              <a:buNone/>
            </a:pPr>
            <a:r>
              <a:rPr lang="en-US" sz="1900" b="1" dirty="0">
                <a:solidFill>
                  <a:srgbClr val="A8AEBB"/>
                </a:solidFill>
                <a:latin typeface="Calibri" pitchFamily="34" charset="0"/>
                <a:ea typeface="Calibri" pitchFamily="34" charset="-122"/>
                <a:cs typeface="Calibri" pitchFamily="34" charset="-120"/>
              </a:rPr>
              <a:t>›</a:t>
            </a:r>
            <a:endParaRPr lang="en-US" sz="1900" dirty="0"/>
          </a:p>
        </p:txBody>
      </p:sp>
      <p:sp>
        <p:nvSpPr>
          <p:cNvPr id="12" name="Shape 9"/>
          <p:cNvSpPr/>
          <p:nvPr/>
        </p:nvSpPr>
        <p:spPr>
          <a:xfrm>
            <a:off x="3408426" y="1554480"/>
            <a:ext cx="2512314" cy="1060704"/>
          </a:xfrm>
          <a:prstGeom prst="roundRect">
            <a:avLst>
              <a:gd name="adj" fmla="val 5172"/>
            </a:avLst>
          </a:prstGeom>
          <a:solidFill>
            <a:srgbClr val="F2F2EF"/>
          </a:solidFill>
          <a:ln w="12700">
            <a:solidFill>
              <a:srgbClr val="F2F2EF"/>
            </a:solidFill>
            <a:prstDash val="solid"/>
          </a:ln>
        </p:spPr>
      </p:sp>
      <p:sp>
        <p:nvSpPr>
          <p:cNvPr id="13" name="Text 10"/>
          <p:cNvSpPr txBox="1"/>
          <p:nvPr/>
        </p:nvSpPr>
        <p:spPr>
          <a:xfrm>
            <a:off x="3609594" y="1627632"/>
            <a:ext cx="2109978" cy="256032"/>
          </a:xfrm>
          <a:prstGeom prst="rect">
            <a:avLst/>
          </a:prstGeom>
          <a:noFill/>
          <a:ln/>
        </p:spPr>
        <p:txBody>
          <a:bodyPr wrap="square" lIns="0" tIns="0" rIns="0" bIns="0" rtlCol="0" anchor="ctr"/>
          <a:lstStyle/>
          <a:p>
            <a:pPr indent="0" marL="0">
              <a:buNone/>
            </a:pPr>
            <a:r>
              <a:rPr lang="en-US" sz="1150" b="1" dirty="0">
                <a:solidFill>
                  <a:srgbClr val="C0761A"/>
                </a:solidFill>
                <a:latin typeface="Calibri" pitchFamily="34" charset="0"/>
                <a:ea typeface="Calibri" pitchFamily="34" charset="-122"/>
                <a:cs typeface="Calibri" pitchFamily="34" charset="-120"/>
              </a:rPr>
              <a:t>Spark ETL</a:t>
            </a:r>
            <a:endParaRPr lang="en-US" sz="1150" dirty="0"/>
          </a:p>
        </p:txBody>
      </p:sp>
      <p:sp>
        <p:nvSpPr>
          <p:cNvPr id="14" name="Text 11"/>
          <p:cNvSpPr txBox="1"/>
          <p:nvPr/>
        </p:nvSpPr>
        <p:spPr>
          <a:xfrm>
            <a:off x="3609594" y="1901952"/>
            <a:ext cx="2109978" cy="640080"/>
          </a:xfrm>
          <a:prstGeom prst="rect">
            <a:avLst/>
          </a:prstGeom>
          <a:noFill/>
          <a:ln/>
        </p:spPr>
        <p:txBody>
          <a:bodyPr wrap="square" lIns="0" tIns="0" rIns="0" bIns="0" rtlCol="0" anchor="t"/>
          <a:lstStyle/>
          <a:p>
            <a:pPr indent="0" marL="0">
              <a:lnSpc>
                <a:spcPct val="105000"/>
              </a:lnSpc>
              <a:buNone/>
            </a:pPr>
            <a:r>
              <a:rPr lang="en-US" sz="1000" dirty="0">
                <a:solidFill>
                  <a:srgbClr val="232833"/>
                </a:solidFill>
                <a:latin typeface="Calibri" pitchFamily="34" charset="0"/>
                <a:ea typeface="Calibri" pitchFamily="34" charset="-122"/>
                <a:cs typeface="Calibri" pitchFamily="34" charset="-120"/>
              </a:rPr>
              <a:t>Pulls from APIs and generates embeddings through PySpark UDFs.</a:t>
            </a:r>
            <a:endParaRPr lang="en-US" sz="1000" dirty="0"/>
          </a:p>
        </p:txBody>
      </p:sp>
      <p:sp>
        <p:nvSpPr>
          <p:cNvPr id="15" name="Text 12"/>
          <p:cNvSpPr txBox="1"/>
          <p:nvPr/>
        </p:nvSpPr>
        <p:spPr>
          <a:xfrm>
            <a:off x="5920740" y="1554480"/>
            <a:ext cx="347472" cy="1060704"/>
          </a:xfrm>
          <a:prstGeom prst="rect">
            <a:avLst/>
          </a:prstGeom>
          <a:noFill/>
          <a:ln/>
        </p:spPr>
        <p:txBody>
          <a:bodyPr wrap="square" lIns="0" tIns="0" rIns="0" bIns="0" rtlCol="0" anchor="ctr"/>
          <a:lstStyle/>
          <a:p>
            <a:pPr algn="ctr" indent="0" marL="0">
              <a:buNone/>
            </a:pPr>
            <a:r>
              <a:rPr lang="en-US" sz="1900" b="1" dirty="0">
                <a:solidFill>
                  <a:srgbClr val="A8AEBB"/>
                </a:solidFill>
                <a:latin typeface="Calibri" pitchFamily="34" charset="0"/>
                <a:ea typeface="Calibri" pitchFamily="34" charset="-122"/>
                <a:cs typeface="Calibri" pitchFamily="34" charset="-120"/>
              </a:rPr>
              <a:t>›</a:t>
            </a:r>
            <a:endParaRPr lang="en-US" sz="1900" dirty="0"/>
          </a:p>
        </p:txBody>
      </p:sp>
      <p:sp>
        <p:nvSpPr>
          <p:cNvPr id="16" name="Shape 13"/>
          <p:cNvSpPr/>
          <p:nvPr/>
        </p:nvSpPr>
        <p:spPr>
          <a:xfrm>
            <a:off x="6268212" y="1554480"/>
            <a:ext cx="2512314" cy="1060704"/>
          </a:xfrm>
          <a:prstGeom prst="roundRect">
            <a:avLst>
              <a:gd name="adj" fmla="val 5172"/>
            </a:avLst>
          </a:prstGeom>
          <a:solidFill>
            <a:srgbClr val="F2F2EF"/>
          </a:solidFill>
          <a:ln w="12700">
            <a:solidFill>
              <a:srgbClr val="F2F2EF"/>
            </a:solidFill>
            <a:prstDash val="solid"/>
          </a:ln>
        </p:spPr>
      </p:sp>
      <p:sp>
        <p:nvSpPr>
          <p:cNvPr id="17" name="Text 14"/>
          <p:cNvSpPr txBox="1"/>
          <p:nvPr/>
        </p:nvSpPr>
        <p:spPr>
          <a:xfrm>
            <a:off x="6469380" y="1627632"/>
            <a:ext cx="2109978" cy="256032"/>
          </a:xfrm>
          <a:prstGeom prst="rect">
            <a:avLst/>
          </a:prstGeom>
          <a:noFill/>
          <a:ln/>
        </p:spPr>
        <p:txBody>
          <a:bodyPr wrap="square" lIns="0" tIns="0" rIns="0" bIns="0" rtlCol="0" anchor="ctr"/>
          <a:lstStyle/>
          <a:p>
            <a:pPr indent="0" marL="0">
              <a:buNone/>
            </a:pPr>
            <a:r>
              <a:rPr lang="en-US" sz="1150" b="1" dirty="0">
                <a:solidFill>
                  <a:srgbClr val="C0761A"/>
                </a:solidFill>
                <a:latin typeface="Calibri" pitchFamily="34" charset="0"/>
                <a:ea typeface="Calibri" pitchFamily="34" charset="-122"/>
                <a:cs typeface="Calibri" pitchFamily="34" charset="-120"/>
              </a:rPr>
              <a:t>OpenAI embeddings</a:t>
            </a:r>
            <a:endParaRPr lang="en-US" sz="1150" dirty="0"/>
          </a:p>
        </p:txBody>
      </p:sp>
      <p:sp>
        <p:nvSpPr>
          <p:cNvPr id="18" name="Text 15"/>
          <p:cNvSpPr txBox="1"/>
          <p:nvPr/>
        </p:nvSpPr>
        <p:spPr>
          <a:xfrm>
            <a:off x="6469380" y="1901952"/>
            <a:ext cx="2109978" cy="640080"/>
          </a:xfrm>
          <a:prstGeom prst="rect">
            <a:avLst/>
          </a:prstGeom>
          <a:noFill/>
          <a:ln/>
        </p:spPr>
        <p:txBody>
          <a:bodyPr wrap="square" lIns="0" tIns="0" rIns="0" bIns="0" rtlCol="0" anchor="t"/>
          <a:lstStyle/>
          <a:p>
            <a:pPr indent="0" marL="0">
              <a:lnSpc>
                <a:spcPct val="105000"/>
              </a:lnSpc>
              <a:buNone/>
            </a:pPr>
            <a:r>
              <a:rPr lang="en-US" sz="1000" dirty="0">
                <a:solidFill>
                  <a:srgbClr val="232833"/>
                </a:solidFill>
                <a:latin typeface="Calibri" pitchFamily="34" charset="0"/>
                <a:ea typeface="Calibri" pitchFamily="34" charset="-122"/>
                <a:cs typeface="Calibri" pitchFamily="34" charset="-120"/>
              </a:rPr>
              <a:t>Vectors are written out and persisted to Terrablob.</a:t>
            </a:r>
            <a:endParaRPr lang="en-US" sz="1000" dirty="0"/>
          </a:p>
        </p:txBody>
      </p:sp>
      <p:sp>
        <p:nvSpPr>
          <p:cNvPr id="19" name="Text 16"/>
          <p:cNvSpPr txBox="1"/>
          <p:nvPr/>
        </p:nvSpPr>
        <p:spPr>
          <a:xfrm>
            <a:off x="8780526" y="1554480"/>
            <a:ext cx="347472" cy="1060704"/>
          </a:xfrm>
          <a:prstGeom prst="rect">
            <a:avLst/>
          </a:prstGeom>
          <a:noFill/>
          <a:ln/>
        </p:spPr>
        <p:txBody>
          <a:bodyPr wrap="square" lIns="0" tIns="0" rIns="0" bIns="0" rtlCol="0" anchor="ctr"/>
          <a:lstStyle/>
          <a:p>
            <a:pPr algn="ctr" indent="0" marL="0">
              <a:buNone/>
            </a:pPr>
            <a:r>
              <a:rPr lang="en-US" sz="1900" b="1" dirty="0">
                <a:solidFill>
                  <a:srgbClr val="A8AEBB"/>
                </a:solidFill>
                <a:latin typeface="Calibri" pitchFamily="34" charset="0"/>
                <a:ea typeface="Calibri" pitchFamily="34" charset="-122"/>
                <a:cs typeface="Calibri" pitchFamily="34" charset="-120"/>
              </a:rPr>
              <a:t>›</a:t>
            </a:r>
            <a:endParaRPr lang="en-US" sz="1900" dirty="0"/>
          </a:p>
        </p:txBody>
      </p:sp>
      <p:sp>
        <p:nvSpPr>
          <p:cNvPr id="20" name="Shape 17"/>
          <p:cNvSpPr/>
          <p:nvPr/>
        </p:nvSpPr>
        <p:spPr>
          <a:xfrm>
            <a:off x="9127998" y="1554480"/>
            <a:ext cx="2512314" cy="1060704"/>
          </a:xfrm>
          <a:prstGeom prst="roundRect">
            <a:avLst>
              <a:gd name="adj" fmla="val 5172"/>
            </a:avLst>
          </a:prstGeom>
          <a:solidFill>
            <a:srgbClr val="F2F2EF"/>
          </a:solidFill>
          <a:ln w="12700">
            <a:solidFill>
              <a:srgbClr val="F2F2EF"/>
            </a:solidFill>
            <a:prstDash val="solid"/>
          </a:ln>
        </p:spPr>
      </p:sp>
      <p:sp>
        <p:nvSpPr>
          <p:cNvPr id="21" name="Text 18"/>
          <p:cNvSpPr txBox="1"/>
          <p:nvPr/>
        </p:nvSpPr>
        <p:spPr>
          <a:xfrm>
            <a:off x="9329166" y="1627632"/>
            <a:ext cx="2109978" cy="256032"/>
          </a:xfrm>
          <a:prstGeom prst="rect">
            <a:avLst/>
          </a:prstGeom>
          <a:noFill/>
          <a:ln/>
        </p:spPr>
        <p:txBody>
          <a:bodyPr wrap="square" lIns="0" tIns="0" rIns="0" bIns="0" rtlCol="0" anchor="ctr"/>
          <a:lstStyle/>
          <a:p>
            <a:pPr indent="0" marL="0">
              <a:buNone/>
            </a:pPr>
            <a:r>
              <a:rPr lang="en-US" sz="1150" b="1" dirty="0">
                <a:solidFill>
                  <a:srgbClr val="C0761A"/>
                </a:solidFill>
                <a:latin typeface="Calibri" pitchFamily="34" charset="0"/>
                <a:ea typeface="Calibri" pitchFamily="34" charset="-122"/>
                <a:cs typeface="Calibri" pitchFamily="34" charset="-120"/>
              </a:rPr>
              <a:t>Sia vector DB</a:t>
            </a:r>
            <a:endParaRPr lang="en-US" sz="1150" dirty="0"/>
          </a:p>
        </p:txBody>
      </p:sp>
      <p:sp>
        <p:nvSpPr>
          <p:cNvPr id="22" name="Text 19"/>
          <p:cNvSpPr txBox="1"/>
          <p:nvPr/>
        </p:nvSpPr>
        <p:spPr>
          <a:xfrm>
            <a:off x="9329166" y="1901952"/>
            <a:ext cx="2109978" cy="640080"/>
          </a:xfrm>
          <a:prstGeom prst="rect">
            <a:avLst/>
          </a:prstGeom>
          <a:noFill/>
          <a:ln/>
        </p:spPr>
        <p:txBody>
          <a:bodyPr wrap="square" lIns="0" tIns="0" rIns="0" bIns="0" rtlCol="0" anchor="t"/>
          <a:lstStyle/>
          <a:p>
            <a:pPr indent="0" marL="0">
              <a:lnSpc>
                <a:spcPct val="105000"/>
              </a:lnSpc>
              <a:buNone/>
            </a:pPr>
            <a:r>
              <a:rPr lang="en-US" sz="1000" dirty="0">
                <a:solidFill>
                  <a:srgbClr val="232833"/>
                </a:solidFill>
                <a:latin typeface="Calibri" pitchFamily="34" charset="0"/>
                <a:ea typeface="Calibri" pitchFamily="34" charset="-122"/>
                <a:cs typeface="Calibri" pitchFamily="34" charset="-120"/>
              </a:rPr>
              <a:t>Uber's in-house store, queried at request time.</a:t>
            </a:r>
            <a:endParaRPr lang="en-US" sz="1000" dirty="0"/>
          </a:p>
        </p:txBody>
      </p:sp>
      <p:sp>
        <p:nvSpPr>
          <p:cNvPr id="23" name="Text 20"/>
          <p:cNvSpPr txBox="1"/>
          <p:nvPr/>
        </p:nvSpPr>
        <p:spPr>
          <a:xfrm>
            <a:off x="548640" y="2798064"/>
            <a:ext cx="5486400" cy="201168"/>
          </a:xfrm>
          <a:prstGeom prst="rect">
            <a:avLst/>
          </a:prstGeom>
          <a:noFill/>
          <a:ln/>
        </p:spPr>
        <p:txBody>
          <a:bodyPr wrap="square" lIns="0" tIns="0" rIns="0" bIns="0" rtlCol="0" anchor="ctr"/>
          <a:lstStyle/>
          <a:p>
            <a:pPr indent="0" marL="0">
              <a:buNone/>
            </a:pPr>
            <a:r>
              <a:rPr lang="en-US" sz="950" b="1" spc="200" kern="0" dirty="0">
                <a:solidFill>
                  <a:srgbClr val="1F6F6B"/>
                </a:solidFill>
                <a:latin typeface="Calibri" pitchFamily="34" charset="0"/>
                <a:ea typeface="Calibri" pitchFamily="34" charset="-122"/>
                <a:cs typeface="Calibri" pitchFamily="34" charset="-120"/>
              </a:rPr>
              <a:t>ANSWER</a:t>
            </a:r>
            <a:endParaRPr lang="en-US" sz="950" dirty="0"/>
          </a:p>
        </p:txBody>
      </p:sp>
      <p:sp>
        <p:nvSpPr>
          <p:cNvPr id="24" name="Shape 21"/>
          <p:cNvSpPr/>
          <p:nvPr/>
        </p:nvSpPr>
        <p:spPr>
          <a:xfrm>
            <a:off x="548640" y="3035808"/>
            <a:ext cx="2512314" cy="1060704"/>
          </a:xfrm>
          <a:prstGeom prst="roundRect">
            <a:avLst>
              <a:gd name="adj" fmla="val 5172"/>
            </a:avLst>
          </a:prstGeom>
          <a:solidFill>
            <a:srgbClr val="F2F2EF"/>
          </a:solidFill>
          <a:ln w="12700">
            <a:solidFill>
              <a:srgbClr val="F2F2EF"/>
            </a:solidFill>
            <a:prstDash val="solid"/>
          </a:ln>
        </p:spPr>
      </p:sp>
      <p:sp>
        <p:nvSpPr>
          <p:cNvPr id="25" name="Text 22"/>
          <p:cNvSpPr txBox="1"/>
          <p:nvPr/>
        </p:nvSpPr>
        <p:spPr>
          <a:xfrm>
            <a:off x="749808" y="3108960"/>
            <a:ext cx="2109978" cy="256032"/>
          </a:xfrm>
          <a:prstGeom prst="rect">
            <a:avLst/>
          </a:prstGeom>
          <a:noFill/>
          <a:ln/>
        </p:spPr>
        <p:txBody>
          <a:bodyPr wrap="square" lIns="0" tIns="0" rIns="0" bIns="0" rtlCol="0" anchor="ctr"/>
          <a:lstStyle/>
          <a:p>
            <a:pPr indent="0" marL="0">
              <a:buNone/>
            </a:pPr>
            <a:r>
              <a:rPr lang="en-US" sz="1150" b="1" dirty="0">
                <a:solidFill>
                  <a:srgbClr val="1F6F6B"/>
                </a:solidFill>
                <a:latin typeface="Calibri" pitchFamily="34" charset="0"/>
                <a:ea typeface="Calibri" pitchFamily="34" charset="-122"/>
                <a:cs typeface="Calibri" pitchFamily="34" charset="-120"/>
              </a:rPr>
              <a:t>Question in Slack</a:t>
            </a:r>
            <a:endParaRPr lang="en-US" sz="1150" dirty="0"/>
          </a:p>
        </p:txBody>
      </p:sp>
      <p:sp>
        <p:nvSpPr>
          <p:cNvPr id="26" name="Text 23"/>
          <p:cNvSpPr txBox="1"/>
          <p:nvPr/>
        </p:nvSpPr>
        <p:spPr>
          <a:xfrm>
            <a:off x="749808" y="3383280"/>
            <a:ext cx="2109978" cy="640080"/>
          </a:xfrm>
          <a:prstGeom prst="rect">
            <a:avLst/>
          </a:prstGeom>
          <a:noFill/>
          <a:ln/>
        </p:spPr>
        <p:txBody>
          <a:bodyPr wrap="square" lIns="0" tIns="0" rIns="0" bIns="0" rtlCol="0" anchor="t"/>
          <a:lstStyle/>
          <a:p>
            <a:pPr indent="0" marL="0">
              <a:lnSpc>
                <a:spcPct val="105000"/>
              </a:lnSpc>
              <a:buNone/>
            </a:pPr>
            <a:r>
              <a:rPr lang="en-US" sz="1000" dirty="0">
                <a:solidFill>
                  <a:srgbClr val="232833"/>
                </a:solidFill>
                <a:latin typeface="Calibri" pitchFamily="34" charset="0"/>
                <a:ea typeface="Calibri" pitchFamily="34" charset="-122"/>
                <a:cs typeface="Calibri" pitchFamily="34" charset="-120"/>
              </a:rPr>
              <a:t>An engineer asks in one of 154 on-call channels.</a:t>
            </a:r>
            <a:endParaRPr lang="en-US" sz="1000" dirty="0"/>
          </a:p>
        </p:txBody>
      </p:sp>
      <p:sp>
        <p:nvSpPr>
          <p:cNvPr id="27" name="Text 24"/>
          <p:cNvSpPr txBox="1"/>
          <p:nvPr/>
        </p:nvSpPr>
        <p:spPr>
          <a:xfrm>
            <a:off x="3060954" y="3035808"/>
            <a:ext cx="347472" cy="1060704"/>
          </a:xfrm>
          <a:prstGeom prst="rect">
            <a:avLst/>
          </a:prstGeom>
          <a:noFill/>
          <a:ln/>
        </p:spPr>
        <p:txBody>
          <a:bodyPr wrap="square" lIns="0" tIns="0" rIns="0" bIns="0" rtlCol="0" anchor="ctr"/>
          <a:lstStyle/>
          <a:p>
            <a:pPr algn="ctr" indent="0" marL="0">
              <a:buNone/>
            </a:pPr>
            <a:r>
              <a:rPr lang="en-US" sz="1900" b="1" dirty="0">
                <a:solidFill>
                  <a:srgbClr val="A8AEBB"/>
                </a:solidFill>
                <a:latin typeface="Calibri" pitchFamily="34" charset="0"/>
                <a:ea typeface="Calibri" pitchFamily="34" charset="-122"/>
                <a:cs typeface="Calibri" pitchFamily="34" charset="-120"/>
              </a:rPr>
              <a:t>›</a:t>
            </a:r>
            <a:endParaRPr lang="en-US" sz="1900" dirty="0"/>
          </a:p>
        </p:txBody>
      </p:sp>
      <p:sp>
        <p:nvSpPr>
          <p:cNvPr id="28" name="Shape 25"/>
          <p:cNvSpPr/>
          <p:nvPr/>
        </p:nvSpPr>
        <p:spPr>
          <a:xfrm>
            <a:off x="3408426" y="3035808"/>
            <a:ext cx="2512314" cy="1060704"/>
          </a:xfrm>
          <a:prstGeom prst="roundRect">
            <a:avLst>
              <a:gd name="adj" fmla="val 5172"/>
            </a:avLst>
          </a:prstGeom>
          <a:solidFill>
            <a:srgbClr val="F2F2EF"/>
          </a:solidFill>
          <a:ln w="12700">
            <a:solidFill>
              <a:srgbClr val="F2F2EF"/>
            </a:solidFill>
            <a:prstDash val="solid"/>
          </a:ln>
        </p:spPr>
      </p:sp>
      <p:sp>
        <p:nvSpPr>
          <p:cNvPr id="29" name="Text 26"/>
          <p:cNvSpPr txBox="1"/>
          <p:nvPr/>
        </p:nvSpPr>
        <p:spPr>
          <a:xfrm>
            <a:off x="3609594" y="3108960"/>
            <a:ext cx="2109978" cy="256032"/>
          </a:xfrm>
          <a:prstGeom prst="rect">
            <a:avLst/>
          </a:prstGeom>
          <a:noFill/>
          <a:ln/>
        </p:spPr>
        <p:txBody>
          <a:bodyPr wrap="square" lIns="0" tIns="0" rIns="0" bIns="0" rtlCol="0" anchor="ctr"/>
          <a:lstStyle/>
          <a:p>
            <a:pPr indent="0" marL="0">
              <a:buNone/>
            </a:pPr>
            <a:r>
              <a:rPr lang="en-US" sz="1150" b="1" dirty="0">
                <a:solidFill>
                  <a:srgbClr val="1F6F6B"/>
                </a:solidFill>
                <a:latin typeface="Calibri" pitchFamily="34" charset="0"/>
                <a:ea typeface="Calibri" pitchFamily="34" charset="-122"/>
                <a:cs typeface="Calibri" pitchFamily="34" charset="-120"/>
              </a:rPr>
              <a:t>Knowledge Service</a:t>
            </a:r>
            <a:endParaRPr lang="en-US" sz="1150" dirty="0"/>
          </a:p>
        </p:txBody>
      </p:sp>
      <p:sp>
        <p:nvSpPr>
          <p:cNvPr id="30" name="Text 27"/>
          <p:cNvSpPr txBox="1"/>
          <p:nvPr/>
        </p:nvSpPr>
        <p:spPr>
          <a:xfrm>
            <a:off x="3609594" y="3383280"/>
            <a:ext cx="2109978" cy="640080"/>
          </a:xfrm>
          <a:prstGeom prst="rect">
            <a:avLst/>
          </a:prstGeom>
          <a:noFill/>
          <a:ln/>
        </p:spPr>
        <p:txBody>
          <a:bodyPr wrap="square" lIns="0" tIns="0" rIns="0" bIns="0" rtlCol="0" anchor="t"/>
          <a:lstStyle/>
          <a:p>
            <a:pPr indent="0" marL="0">
              <a:lnSpc>
                <a:spcPct val="105000"/>
              </a:lnSpc>
              <a:buNone/>
            </a:pPr>
            <a:r>
              <a:rPr lang="en-US" sz="1000" dirty="0">
                <a:solidFill>
                  <a:srgbClr val="232833"/>
                </a:solidFill>
                <a:latin typeface="Calibri" pitchFamily="34" charset="0"/>
                <a:ea typeface="Calibri" pitchFamily="34" charset="-122"/>
                <a:cs typeface="Calibri" pitchFamily="34" charset="-120"/>
              </a:rPr>
              <a:t>Converts the query to embeddings and retrieves the matching chunks.</a:t>
            </a:r>
            <a:endParaRPr lang="en-US" sz="1000" dirty="0"/>
          </a:p>
        </p:txBody>
      </p:sp>
      <p:sp>
        <p:nvSpPr>
          <p:cNvPr id="31" name="Text 28"/>
          <p:cNvSpPr txBox="1"/>
          <p:nvPr/>
        </p:nvSpPr>
        <p:spPr>
          <a:xfrm>
            <a:off x="5920740" y="3035808"/>
            <a:ext cx="347472" cy="1060704"/>
          </a:xfrm>
          <a:prstGeom prst="rect">
            <a:avLst/>
          </a:prstGeom>
          <a:noFill/>
          <a:ln/>
        </p:spPr>
        <p:txBody>
          <a:bodyPr wrap="square" lIns="0" tIns="0" rIns="0" bIns="0" rtlCol="0" anchor="ctr"/>
          <a:lstStyle/>
          <a:p>
            <a:pPr algn="ctr" indent="0" marL="0">
              <a:buNone/>
            </a:pPr>
            <a:r>
              <a:rPr lang="en-US" sz="1900" b="1" dirty="0">
                <a:solidFill>
                  <a:srgbClr val="A8AEBB"/>
                </a:solidFill>
                <a:latin typeface="Calibri" pitchFamily="34" charset="0"/>
                <a:ea typeface="Calibri" pitchFamily="34" charset="-122"/>
                <a:cs typeface="Calibri" pitchFamily="34" charset="-120"/>
              </a:rPr>
              <a:t>›</a:t>
            </a:r>
            <a:endParaRPr lang="en-US" sz="1900" dirty="0"/>
          </a:p>
        </p:txBody>
      </p:sp>
      <p:sp>
        <p:nvSpPr>
          <p:cNvPr id="32" name="Shape 29"/>
          <p:cNvSpPr/>
          <p:nvPr/>
        </p:nvSpPr>
        <p:spPr>
          <a:xfrm>
            <a:off x="6268212" y="3035808"/>
            <a:ext cx="2512314" cy="1060704"/>
          </a:xfrm>
          <a:prstGeom prst="roundRect">
            <a:avLst>
              <a:gd name="adj" fmla="val 5172"/>
            </a:avLst>
          </a:prstGeom>
          <a:solidFill>
            <a:srgbClr val="F2F2EF"/>
          </a:solidFill>
          <a:ln w="12700">
            <a:solidFill>
              <a:srgbClr val="F2F2EF"/>
            </a:solidFill>
            <a:prstDash val="solid"/>
          </a:ln>
        </p:spPr>
      </p:sp>
      <p:sp>
        <p:nvSpPr>
          <p:cNvPr id="33" name="Text 30"/>
          <p:cNvSpPr txBox="1"/>
          <p:nvPr/>
        </p:nvSpPr>
        <p:spPr>
          <a:xfrm>
            <a:off x="6469380" y="3108960"/>
            <a:ext cx="2109978" cy="256032"/>
          </a:xfrm>
          <a:prstGeom prst="rect">
            <a:avLst/>
          </a:prstGeom>
          <a:noFill/>
          <a:ln/>
        </p:spPr>
        <p:txBody>
          <a:bodyPr wrap="square" lIns="0" tIns="0" rIns="0" bIns="0" rtlCol="0" anchor="ctr"/>
          <a:lstStyle/>
          <a:p>
            <a:pPr indent="0" marL="0">
              <a:buNone/>
            </a:pPr>
            <a:r>
              <a:rPr lang="en-US" sz="1150" b="1" dirty="0">
                <a:solidFill>
                  <a:srgbClr val="1F6F6B"/>
                </a:solidFill>
                <a:latin typeface="Calibri" pitchFamily="34" charset="0"/>
                <a:ea typeface="Calibri" pitchFamily="34" charset="-122"/>
                <a:cs typeface="Calibri" pitchFamily="34" charset="-120"/>
              </a:rPr>
              <a:t>Michelangelo Gateway</a:t>
            </a:r>
            <a:endParaRPr lang="en-US" sz="1150" dirty="0"/>
          </a:p>
        </p:txBody>
      </p:sp>
      <p:sp>
        <p:nvSpPr>
          <p:cNvPr id="34" name="Text 31"/>
          <p:cNvSpPr txBox="1"/>
          <p:nvPr/>
        </p:nvSpPr>
        <p:spPr>
          <a:xfrm>
            <a:off x="6469380" y="3383280"/>
            <a:ext cx="2109978" cy="640080"/>
          </a:xfrm>
          <a:prstGeom prst="rect">
            <a:avLst/>
          </a:prstGeom>
          <a:noFill/>
          <a:ln/>
        </p:spPr>
        <p:txBody>
          <a:bodyPr wrap="square" lIns="0" tIns="0" rIns="0" bIns="0" rtlCol="0" anchor="t"/>
          <a:lstStyle/>
          <a:p>
            <a:pPr indent="0" marL="0">
              <a:lnSpc>
                <a:spcPct val="105000"/>
              </a:lnSpc>
              <a:buNone/>
            </a:pPr>
            <a:r>
              <a:rPr lang="en-US" sz="1000" dirty="0">
                <a:solidFill>
                  <a:srgbClr val="232833"/>
                </a:solidFill>
                <a:latin typeface="Calibri" pitchFamily="34" charset="0"/>
                <a:ea typeface="Calibri" pitchFamily="34" charset="-122"/>
                <a:cs typeface="Calibri" pitchFamily="34" charset="-120"/>
              </a:rPr>
              <a:t>Passes context to the LLM with instructions to use nothing else.</a:t>
            </a:r>
            <a:endParaRPr lang="en-US" sz="1000" dirty="0"/>
          </a:p>
        </p:txBody>
      </p:sp>
      <p:sp>
        <p:nvSpPr>
          <p:cNvPr id="35" name="Text 32"/>
          <p:cNvSpPr txBox="1"/>
          <p:nvPr/>
        </p:nvSpPr>
        <p:spPr>
          <a:xfrm>
            <a:off x="8780526" y="3035808"/>
            <a:ext cx="347472" cy="1060704"/>
          </a:xfrm>
          <a:prstGeom prst="rect">
            <a:avLst/>
          </a:prstGeom>
          <a:noFill/>
          <a:ln/>
        </p:spPr>
        <p:txBody>
          <a:bodyPr wrap="square" lIns="0" tIns="0" rIns="0" bIns="0" rtlCol="0" anchor="ctr"/>
          <a:lstStyle/>
          <a:p>
            <a:pPr algn="ctr" indent="0" marL="0">
              <a:buNone/>
            </a:pPr>
            <a:r>
              <a:rPr lang="en-US" sz="1900" b="1" dirty="0">
                <a:solidFill>
                  <a:srgbClr val="A8AEBB"/>
                </a:solidFill>
                <a:latin typeface="Calibri" pitchFamily="34" charset="0"/>
                <a:ea typeface="Calibri" pitchFamily="34" charset="-122"/>
                <a:cs typeface="Calibri" pitchFamily="34" charset="-120"/>
              </a:rPr>
              <a:t>›</a:t>
            </a:r>
            <a:endParaRPr lang="en-US" sz="1900" dirty="0"/>
          </a:p>
        </p:txBody>
      </p:sp>
      <p:sp>
        <p:nvSpPr>
          <p:cNvPr id="36" name="Shape 33"/>
          <p:cNvSpPr/>
          <p:nvPr/>
        </p:nvSpPr>
        <p:spPr>
          <a:xfrm>
            <a:off x="9127998" y="3035808"/>
            <a:ext cx="2512314" cy="1060704"/>
          </a:xfrm>
          <a:prstGeom prst="roundRect">
            <a:avLst>
              <a:gd name="adj" fmla="val 5172"/>
            </a:avLst>
          </a:prstGeom>
          <a:solidFill>
            <a:srgbClr val="F2F2EF"/>
          </a:solidFill>
          <a:ln w="12700">
            <a:solidFill>
              <a:srgbClr val="F2F2EF"/>
            </a:solidFill>
            <a:prstDash val="solid"/>
          </a:ln>
        </p:spPr>
      </p:sp>
      <p:sp>
        <p:nvSpPr>
          <p:cNvPr id="37" name="Text 34"/>
          <p:cNvSpPr txBox="1"/>
          <p:nvPr/>
        </p:nvSpPr>
        <p:spPr>
          <a:xfrm>
            <a:off x="9329166" y="3108960"/>
            <a:ext cx="2109978" cy="256032"/>
          </a:xfrm>
          <a:prstGeom prst="rect">
            <a:avLst/>
          </a:prstGeom>
          <a:noFill/>
          <a:ln/>
        </p:spPr>
        <p:txBody>
          <a:bodyPr wrap="square" lIns="0" tIns="0" rIns="0" bIns="0" rtlCol="0" anchor="ctr"/>
          <a:lstStyle/>
          <a:p>
            <a:pPr indent="0" marL="0">
              <a:buNone/>
            </a:pPr>
            <a:r>
              <a:rPr lang="en-US" sz="1150" b="1" dirty="0">
                <a:solidFill>
                  <a:srgbClr val="1F6F6B"/>
                </a:solidFill>
                <a:latin typeface="Calibri" pitchFamily="34" charset="0"/>
                <a:ea typeface="Calibri" pitchFamily="34" charset="-122"/>
                <a:cs typeface="Calibri" pitchFamily="34" charset="-120"/>
              </a:rPr>
              <a:t>Answer plus evidence</a:t>
            </a:r>
            <a:endParaRPr lang="en-US" sz="1150" dirty="0"/>
          </a:p>
        </p:txBody>
      </p:sp>
      <p:sp>
        <p:nvSpPr>
          <p:cNvPr id="38" name="Text 35"/>
          <p:cNvSpPr txBox="1"/>
          <p:nvPr/>
        </p:nvSpPr>
        <p:spPr>
          <a:xfrm>
            <a:off x="9329166" y="3383280"/>
            <a:ext cx="2109978" cy="640080"/>
          </a:xfrm>
          <a:prstGeom prst="rect">
            <a:avLst/>
          </a:prstGeom>
          <a:noFill/>
          <a:ln/>
        </p:spPr>
        <p:txBody>
          <a:bodyPr wrap="square" lIns="0" tIns="0" rIns="0" bIns="0" rtlCol="0" anchor="t"/>
          <a:lstStyle/>
          <a:p>
            <a:pPr indent="0" marL="0">
              <a:lnSpc>
                <a:spcPct val="105000"/>
              </a:lnSpc>
              <a:buNone/>
            </a:pPr>
            <a:r>
              <a:rPr lang="en-US" sz="1000" dirty="0">
                <a:solidFill>
                  <a:srgbClr val="232833"/>
                </a:solidFill>
                <a:latin typeface="Calibri" pitchFamily="34" charset="0"/>
                <a:ea typeface="Calibri" pitchFamily="34" charset="-122"/>
                <a:cs typeface="Calibri" pitchFamily="34" charset="-120"/>
              </a:rPr>
              <a:t>The reply carries source URLs and the retrieved sub-contexts.</a:t>
            </a:r>
            <a:endParaRPr lang="en-US" sz="1000" dirty="0"/>
          </a:p>
        </p:txBody>
      </p:sp>
      <p:sp>
        <p:nvSpPr>
          <p:cNvPr id="39" name="Text 36"/>
          <p:cNvSpPr txBox="1"/>
          <p:nvPr/>
        </p:nvSpPr>
        <p:spPr>
          <a:xfrm>
            <a:off x="548640" y="4279392"/>
            <a:ext cx="5486400" cy="201168"/>
          </a:xfrm>
          <a:prstGeom prst="rect">
            <a:avLst/>
          </a:prstGeom>
          <a:noFill/>
          <a:ln/>
        </p:spPr>
        <p:txBody>
          <a:bodyPr wrap="square" lIns="0" tIns="0" rIns="0" bIns="0" rtlCol="0" anchor="ctr"/>
          <a:lstStyle/>
          <a:p>
            <a:pPr indent="0" marL="0">
              <a:buNone/>
            </a:pPr>
            <a:r>
              <a:rPr lang="en-US" sz="950" b="1" spc="200" kern="0" dirty="0">
                <a:solidFill>
                  <a:srgbClr val="8E3350"/>
                </a:solidFill>
                <a:latin typeface="Calibri" pitchFamily="34" charset="0"/>
                <a:ea typeface="Calibri" pitchFamily="34" charset="-122"/>
                <a:cs typeface="Calibri" pitchFamily="34" charset="-120"/>
              </a:rPr>
              <a:t>LEARN</a:t>
            </a:r>
            <a:endParaRPr lang="en-US" sz="950" dirty="0"/>
          </a:p>
        </p:txBody>
      </p:sp>
      <p:sp>
        <p:nvSpPr>
          <p:cNvPr id="40" name="Shape 37"/>
          <p:cNvSpPr/>
          <p:nvPr/>
        </p:nvSpPr>
        <p:spPr>
          <a:xfrm>
            <a:off x="548640" y="4517136"/>
            <a:ext cx="3465576" cy="1060704"/>
          </a:xfrm>
          <a:prstGeom prst="roundRect">
            <a:avLst>
              <a:gd name="adj" fmla="val 5172"/>
            </a:avLst>
          </a:prstGeom>
          <a:solidFill>
            <a:srgbClr val="F2F2EF"/>
          </a:solidFill>
          <a:ln w="12700">
            <a:solidFill>
              <a:srgbClr val="F2F2EF"/>
            </a:solidFill>
            <a:prstDash val="solid"/>
          </a:ln>
        </p:spPr>
      </p:sp>
      <p:sp>
        <p:nvSpPr>
          <p:cNvPr id="41" name="Text 38"/>
          <p:cNvSpPr txBox="1"/>
          <p:nvPr/>
        </p:nvSpPr>
        <p:spPr>
          <a:xfrm>
            <a:off x="749808" y="4590288"/>
            <a:ext cx="3063240" cy="256032"/>
          </a:xfrm>
          <a:prstGeom prst="rect">
            <a:avLst/>
          </a:prstGeom>
          <a:noFill/>
          <a:ln/>
        </p:spPr>
        <p:txBody>
          <a:bodyPr wrap="square" lIns="0" tIns="0" rIns="0" bIns="0" rtlCol="0" anchor="ctr"/>
          <a:lstStyle/>
          <a:p>
            <a:pPr indent="0" marL="0">
              <a:buNone/>
            </a:pPr>
            <a:r>
              <a:rPr lang="en-US" sz="1150" b="1" dirty="0">
                <a:solidFill>
                  <a:srgbClr val="8E3350"/>
                </a:solidFill>
                <a:latin typeface="Calibri" pitchFamily="34" charset="0"/>
                <a:ea typeface="Calibri" pitchFamily="34" charset="-122"/>
                <a:cs typeface="Calibri" pitchFamily="34" charset="-120"/>
              </a:rPr>
              <a:t>Feedback buttons</a:t>
            </a:r>
            <a:endParaRPr lang="en-US" sz="1150" dirty="0"/>
          </a:p>
        </p:txBody>
      </p:sp>
      <p:sp>
        <p:nvSpPr>
          <p:cNvPr id="42" name="Text 39"/>
          <p:cNvSpPr txBox="1"/>
          <p:nvPr/>
        </p:nvSpPr>
        <p:spPr>
          <a:xfrm>
            <a:off x="749808" y="4864608"/>
            <a:ext cx="3063240" cy="640080"/>
          </a:xfrm>
          <a:prstGeom prst="rect">
            <a:avLst/>
          </a:prstGeom>
          <a:noFill/>
          <a:ln/>
        </p:spPr>
        <p:txBody>
          <a:bodyPr wrap="square" lIns="0" tIns="0" rIns="0" bIns="0" rtlCol="0" anchor="t"/>
          <a:lstStyle/>
          <a:p>
            <a:pPr indent="0" marL="0">
              <a:lnSpc>
                <a:spcPct val="105000"/>
              </a:lnSpc>
              <a:buNone/>
            </a:pPr>
            <a:r>
              <a:rPr lang="en-US" sz="1000" dirty="0">
                <a:solidFill>
                  <a:srgbClr val="232833"/>
                </a:solidFill>
                <a:latin typeface="Calibri" pitchFamily="34" charset="0"/>
                <a:ea typeface="Calibri" pitchFamily="34" charset="-122"/>
                <a:cs typeface="Calibri" pitchFamily="34" charset="-120"/>
              </a:rPr>
              <a:t>Resolved, Helpful, Not Helpful or Not Relevant on every answer.</a:t>
            </a:r>
            <a:endParaRPr lang="en-US" sz="1000" dirty="0"/>
          </a:p>
        </p:txBody>
      </p:sp>
      <p:sp>
        <p:nvSpPr>
          <p:cNvPr id="43" name="Text 40"/>
          <p:cNvSpPr txBox="1"/>
          <p:nvPr/>
        </p:nvSpPr>
        <p:spPr>
          <a:xfrm>
            <a:off x="4014216" y="4517136"/>
            <a:ext cx="347472" cy="1060704"/>
          </a:xfrm>
          <a:prstGeom prst="rect">
            <a:avLst/>
          </a:prstGeom>
          <a:noFill/>
          <a:ln/>
        </p:spPr>
        <p:txBody>
          <a:bodyPr wrap="square" lIns="0" tIns="0" rIns="0" bIns="0" rtlCol="0" anchor="ctr"/>
          <a:lstStyle/>
          <a:p>
            <a:pPr algn="ctr" indent="0" marL="0">
              <a:buNone/>
            </a:pPr>
            <a:r>
              <a:rPr lang="en-US" sz="1900" b="1" dirty="0">
                <a:solidFill>
                  <a:srgbClr val="A8AEBB"/>
                </a:solidFill>
                <a:latin typeface="Calibri" pitchFamily="34" charset="0"/>
                <a:ea typeface="Calibri" pitchFamily="34" charset="-122"/>
                <a:cs typeface="Calibri" pitchFamily="34" charset="-120"/>
              </a:rPr>
              <a:t>›</a:t>
            </a:r>
            <a:endParaRPr lang="en-US" sz="1900" dirty="0"/>
          </a:p>
        </p:txBody>
      </p:sp>
      <p:sp>
        <p:nvSpPr>
          <p:cNvPr id="44" name="Shape 41"/>
          <p:cNvSpPr/>
          <p:nvPr/>
        </p:nvSpPr>
        <p:spPr>
          <a:xfrm>
            <a:off x="4361688" y="4517136"/>
            <a:ext cx="3465576" cy="1060704"/>
          </a:xfrm>
          <a:prstGeom prst="roundRect">
            <a:avLst>
              <a:gd name="adj" fmla="val 5172"/>
            </a:avLst>
          </a:prstGeom>
          <a:solidFill>
            <a:srgbClr val="F2F2EF"/>
          </a:solidFill>
          <a:ln w="12700">
            <a:solidFill>
              <a:srgbClr val="F2F2EF"/>
            </a:solidFill>
            <a:prstDash val="solid"/>
          </a:ln>
        </p:spPr>
      </p:sp>
      <p:sp>
        <p:nvSpPr>
          <p:cNvPr id="45" name="Text 42"/>
          <p:cNvSpPr txBox="1"/>
          <p:nvPr/>
        </p:nvSpPr>
        <p:spPr>
          <a:xfrm>
            <a:off x="4562856" y="4590288"/>
            <a:ext cx="3063240" cy="256032"/>
          </a:xfrm>
          <a:prstGeom prst="rect">
            <a:avLst/>
          </a:prstGeom>
          <a:noFill/>
          <a:ln/>
        </p:spPr>
        <p:txBody>
          <a:bodyPr wrap="square" lIns="0" tIns="0" rIns="0" bIns="0" rtlCol="0" anchor="ctr"/>
          <a:lstStyle/>
          <a:p>
            <a:pPr indent="0" marL="0">
              <a:buNone/>
            </a:pPr>
            <a:r>
              <a:rPr lang="en-US" sz="1150" b="1" dirty="0">
                <a:solidFill>
                  <a:srgbClr val="8E3350"/>
                </a:solidFill>
                <a:latin typeface="Calibri" pitchFamily="34" charset="0"/>
                <a:ea typeface="Calibri" pitchFamily="34" charset="-122"/>
                <a:cs typeface="Calibri" pitchFamily="34" charset="-120"/>
              </a:rPr>
              <a:t>Kafka into Hive</a:t>
            </a:r>
            <a:endParaRPr lang="en-US" sz="1150" dirty="0"/>
          </a:p>
        </p:txBody>
      </p:sp>
      <p:sp>
        <p:nvSpPr>
          <p:cNvPr id="46" name="Text 43"/>
          <p:cNvSpPr txBox="1"/>
          <p:nvPr/>
        </p:nvSpPr>
        <p:spPr>
          <a:xfrm>
            <a:off x="4562856" y="4864608"/>
            <a:ext cx="3063240" cy="640080"/>
          </a:xfrm>
          <a:prstGeom prst="rect">
            <a:avLst/>
          </a:prstGeom>
          <a:noFill/>
          <a:ln/>
        </p:spPr>
        <p:txBody>
          <a:bodyPr wrap="square" lIns="0" tIns="0" rIns="0" bIns="0" rtlCol="0" anchor="t"/>
          <a:lstStyle/>
          <a:p>
            <a:pPr indent="0" marL="0">
              <a:lnSpc>
                <a:spcPct val="105000"/>
              </a:lnSpc>
              <a:buNone/>
            </a:pPr>
            <a:r>
              <a:rPr lang="en-US" sz="1000" dirty="0">
                <a:solidFill>
                  <a:srgbClr val="232833"/>
                </a:solidFill>
                <a:latin typeface="Calibri" pitchFamily="34" charset="0"/>
                <a:ea typeface="Calibri" pitchFamily="34" charset="-122"/>
                <a:cs typeface="Calibri" pitchFamily="34" charset="-120"/>
              </a:rPr>
              <a:t>Events stream into tables that back the quality dashboards.</a:t>
            </a:r>
            <a:endParaRPr lang="en-US" sz="1000" dirty="0"/>
          </a:p>
        </p:txBody>
      </p:sp>
      <p:sp>
        <p:nvSpPr>
          <p:cNvPr id="47" name="Text 44"/>
          <p:cNvSpPr txBox="1"/>
          <p:nvPr/>
        </p:nvSpPr>
        <p:spPr>
          <a:xfrm>
            <a:off x="7827264" y="4517136"/>
            <a:ext cx="347472" cy="1060704"/>
          </a:xfrm>
          <a:prstGeom prst="rect">
            <a:avLst/>
          </a:prstGeom>
          <a:noFill/>
          <a:ln/>
        </p:spPr>
        <p:txBody>
          <a:bodyPr wrap="square" lIns="0" tIns="0" rIns="0" bIns="0" rtlCol="0" anchor="ctr"/>
          <a:lstStyle/>
          <a:p>
            <a:pPr algn="ctr" indent="0" marL="0">
              <a:buNone/>
            </a:pPr>
            <a:r>
              <a:rPr lang="en-US" sz="1900" b="1" dirty="0">
                <a:solidFill>
                  <a:srgbClr val="A8AEBB"/>
                </a:solidFill>
                <a:latin typeface="Calibri" pitchFamily="34" charset="0"/>
                <a:ea typeface="Calibri" pitchFamily="34" charset="-122"/>
                <a:cs typeface="Calibri" pitchFamily="34" charset="-120"/>
              </a:rPr>
              <a:t>›</a:t>
            </a:r>
            <a:endParaRPr lang="en-US" sz="1900" dirty="0"/>
          </a:p>
        </p:txBody>
      </p:sp>
      <p:sp>
        <p:nvSpPr>
          <p:cNvPr id="48" name="Shape 45"/>
          <p:cNvSpPr/>
          <p:nvPr/>
        </p:nvSpPr>
        <p:spPr>
          <a:xfrm>
            <a:off x="8174736" y="4517136"/>
            <a:ext cx="3465576" cy="1060704"/>
          </a:xfrm>
          <a:prstGeom prst="roundRect">
            <a:avLst>
              <a:gd name="adj" fmla="val 5172"/>
            </a:avLst>
          </a:prstGeom>
          <a:solidFill>
            <a:srgbClr val="F2F2EF"/>
          </a:solidFill>
          <a:ln w="12700">
            <a:solidFill>
              <a:srgbClr val="F2F2EF"/>
            </a:solidFill>
            <a:prstDash val="solid"/>
          </a:ln>
        </p:spPr>
      </p:sp>
      <p:sp>
        <p:nvSpPr>
          <p:cNvPr id="49" name="Text 46"/>
          <p:cNvSpPr txBox="1"/>
          <p:nvPr/>
        </p:nvSpPr>
        <p:spPr>
          <a:xfrm>
            <a:off x="8375904" y="4590288"/>
            <a:ext cx="3063240" cy="256032"/>
          </a:xfrm>
          <a:prstGeom prst="rect">
            <a:avLst/>
          </a:prstGeom>
          <a:noFill/>
          <a:ln/>
        </p:spPr>
        <p:txBody>
          <a:bodyPr wrap="square" lIns="0" tIns="0" rIns="0" bIns="0" rtlCol="0" anchor="ctr"/>
          <a:lstStyle/>
          <a:p>
            <a:pPr indent="0" marL="0">
              <a:buNone/>
            </a:pPr>
            <a:r>
              <a:rPr lang="en-US" sz="1150" b="1" dirty="0">
                <a:solidFill>
                  <a:srgbClr val="8E3350"/>
                </a:solidFill>
                <a:latin typeface="Calibri" pitchFamily="34" charset="0"/>
                <a:ea typeface="Calibri" pitchFamily="34" charset="-122"/>
                <a:cs typeface="Calibri" pitchFamily="34" charset="-120"/>
              </a:rPr>
              <a:t>LLM-as-judge</a:t>
            </a:r>
            <a:endParaRPr lang="en-US" sz="1150" dirty="0"/>
          </a:p>
        </p:txBody>
      </p:sp>
      <p:sp>
        <p:nvSpPr>
          <p:cNvPr id="50" name="Text 47"/>
          <p:cNvSpPr txBox="1"/>
          <p:nvPr/>
        </p:nvSpPr>
        <p:spPr>
          <a:xfrm>
            <a:off x="8375904" y="4864608"/>
            <a:ext cx="3063240" cy="640080"/>
          </a:xfrm>
          <a:prstGeom prst="rect">
            <a:avLst/>
          </a:prstGeom>
          <a:noFill/>
          <a:ln/>
        </p:spPr>
        <p:txBody>
          <a:bodyPr wrap="square" lIns="0" tIns="0" rIns="0" bIns="0" rtlCol="0" anchor="t"/>
          <a:lstStyle/>
          <a:p>
            <a:pPr indent="0" marL="0">
              <a:lnSpc>
                <a:spcPct val="105000"/>
              </a:lnSpc>
              <a:buNone/>
            </a:pPr>
            <a:r>
              <a:rPr lang="en-US" sz="1000" dirty="0">
                <a:solidFill>
                  <a:srgbClr val="232833"/>
                </a:solidFill>
                <a:latin typeface="Calibri" pitchFamily="34" charset="0"/>
                <a:ea typeface="Calibri" pitchFamily="34" charset="-122"/>
                <a:cs typeface="Calibri" pitchFamily="34" charset="-120"/>
              </a:rPr>
              <a:t>A separate pipeline scores the source documents and suggests fixes.</a:t>
            </a:r>
            <a:endParaRPr lang="en-US" sz="1000" dirty="0"/>
          </a:p>
        </p:txBody>
      </p:sp>
      <p:sp>
        <p:nvSpPr>
          <p:cNvPr id="51" name="Text 48"/>
          <p:cNvSpPr txBox="1"/>
          <p:nvPr/>
        </p:nvSpPr>
        <p:spPr>
          <a:xfrm>
            <a:off x="548640" y="5870448"/>
            <a:ext cx="11091672" cy="603504"/>
          </a:xfrm>
          <a:prstGeom prst="rect">
            <a:avLst/>
          </a:prstGeom>
          <a:noFill/>
          <a:ln/>
        </p:spPr>
        <p:txBody>
          <a:bodyPr wrap="square" lIns="0" tIns="0" rIns="0" bIns="0" rtlCol="0" anchor="t"/>
          <a:lstStyle/>
          <a:p>
            <a:pPr indent="0" marL="0">
              <a:lnSpc>
                <a:spcPct val="112000"/>
              </a:lnSpc>
              <a:buNone/>
            </a:pPr>
            <a:r>
              <a:rPr lang="en-US" sz="1050" i="1" dirty="0">
                <a:solidFill>
                  <a:srgbClr val="6E7480"/>
                </a:solidFill>
                <a:latin typeface="Calibri" pitchFamily="34" charset="0"/>
                <a:ea typeface="Calibri" pitchFamily="34" charset="-122"/>
                <a:cs typeface="Calibri" pitchFamily="34" charset="-120"/>
              </a:rPr>
              <a:t>The third band is the part most teams skip. Because the judge grades the documents rather than the answers, a bad answer becomes a documentation ticket instead of a prompt tweak, and the fix flows back into the index on the next ETL run.</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29184"/>
            <a:ext cx="420624" cy="420624"/>
          </a:xfrm>
          <a:prstGeom prst="roundRect">
            <a:avLst>
              <a:gd name="adj" fmla="val 17391"/>
            </a:avLst>
          </a:prstGeom>
          <a:solidFill>
            <a:srgbClr val="FFFFFF"/>
          </a:solidFill>
          <a:ln w="15875">
            <a:solidFill>
              <a:srgbClr val="15181E"/>
            </a:solidFill>
            <a:prstDash val="solid"/>
          </a:ln>
        </p:spPr>
      </p:sp>
      <p:sp>
        <p:nvSpPr>
          <p:cNvPr id="3" name="Text 1"/>
          <p:cNvSpPr txBox="1"/>
          <p:nvPr/>
        </p:nvSpPr>
        <p:spPr>
          <a:xfrm>
            <a:off x="548640" y="329184"/>
            <a:ext cx="420624" cy="420624"/>
          </a:xfrm>
          <a:prstGeom prst="rect">
            <a:avLst/>
          </a:prstGeom>
          <a:noFill/>
          <a:ln/>
        </p:spPr>
        <p:txBody>
          <a:bodyPr wrap="square" lIns="0" tIns="0" rIns="0" bIns="0" rtlCol="0" anchor="ctr"/>
          <a:lstStyle/>
          <a:p>
            <a:pPr algn="ctr" indent="0" marL="0">
              <a:buNone/>
            </a:pPr>
            <a:r>
              <a:rPr lang="en-US" sz="1300" b="1" spc="40" kern="0" dirty="0">
                <a:solidFill>
                  <a:srgbClr val="15181E"/>
                </a:solidFill>
                <a:latin typeface="Cambria" pitchFamily="34" charset="0"/>
                <a:ea typeface="Cambria" pitchFamily="34" charset="-122"/>
                <a:cs typeface="Cambria" pitchFamily="34" charset="-120"/>
              </a:rPr>
              <a:t>SL</a:t>
            </a:r>
            <a:endParaRPr lang="en-US" sz="1300" dirty="0"/>
          </a:p>
        </p:txBody>
      </p:sp>
      <p:sp>
        <p:nvSpPr>
          <p:cNvPr id="4" name="Text 2"/>
          <p:cNvSpPr txBox="1"/>
          <p:nvPr/>
        </p:nvSpPr>
        <p:spPr>
          <a:xfrm>
            <a:off x="1188720" y="256032"/>
            <a:ext cx="7132320" cy="548640"/>
          </a:xfrm>
          <a:prstGeom prst="rect">
            <a:avLst/>
          </a:prstGeom>
          <a:noFill/>
          <a:ln/>
        </p:spPr>
        <p:txBody>
          <a:bodyPr wrap="square" lIns="0" tIns="0" rIns="0" bIns="0" rtlCol="0" anchor="ctr"/>
          <a:lstStyle/>
          <a:p>
            <a:pPr indent="0" marL="0">
              <a:buNone/>
            </a:pPr>
            <a:r>
              <a:rPr lang="en-US" sz="3000" b="1" dirty="0">
                <a:solidFill>
                  <a:srgbClr val="15181E"/>
                </a:solidFill>
                <a:latin typeface="Cambria" pitchFamily="34" charset="0"/>
                <a:ea typeface="Cambria" pitchFamily="34" charset="-122"/>
                <a:cs typeface="Cambria" pitchFamily="34" charset="-120"/>
              </a:rPr>
              <a:t>Slack</a:t>
            </a:r>
            <a:endParaRPr lang="en-US" sz="3000" dirty="0"/>
          </a:p>
        </p:txBody>
      </p:sp>
      <p:sp>
        <p:nvSpPr>
          <p:cNvPr id="5" name="Shape 3"/>
          <p:cNvSpPr/>
          <p:nvPr/>
        </p:nvSpPr>
        <p:spPr>
          <a:xfrm>
            <a:off x="9902952" y="384048"/>
            <a:ext cx="1737360" cy="274320"/>
          </a:xfrm>
          <a:prstGeom prst="roundRect">
            <a:avLst>
              <a:gd name="adj" fmla="val 50000"/>
            </a:avLst>
          </a:prstGeom>
          <a:solidFill>
            <a:srgbClr val="1F6F6B"/>
          </a:solidFill>
          <a:ln/>
        </p:spPr>
      </p:sp>
      <p:sp>
        <p:nvSpPr>
          <p:cNvPr id="6" name="Text 4"/>
          <p:cNvSpPr txBox="1"/>
          <p:nvPr/>
        </p:nvSpPr>
        <p:spPr>
          <a:xfrm>
            <a:off x="9902952" y="384048"/>
            <a:ext cx="17373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FIRST-PARTY</a:t>
            </a:r>
            <a:endParaRPr lang="en-US" sz="850" dirty="0"/>
          </a:p>
        </p:txBody>
      </p:sp>
      <p:sp>
        <p:nvSpPr>
          <p:cNvPr id="7" name="Text 5"/>
          <p:cNvSpPr txBox="1"/>
          <p:nvPr/>
        </p:nvSpPr>
        <p:spPr>
          <a:xfrm>
            <a:off x="548640" y="896112"/>
            <a:ext cx="10881360" cy="457200"/>
          </a:xfrm>
          <a:prstGeom prst="rect">
            <a:avLst/>
          </a:prstGeom>
          <a:noFill/>
          <a:ln/>
        </p:spPr>
        <p:txBody>
          <a:bodyPr wrap="square" lIns="0" tIns="0" rIns="0" bIns="0" rtlCol="0" anchor="t"/>
          <a:lstStyle/>
          <a:p>
            <a:pPr indent="0" marL="0">
              <a:lnSpc>
                <a:spcPct val="105000"/>
              </a:lnSpc>
              <a:buNone/>
            </a:pPr>
            <a:r>
              <a:rPr lang="en-US" sz="1550" b="1" dirty="0">
                <a:solidFill>
                  <a:srgbClr val="15181E"/>
                </a:solidFill>
                <a:latin typeface="Calibri" pitchFamily="34" charset="0"/>
                <a:ea typeface="Calibri" pitchFamily="34" charset="-122"/>
                <a:cs typeface="Calibri" pitchFamily="34" charset="-120"/>
              </a:rPr>
              <a:t>Internal engineering assistant. </a:t>
            </a:r>
            <a:pPr indent="0" marL="0">
              <a:lnSpc>
                <a:spcPct val="105000"/>
              </a:lnSpc>
              <a:buNone/>
            </a:pPr>
            <a:r>
              <a:rPr lang="en-US" sz="1550" dirty="0">
                <a:solidFill>
                  <a:srgbClr val="232833"/>
                </a:solidFill>
                <a:latin typeface="Calibri" pitchFamily="34" charset="0"/>
                <a:ea typeface="Calibri" pitchFamily="34" charset="-122"/>
                <a:cs typeface="Calibri" pitchFamily="34" charset="-120"/>
              </a:rPr>
              <a:t>One model-agnostic platform, four surfaces, and every threshold tuned team by team.</a:t>
            </a:r>
            <a:endParaRPr lang="en-US" sz="1550" dirty="0"/>
          </a:p>
        </p:txBody>
      </p:sp>
      <p:sp>
        <p:nvSpPr>
          <p:cNvPr id="8" name="Shape 6"/>
          <p:cNvSpPr/>
          <p:nvPr/>
        </p:nvSpPr>
        <p:spPr>
          <a:xfrm>
            <a:off x="548640" y="1463040"/>
            <a:ext cx="5399532" cy="2139696"/>
          </a:xfrm>
          <a:prstGeom prst="roundRect">
            <a:avLst>
              <a:gd name="adj" fmla="val 2564"/>
            </a:avLst>
          </a:prstGeom>
          <a:solidFill>
            <a:srgbClr val="F2F2EF"/>
          </a:solidFill>
          <a:ln w="12700">
            <a:solidFill>
              <a:srgbClr val="F2F2EF"/>
            </a:solidFill>
            <a:prstDash val="solid"/>
          </a:ln>
        </p:spPr>
      </p:sp>
      <p:sp>
        <p:nvSpPr>
          <p:cNvPr id="9" name="Shape 7"/>
          <p:cNvSpPr/>
          <p:nvPr/>
        </p:nvSpPr>
        <p:spPr>
          <a:xfrm>
            <a:off x="786384" y="1627632"/>
            <a:ext cx="292608" cy="292608"/>
          </a:xfrm>
          <a:prstGeom prst="ellipse">
            <a:avLst/>
          </a:prstGeom>
          <a:solidFill>
            <a:srgbClr val="C0761A"/>
          </a:solidFill>
          <a:ln/>
        </p:spPr>
      </p:sp>
      <p:sp>
        <p:nvSpPr>
          <p:cNvPr id="10" name="Text 8"/>
          <p:cNvSpPr txBox="1"/>
          <p:nvPr/>
        </p:nvSpPr>
        <p:spPr>
          <a:xfrm>
            <a:off x="786384" y="1627632"/>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mbria" pitchFamily="34" charset="0"/>
                <a:ea typeface="Cambria" pitchFamily="34" charset="-122"/>
                <a:cs typeface="Cambria" pitchFamily="34" charset="-120"/>
              </a:rPr>
              <a:t>I</a:t>
            </a:r>
            <a:endParaRPr lang="en-US" sz="1150" dirty="0"/>
          </a:p>
        </p:txBody>
      </p:sp>
      <p:sp>
        <p:nvSpPr>
          <p:cNvPr id="11" name="Text 9"/>
          <p:cNvSpPr txBox="1"/>
          <p:nvPr/>
        </p:nvSpPr>
        <p:spPr>
          <a:xfrm>
            <a:off x="1188720" y="1627632"/>
            <a:ext cx="4530852" cy="292608"/>
          </a:xfrm>
          <a:prstGeom prst="rect">
            <a:avLst/>
          </a:prstGeom>
          <a:noFill/>
          <a:ln/>
        </p:spPr>
        <p:txBody>
          <a:bodyPr wrap="square" lIns="0" tIns="0" rIns="0" bIns="0" rtlCol="0" anchor="ctr"/>
          <a:lstStyle/>
          <a:p>
            <a:pPr indent="0" marL="0">
              <a:buNone/>
            </a:pPr>
            <a:r>
              <a:rPr lang="en-US" sz="1150" b="1" spc="60" kern="0" dirty="0">
                <a:solidFill>
                  <a:srgbClr val="C0761A"/>
                </a:solidFill>
                <a:latin typeface="Calibri" pitchFamily="34" charset="0"/>
                <a:ea typeface="Calibri" pitchFamily="34" charset="-122"/>
                <a:cs typeface="Calibri" pitchFamily="34" charset="-120"/>
              </a:rPr>
              <a:t>Implementation</a:t>
            </a:r>
            <a:endParaRPr lang="en-US" sz="1150" dirty="0"/>
          </a:p>
        </p:txBody>
      </p:sp>
      <p:sp>
        <p:nvSpPr>
          <p:cNvPr id="12" name="Text 10"/>
          <p:cNvSpPr txBox="1"/>
          <p:nvPr/>
        </p:nvSpPr>
        <p:spPr>
          <a:xfrm>
            <a:off x="822960" y="2011680"/>
            <a:ext cx="4850892" cy="1463040"/>
          </a:xfrm>
          <a:prstGeom prst="rect">
            <a:avLst/>
          </a:prstGeom>
          <a:noFill/>
          <a:ln/>
        </p:spPr>
        <p:txBody>
          <a:bodyPr wrap="square" lIns="0" tIns="0" rIns="0" bIns="0" rtlCol="0" anchor="t"/>
          <a:lstStyle/>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Several approved models sit behind one defined input and output schema, so a new model can be swapped in without rewriting the callers.</a:t>
            </a:r>
            <a:endParaRPr lang="en-US" sz="1100" dirty="0"/>
          </a:p>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Amazon Bedrock Knowledge Bases handles embedding, indexing and search, which removed most of the infrastructure they would otherwise operate.</a:t>
            </a:r>
            <a:endParaRPr lang="en-US" sz="1100" dirty="0"/>
          </a:p>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Four surfaces share that platform: a Slack bot, an assistant inside Slack's own UI, a web app, and IDE plugins.</a:t>
            </a:r>
            <a:endParaRPr lang="en-US" sz="1100" dirty="0"/>
          </a:p>
        </p:txBody>
      </p:sp>
      <p:sp>
        <p:nvSpPr>
          <p:cNvPr id="13" name="Shape 11"/>
          <p:cNvSpPr/>
          <p:nvPr/>
        </p:nvSpPr>
        <p:spPr>
          <a:xfrm>
            <a:off x="6240780" y="1463040"/>
            <a:ext cx="5399532" cy="2139696"/>
          </a:xfrm>
          <a:prstGeom prst="roundRect">
            <a:avLst>
              <a:gd name="adj" fmla="val 2564"/>
            </a:avLst>
          </a:prstGeom>
          <a:solidFill>
            <a:srgbClr val="F2F2EF"/>
          </a:solidFill>
          <a:ln w="12700">
            <a:solidFill>
              <a:srgbClr val="F2F2EF"/>
            </a:solidFill>
            <a:prstDash val="solid"/>
          </a:ln>
        </p:spPr>
      </p:sp>
      <p:sp>
        <p:nvSpPr>
          <p:cNvPr id="14" name="Shape 12"/>
          <p:cNvSpPr/>
          <p:nvPr/>
        </p:nvSpPr>
        <p:spPr>
          <a:xfrm>
            <a:off x="6478524" y="1627632"/>
            <a:ext cx="292608" cy="292608"/>
          </a:xfrm>
          <a:prstGeom prst="ellipse">
            <a:avLst/>
          </a:prstGeom>
          <a:solidFill>
            <a:srgbClr val="1F6F6B"/>
          </a:solidFill>
          <a:ln/>
        </p:spPr>
      </p:sp>
      <p:sp>
        <p:nvSpPr>
          <p:cNvPr id="15" name="Text 13"/>
          <p:cNvSpPr txBox="1"/>
          <p:nvPr/>
        </p:nvSpPr>
        <p:spPr>
          <a:xfrm>
            <a:off x="6478524" y="1627632"/>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mbria" pitchFamily="34" charset="0"/>
                <a:ea typeface="Cambria" pitchFamily="34" charset="-122"/>
                <a:cs typeface="Cambria" pitchFamily="34" charset="-120"/>
              </a:rPr>
              <a:t>P</a:t>
            </a:r>
            <a:endParaRPr lang="en-US" sz="1150" dirty="0"/>
          </a:p>
        </p:txBody>
      </p:sp>
      <p:sp>
        <p:nvSpPr>
          <p:cNvPr id="16" name="Text 14"/>
          <p:cNvSpPr txBox="1"/>
          <p:nvPr/>
        </p:nvSpPr>
        <p:spPr>
          <a:xfrm>
            <a:off x="6880860" y="1627632"/>
            <a:ext cx="4530852" cy="292608"/>
          </a:xfrm>
          <a:prstGeom prst="rect">
            <a:avLst/>
          </a:prstGeom>
          <a:noFill/>
          <a:ln/>
        </p:spPr>
        <p:txBody>
          <a:bodyPr wrap="square" lIns="0" tIns="0" rIns="0" bIns="0" rtlCol="0" anchor="ctr"/>
          <a:lstStyle/>
          <a:p>
            <a:pPr indent="0" marL="0">
              <a:buNone/>
            </a:pPr>
            <a:r>
              <a:rPr lang="en-US" sz="1150" b="1" spc="60" kern="0" dirty="0">
                <a:solidFill>
                  <a:srgbClr val="1F6F6B"/>
                </a:solidFill>
                <a:latin typeface="Calibri" pitchFamily="34" charset="0"/>
                <a:ea typeface="Calibri" pitchFamily="34" charset="-122"/>
                <a:cs typeface="Calibri" pitchFamily="34" charset="-120"/>
              </a:rPr>
              <a:t>Philosophy</a:t>
            </a:r>
            <a:endParaRPr lang="en-US" sz="1150" dirty="0"/>
          </a:p>
        </p:txBody>
      </p:sp>
      <p:sp>
        <p:nvSpPr>
          <p:cNvPr id="17" name="Text 15"/>
          <p:cNvSpPr txBox="1"/>
          <p:nvPr/>
        </p:nvSpPr>
        <p:spPr>
          <a:xfrm>
            <a:off x="6515100" y="2011680"/>
            <a:ext cx="4850892" cy="1463040"/>
          </a:xfrm>
          <a:prstGeom prst="rect">
            <a:avLst/>
          </a:prstGeom>
          <a:noFill/>
          <a:ln/>
        </p:spPr>
        <p:txBody>
          <a:bodyPr wrap="square" lIns="0" tIns="0" rIns="0" bIns="0" rtlCol="0" anchor="t"/>
          <a:lstStyle/>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Capability is balanced against security and compliance, and they state that constraint first rather than bolting it on at the end.</a:t>
            </a:r>
            <a:endParaRPr lang="en-US" sz="1100" dirty="0"/>
          </a:p>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Configuration is per team rather than per company, covering prompts, response length and channel-level settings.</a:t>
            </a:r>
            <a:endParaRPr lang="en-US" sz="1100" dirty="0"/>
          </a:p>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Similarity thresholds are their main lever against hallucination, and the team that owns a channel owns its threshold.</a:t>
            </a:r>
            <a:endParaRPr lang="en-US" sz="1100" dirty="0"/>
          </a:p>
        </p:txBody>
      </p:sp>
      <p:sp>
        <p:nvSpPr>
          <p:cNvPr id="18" name="Shape 16"/>
          <p:cNvSpPr/>
          <p:nvPr/>
        </p:nvSpPr>
        <p:spPr>
          <a:xfrm>
            <a:off x="548640" y="3730752"/>
            <a:ext cx="5399532" cy="2139696"/>
          </a:xfrm>
          <a:prstGeom prst="roundRect">
            <a:avLst>
              <a:gd name="adj" fmla="val 2564"/>
            </a:avLst>
          </a:prstGeom>
          <a:solidFill>
            <a:srgbClr val="F2F2EF"/>
          </a:solidFill>
          <a:ln w="12700">
            <a:solidFill>
              <a:srgbClr val="F2F2EF"/>
            </a:solidFill>
            <a:prstDash val="solid"/>
          </a:ln>
        </p:spPr>
      </p:sp>
      <p:sp>
        <p:nvSpPr>
          <p:cNvPr id="19" name="Shape 17"/>
          <p:cNvSpPr/>
          <p:nvPr/>
        </p:nvSpPr>
        <p:spPr>
          <a:xfrm>
            <a:off x="786384" y="3895344"/>
            <a:ext cx="292608" cy="292608"/>
          </a:xfrm>
          <a:prstGeom prst="ellipse">
            <a:avLst/>
          </a:prstGeom>
          <a:solidFill>
            <a:srgbClr val="8E3350"/>
          </a:solidFill>
          <a:ln/>
        </p:spPr>
      </p:sp>
      <p:sp>
        <p:nvSpPr>
          <p:cNvPr id="20" name="Text 18"/>
          <p:cNvSpPr txBox="1"/>
          <p:nvPr/>
        </p:nvSpPr>
        <p:spPr>
          <a:xfrm>
            <a:off x="786384" y="3895344"/>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mbria" pitchFamily="34" charset="0"/>
                <a:ea typeface="Cambria" pitchFamily="34" charset="-122"/>
                <a:cs typeface="Cambria" pitchFamily="34" charset="-120"/>
              </a:rPr>
              <a:t>U</a:t>
            </a:r>
            <a:endParaRPr lang="en-US" sz="1150" dirty="0"/>
          </a:p>
        </p:txBody>
      </p:sp>
      <p:sp>
        <p:nvSpPr>
          <p:cNvPr id="21" name="Text 19"/>
          <p:cNvSpPr txBox="1"/>
          <p:nvPr/>
        </p:nvSpPr>
        <p:spPr>
          <a:xfrm>
            <a:off x="1188720" y="3895344"/>
            <a:ext cx="4530852" cy="292608"/>
          </a:xfrm>
          <a:prstGeom prst="rect">
            <a:avLst/>
          </a:prstGeom>
          <a:noFill/>
          <a:ln/>
        </p:spPr>
        <p:txBody>
          <a:bodyPr wrap="square" lIns="0" tIns="0" rIns="0" bIns="0" rtlCol="0" anchor="ctr"/>
          <a:lstStyle/>
          <a:p>
            <a:pPr indent="0" marL="0">
              <a:buNone/>
            </a:pPr>
            <a:r>
              <a:rPr lang="en-US" sz="1150" b="1" spc="60" kern="0" dirty="0">
                <a:solidFill>
                  <a:srgbClr val="8E3350"/>
                </a:solidFill>
                <a:latin typeface="Calibri" pitchFamily="34" charset="0"/>
                <a:ea typeface="Calibri" pitchFamily="34" charset="-122"/>
                <a:cs typeface="Calibri" pitchFamily="34" charset="-120"/>
              </a:rPr>
              <a:t>How it's used</a:t>
            </a:r>
            <a:endParaRPr lang="en-US" sz="1150" dirty="0"/>
          </a:p>
        </p:txBody>
      </p:sp>
      <p:sp>
        <p:nvSpPr>
          <p:cNvPr id="22" name="Text 20"/>
          <p:cNvSpPr txBox="1"/>
          <p:nvPr/>
        </p:nvSpPr>
        <p:spPr>
          <a:xfrm>
            <a:off x="822960" y="4279392"/>
            <a:ext cx="4850892" cy="1463040"/>
          </a:xfrm>
          <a:prstGeom prst="rect">
            <a:avLst/>
          </a:prstGeom>
          <a:noFill/>
          <a:ln/>
        </p:spPr>
        <p:txBody>
          <a:bodyPr wrap="square" lIns="0" tIns="0" rIns="0" bIns="0" rtlCol="0" anchor="t"/>
          <a:lstStyle/>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The web app carries 37% of LLM traffic and the in-Slack assistant 14%, yet 65% of surveyed engineers prefer the IDE plugin.</a:t>
            </a:r>
            <a:endParaRPr lang="en-US" sz="1100" dirty="0"/>
          </a:p>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More than 4,000 chat-turns a month, sustaining over 70% satisfaction across them.</a:t>
            </a:r>
            <a:endParaRPr lang="en-US" sz="1100" dirty="0"/>
          </a:p>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A separate escalation bot runs in 25+ channels, and 30% of its interactions are rated five stars.</a:t>
            </a:r>
            <a:endParaRPr lang="en-US" sz="1100" dirty="0"/>
          </a:p>
        </p:txBody>
      </p:sp>
      <p:sp>
        <p:nvSpPr>
          <p:cNvPr id="23" name="Shape 21"/>
          <p:cNvSpPr/>
          <p:nvPr/>
        </p:nvSpPr>
        <p:spPr>
          <a:xfrm>
            <a:off x="6240780" y="3730752"/>
            <a:ext cx="5399532" cy="2139696"/>
          </a:xfrm>
          <a:prstGeom prst="roundRect">
            <a:avLst>
              <a:gd name="adj" fmla="val 2564"/>
            </a:avLst>
          </a:prstGeom>
          <a:solidFill>
            <a:srgbClr val="F2F2EF"/>
          </a:solidFill>
          <a:ln w="12700">
            <a:solidFill>
              <a:srgbClr val="F2F2EF"/>
            </a:solidFill>
            <a:prstDash val="solid"/>
          </a:ln>
        </p:spPr>
      </p:sp>
      <p:sp>
        <p:nvSpPr>
          <p:cNvPr id="24" name="Shape 22"/>
          <p:cNvSpPr/>
          <p:nvPr/>
        </p:nvSpPr>
        <p:spPr>
          <a:xfrm>
            <a:off x="6478524" y="3895344"/>
            <a:ext cx="292608" cy="292608"/>
          </a:xfrm>
          <a:prstGeom prst="ellipse">
            <a:avLst/>
          </a:prstGeom>
          <a:solidFill>
            <a:srgbClr val="3C4759"/>
          </a:solidFill>
          <a:ln/>
        </p:spPr>
      </p:sp>
      <p:sp>
        <p:nvSpPr>
          <p:cNvPr id="25" name="Text 23"/>
          <p:cNvSpPr txBox="1"/>
          <p:nvPr/>
        </p:nvSpPr>
        <p:spPr>
          <a:xfrm>
            <a:off x="6478524" y="3895344"/>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mbria" pitchFamily="34" charset="0"/>
                <a:ea typeface="Cambria" pitchFamily="34" charset="-122"/>
                <a:cs typeface="Cambria" pitchFamily="34" charset="-120"/>
              </a:rPr>
              <a:t>M</a:t>
            </a:r>
            <a:endParaRPr lang="en-US" sz="1150" dirty="0"/>
          </a:p>
        </p:txBody>
      </p:sp>
      <p:sp>
        <p:nvSpPr>
          <p:cNvPr id="26" name="Text 24"/>
          <p:cNvSpPr txBox="1"/>
          <p:nvPr/>
        </p:nvSpPr>
        <p:spPr>
          <a:xfrm>
            <a:off x="6880860" y="3895344"/>
            <a:ext cx="4530852" cy="292608"/>
          </a:xfrm>
          <a:prstGeom prst="rect">
            <a:avLst/>
          </a:prstGeom>
          <a:noFill/>
          <a:ln/>
        </p:spPr>
        <p:txBody>
          <a:bodyPr wrap="square" lIns="0" tIns="0" rIns="0" bIns="0" rtlCol="0" anchor="ctr"/>
          <a:lstStyle/>
          <a:p>
            <a:pPr indent="0" marL="0">
              <a:buNone/>
            </a:pPr>
            <a:r>
              <a:rPr lang="en-US" sz="1150" b="1" spc="60" kern="0" dirty="0">
                <a:solidFill>
                  <a:srgbClr val="3C4759"/>
                </a:solidFill>
                <a:latin typeface="Calibri" pitchFamily="34" charset="0"/>
                <a:ea typeface="Calibri" pitchFamily="34" charset="-122"/>
                <a:cs typeface="Calibri" pitchFamily="34" charset="-120"/>
              </a:rPr>
              <a:t>Maintenance</a:t>
            </a:r>
            <a:endParaRPr lang="en-US" sz="1150" dirty="0"/>
          </a:p>
        </p:txBody>
      </p:sp>
      <p:sp>
        <p:nvSpPr>
          <p:cNvPr id="27" name="Text 25"/>
          <p:cNvSpPr txBox="1"/>
          <p:nvPr/>
        </p:nvSpPr>
        <p:spPr>
          <a:xfrm>
            <a:off x="6515100" y="4279392"/>
            <a:ext cx="4850892" cy="1463040"/>
          </a:xfrm>
          <a:prstGeom prst="rect">
            <a:avLst/>
          </a:prstGeom>
          <a:noFill/>
          <a:ln/>
        </p:spPr>
        <p:txBody>
          <a:bodyPr wrap="square" lIns="0" tIns="0" rIns="0" bIns="0" rtlCol="0" anchor="t"/>
          <a:lstStyle/>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Per-channel documentation filters and similarity thresholds are tuned by the owning team rather than centrally.</a:t>
            </a:r>
            <a:endParaRPr lang="en-US" sz="1100" dirty="0"/>
          </a:p>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A unified source attribute on every API call keeps usage metrics attributable back to the surface that generated them.</a:t>
            </a:r>
            <a:endParaRPr lang="en-US" sz="1100" dirty="0"/>
          </a:p>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They name their costs openly: hallucination, weak multi-step reasoning, and the standing effort of keeping pace with model releases.</a:t>
            </a:r>
            <a:endParaRPr lang="en-US" sz="1100" dirty="0"/>
          </a:p>
        </p:txBody>
      </p:sp>
      <p:sp>
        <p:nvSpPr>
          <p:cNvPr id="28" name="Text 26"/>
          <p:cNvSpPr txBox="1"/>
          <p:nvPr/>
        </p:nvSpPr>
        <p:spPr>
          <a:xfrm>
            <a:off x="548640" y="5943600"/>
            <a:ext cx="2544318" cy="310896"/>
          </a:xfrm>
          <a:prstGeom prst="rect">
            <a:avLst/>
          </a:prstGeom>
          <a:noFill/>
          <a:ln/>
        </p:spPr>
        <p:txBody>
          <a:bodyPr wrap="square" lIns="0" tIns="0" rIns="0" bIns="0" rtlCol="0" anchor="b"/>
          <a:lstStyle/>
          <a:p>
            <a:pPr indent="0" marL="0">
              <a:buNone/>
            </a:pPr>
            <a:r>
              <a:rPr lang="en-US" sz="1900" b="1" dirty="0">
                <a:solidFill>
                  <a:srgbClr val="15181E"/>
                </a:solidFill>
                <a:latin typeface="Cambria" pitchFamily="34" charset="0"/>
                <a:ea typeface="Cambria" pitchFamily="34" charset="-122"/>
                <a:cs typeface="Cambria" pitchFamily="34" charset="-120"/>
              </a:rPr>
              <a:t>10,000+ h</a:t>
            </a:r>
            <a:endParaRPr lang="en-US" sz="1900" dirty="0"/>
          </a:p>
        </p:txBody>
      </p:sp>
      <p:sp>
        <p:nvSpPr>
          <p:cNvPr id="29" name="Text 27"/>
          <p:cNvSpPr txBox="1"/>
          <p:nvPr/>
        </p:nvSpPr>
        <p:spPr>
          <a:xfrm>
            <a:off x="548640" y="6272784"/>
            <a:ext cx="2544318" cy="475488"/>
          </a:xfrm>
          <a:prstGeom prst="rect">
            <a:avLst/>
          </a:prstGeom>
          <a:noFill/>
          <a:ln/>
        </p:spPr>
        <p:txBody>
          <a:bodyPr wrap="square" lIns="0" tIns="0" rIns="0" bIns="0" rtlCol="0" anchor="t"/>
          <a:lstStyle/>
          <a:p>
            <a:pPr indent="0" marL="0">
              <a:lnSpc>
                <a:spcPct val="106000"/>
              </a:lnSpc>
              <a:buNone/>
            </a:pPr>
            <a:r>
              <a:rPr lang="en-US" sz="950" dirty="0">
                <a:solidFill>
                  <a:srgbClr val="6E7480"/>
                </a:solidFill>
                <a:latin typeface="Calibri" pitchFamily="34" charset="0"/>
                <a:ea typeface="Calibri" pitchFamily="34" charset="-122"/>
                <a:cs typeface="Calibri" pitchFamily="34" charset="-120"/>
              </a:rPr>
              <a:t>engineering hours saved a year across tooling</a:t>
            </a:r>
            <a:endParaRPr lang="en-US" sz="950" dirty="0"/>
          </a:p>
        </p:txBody>
      </p:sp>
      <p:sp>
        <p:nvSpPr>
          <p:cNvPr id="30" name="Text 28"/>
          <p:cNvSpPr txBox="1"/>
          <p:nvPr/>
        </p:nvSpPr>
        <p:spPr>
          <a:xfrm>
            <a:off x="3321558" y="5943600"/>
            <a:ext cx="2544318" cy="310896"/>
          </a:xfrm>
          <a:prstGeom prst="rect">
            <a:avLst/>
          </a:prstGeom>
          <a:noFill/>
          <a:ln/>
        </p:spPr>
        <p:txBody>
          <a:bodyPr wrap="square" lIns="0" tIns="0" rIns="0" bIns="0" rtlCol="0" anchor="b"/>
          <a:lstStyle/>
          <a:p>
            <a:pPr indent="0" marL="0">
              <a:buNone/>
            </a:pPr>
            <a:r>
              <a:rPr lang="en-US" sz="1900" b="1" dirty="0">
                <a:solidFill>
                  <a:srgbClr val="15181E"/>
                </a:solidFill>
                <a:latin typeface="Cambria" pitchFamily="34" charset="0"/>
                <a:ea typeface="Cambria" pitchFamily="34" charset="-122"/>
                <a:cs typeface="Cambria" pitchFamily="34" charset="-120"/>
              </a:rPr>
              <a:t>4,000+</a:t>
            </a:r>
            <a:endParaRPr lang="en-US" sz="1900" dirty="0"/>
          </a:p>
        </p:txBody>
      </p:sp>
      <p:sp>
        <p:nvSpPr>
          <p:cNvPr id="31" name="Text 29"/>
          <p:cNvSpPr txBox="1"/>
          <p:nvPr/>
        </p:nvSpPr>
        <p:spPr>
          <a:xfrm>
            <a:off x="3321558" y="6272784"/>
            <a:ext cx="2544318" cy="475488"/>
          </a:xfrm>
          <a:prstGeom prst="rect">
            <a:avLst/>
          </a:prstGeom>
          <a:noFill/>
          <a:ln/>
        </p:spPr>
        <p:txBody>
          <a:bodyPr wrap="square" lIns="0" tIns="0" rIns="0" bIns="0" rtlCol="0" anchor="t"/>
          <a:lstStyle/>
          <a:p>
            <a:pPr indent="0" marL="0">
              <a:lnSpc>
                <a:spcPct val="106000"/>
              </a:lnSpc>
              <a:buNone/>
            </a:pPr>
            <a:r>
              <a:rPr lang="en-US" sz="950" dirty="0">
                <a:solidFill>
                  <a:srgbClr val="6E7480"/>
                </a:solidFill>
                <a:latin typeface="Calibri" pitchFamily="34" charset="0"/>
                <a:ea typeface="Calibri" pitchFamily="34" charset="-122"/>
                <a:cs typeface="Calibri" pitchFamily="34" charset="-120"/>
              </a:rPr>
              <a:t>chat-turns a month at over 70% satisfaction</a:t>
            </a:r>
            <a:endParaRPr lang="en-US" sz="950" dirty="0"/>
          </a:p>
        </p:txBody>
      </p:sp>
      <p:sp>
        <p:nvSpPr>
          <p:cNvPr id="32" name="Text 30"/>
          <p:cNvSpPr txBox="1"/>
          <p:nvPr/>
        </p:nvSpPr>
        <p:spPr>
          <a:xfrm>
            <a:off x="6094476" y="5943600"/>
            <a:ext cx="2544318" cy="310896"/>
          </a:xfrm>
          <a:prstGeom prst="rect">
            <a:avLst/>
          </a:prstGeom>
          <a:noFill/>
          <a:ln/>
        </p:spPr>
        <p:txBody>
          <a:bodyPr wrap="square" lIns="0" tIns="0" rIns="0" bIns="0" rtlCol="0" anchor="b"/>
          <a:lstStyle/>
          <a:p>
            <a:pPr indent="0" marL="0">
              <a:buNone/>
            </a:pPr>
            <a:r>
              <a:rPr lang="en-US" sz="1900" b="1" dirty="0">
                <a:solidFill>
                  <a:srgbClr val="15181E"/>
                </a:solidFill>
                <a:latin typeface="Cambria" pitchFamily="34" charset="0"/>
                <a:ea typeface="Cambria" pitchFamily="34" charset="-122"/>
                <a:cs typeface="Cambria" pitchFamily="34" charset="-120"/>
              </a:rPr>
              <a:t>65%</a:t>
            </a:r>
            <a:endParaRPr lang="en-US" sz="1900" dirty="0"/>
          </a:p>
        </p:txBody>
      </p:sp>
      <p:sp>
        <p:nvSpPr>
          <p:cNvPr id="33" name="Text 31"/>
          <p:cNvSpPr txBox="1"/>
          <p:nvPr/>
        </p:nvSpPr>
        <p:spPr>
          <a:xfrm>
            <a:off x="6094476" y="6272784"/>
            <a:ext cx="2544318" cy="475488"/>
          </a:xfrm>
          <a:prstGeom prst="rect">
            <a:avLst/>
          </a:prstGeom>
          <a:noFill/>
          <a:ln/>
        </p:spPr>
        <p:txBody>
          <a:bodyPr wrap="square" lIns="0" tIns="0" rIns="0" bIns="0" rtlCol="0" anchor="t"/>
          <a:lstStyle/>
          <a:p>
            <a:pPr indent="0" marL="0">
              <a:lnSpc>
                <a:spcPct val="106000"/>
              </a:lnSpc>
              <a:buNone/>
            </a:pPr>
            <a:r>
              <a:rPr lang="en-US" sz="950" dirty="0">
                <a:solidFill>
                  <a:srgbClr val="6E7480"/>
                </a:solidFill>
                <a:latin typeface="Calibri" pitchFamily="34" charset="0"/>
                <a:ea typeface="Calibri" pitchFamily="34" charset="-122"/>
                <a:cs typeface="Calibri" pitchFamily="34" charset="-120"/>
              </a:rPr>
              <a:t>of engineers prefer the IDE plugin surface</a:t>
            </a:r>
            <a:endParaRPr lang="en-US" sz="950" dirty="0"/>
          </a:p>
        </p:txBody>
      </p:sp>
      <p:sp>
        <p:nvSpPr>
          <p:cNvPr id="34" name="Text 32"/>
          <p:cNvSpPr txBox="1"/>
          <p:nvPr/>
        </p:nvSpPr>
        <p:spPr>
          <a:xfrm>
            <a:off x="8867394" y="5943600"/>
            <a:ext cx="2544318" cy="310896"/>
          </a:xfrm>
          <a:prstGeom prst="rect">
            <a:avLst/>
          </a:prstGeom>
          <a:noFill/>
          <a:ln/>
        </p:spPr>
        <p:txBody>
          <a:bodyPr wrap="square" lIns="0" tIns="0" rIns="0" bIns="0" rtlCol="0" anchor="b"/>
          <a:lstStyle/>
          <a:p>
            <a:pPr indent="0" marL="0">
              <a:buNone/>
            </a:pPr>
            <a:r>
              <a:rPr lang="en-US" sz="1900" b="1" dirty="0">
                <a:solidFill>
                  <a:srgbClr val="15181E"/>
                </a:solidFill>
                <a:latin typeface="Cambria" pitchFamily="34" charset="0"/>
                <a:ea typeface="Cambria" pitchFamily="34" charset="-122"/>
                <a:cs typeface="Cambria" pitchFamily="34" charset="-120"/>
              </a:rPr>
              <a:t>4</a:t>
            </a:r>
            <a:endParaRPr lang="en-US" sz="1900" dirty="0"/>
          </a:p>
        </p:txBody>
      </p:sp>
      <p:sp>
        <p:nvSpPr>
          <p:cNvPr id="35" name="Text 33"/>
          <p:cNvSpPr txBox="1"/>
          <p:nvPr/>
        </p:nvSpPr>
        <p:spPr>
          <a:xfrm>
            <a:off x="8867394" y="6272784"/>
            <a:ext cx="2544318" cy="475488"/>
          </a:xfrm>
          <a:prstGeom prst="rect">
            <a:avLst/>
          </a:prstGeom>
          <a:noFill/>
          <a:ln/>
        </p:spPr>
        <p:txBody>
          <a:bodyPr wrap="square" lIns="0" tIns="0" rIns="0" bIns="0" rtlCol="0" anchor="t"/>
          <a:lstStyle/>
          <a:p>
            <a:pPr indent="0" marL="0">
              <a:lnSpc>
                <a:spcPct val="106000"/>
              </a:lnSpc>
              <a:buNone/>
            </a:pPr>
            <a:r>
              <a:rPr lang="en-US" sz="950" dirty="0">
                <a:solidFill>
                  <a:srgbClr val="6E7480"/>
                </a:solidFill>
                <a:latin typeface="Calibri" pitchFamily="34" charset="0"/>
                <a:ea typeface="Calibri" pitchFamily="34" charset="-122"/>
                <a:cs typeface="Calibri" pitchFamily="34" charset="-120"/>
              </a:rPr>
              <a:t>surfaces sharing one internal platform</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10896"/>
            <a:ext cx="365760" cy="365760"/>
          </a:xfrm>
          <a:prstGeom prst="roundRect">
            <a:avLst>
              <a:gd name="adj" fmla="val 20000"/>
            </a:avLst>
          </a:prstGeom>
          <a:solidFill>
            <a:srgbClr val="FFFFFF"/>
          </a:solidFill>
          <a:ln w="15875">
            <a:solidFill>
              <a:srgbClr val="15181E"/>
            </a:solidFill>
            <a:prstDash val="solid"/>
          </a:ln>
        </p:spPr>
      </p:sp>
      <p:sp>
        <p:nvSpPr>
          <p:cNvPr id="3" name="Text 1"/>
          <p:cNvSpPr txBox="1"/>
          <p:nvPr/>
        </p:nvSpPr>
        <p:spPr>
          <a:xfrm>
            <a:off x="548640" y="310896"/>
            <a:ext cx="365760" cy="365760"/>
          </a:xfrm>
          <a:prstGeom prst="rect">
            <a:avLst/>
          </a:prstGeom>
          <a:noFill/>
          <a:ln/>
        </p:spPr>
        <p:txBody>
          <a:bodyPr wrap="square" lIns="0" tIns="0" rIns="0" bIns="0" rtlCol="0" anchor="ctr"/>
          <a:lstStyle/>
          <a:p>
            <a:pPr algn="ctr" indent="0" marL="0">
              <a:buNone/>
            </a:pPr>
            <a:r>
              <a:rPr lang="en-US" sz="1300" b="1" spc="40" kern="0" dirty="0">
                <a:solidFill>
                  <a:srgbClr val="15181E"/>
                </a:solidFill>
                <a:latin typeface="Cambria" pitchFamily="34" charset="0"/>
                <a:ea typeface="Cambria" pitchFamily="34" charset="-122"/>
                <a:cs typeface="Cambria" pitchFamily="34" charset="-120"/>
              </a:rPr>
              <a:t>SL</a:t>
            </a:r>
            <a:endParaRPr lang="en-US" sz="1300" dirty="0"/>
          </a:p>
        </p:txBody>
      </p:sp>
      <p:sp>
        <p:nvSpPr>
          <p:cNvPr id="4" name="Text 2"/>
          <p:cNvSpPr txBox="1"/>
          <p:nvPr/>
        </p:nvSpPr>
        <p:spPr>
          <a:xfrm>
            <a:off x="1133856" y="237744"/>
            <a:ext cx="7132320" cy="548640"/>
          </a:xfrm>
          <a:prstGeom prst="rect">
            <a:avLst/>
          </a:prstGeom>
          <a:noFill/>
          <a:ln/>
        </p:spPr>
        <p:txBody>
          <a:bodyPr wrap="square" lIns="0" tIns="0" rIns="0" bIns="0" rtlCol="0" anchor="ctr"/>
          <a:lstStyle/>
          <a:p>
            <a:pPr indent="0" marL="0">
              <a:buNone/>
            </a:pPr>
            <a:r>
              <a:rPr lang="en-US" sz="2400" b="1" dirty="0">
                <a:solidFill>
                  <a:srgbClr val="15181E"/>
                </a:solidFill>
                <a:latin typeface="Cambria" pitchFamily="34" charset="0"/>
                <a:ea typeface="Cambria" pitchFamily="34" charset="-122"/>
                <a:cs typeface="Cambria" pitchFamily="34" charset="-120"/>
              </a:rPr>
              <a:t>Slack</a:t>
            </a:r>
            <a:endParaRPr lang="en-US" sz="2400" dirty="0"/>
          </a:p>
        </p:txBody>
      </p:sp>
      <p:sp>
        <p:nvSpPr>
          <p:cNvPr id="5" name="Shape 3"/>
          <p:cNvSpPr/>
          <p:nvPr/>
        </p:nvSpPr>
        <p:spPr>
          <a:xfrm>
            <a:off x="9902952" y="347472"/>
            <a:ext cx="1737360" cy="274320"/>
          </a:xfrm>
          <a:prstGeom prst="roundRect">
            <a:avLst>
              <a:gd name="adj" fmla="val 50000"/>
            </a:avLst>
          </a:prstGeom>
          <a:solidFill>
            <a:srgbClr val="1F6F6B"/>
          </a:solidFill>
          <a:ln/>
        </p:spPr>
      </p:sp>
      <p:sp>
        <p:nvSpPr>
          <p:cNvPr id="6" name="Text 4"/>
          <p:cNvSpPr txBox="1"/>
          <p:nvPr/>
        </p:nvSpPr>
        <p:spPr>
          <a:xfrm>
            <a:off x="9902952" y="347472"/>
            <a:ext cx="17373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FIRST-PARTY</a:t>
            </a:r>
            <a:endParaRPr lang="en-US" sz="850" dirty="0"/>
          </a:p>
        </p:txBody>
      </p:sp>
      <p:sp>
        <p:nvSpPr>
          <p:cNvPr id="7" name="Text 5"/>
          <p:cNvSpPr txBox="1"/>
          <p:nvPr/>
        </p:nvSpPr>
        <p:spPr>
          <a:xfrm>
            <a:off x="548640" y="786384"/>
            <a:ext cx="10881360" cy="402336"/>
          </a:xfrm>
          <a:prstGeom prst="rect">
            <a:avLst/>
          </a:prstGeom>
          <a:noFill/>
          <a:ln/>
        </p:spPr>
        <p:txBody>
          <a:bodyPr wrap="square" lIns="0" tIns="0" rIns="0" bIns="0" rtlCol="0" anchor="t"/>
          <a:lstStyle/>
          <a:p>
            <a:pPr indent="0" marL="0">
              <a:lnSpc>
                <a:spcPct val="106000"/>
              </a:lnSpc>
              <a:buNone/>
            </a:pPr>
            <a:r>
              <a:rPr lang="en-US" sz="1450" dirty="0">
                <a:solidFill>
                  <a:srgbClr val="232833"/>
                </a:solidFill>
                <a:latin typeface="Calibri" pitchFamily="34" charset="0"/>
                <a:ea typeface="Calibri" pitchFamily="34" charset="-122"/>
                <a:cs typeface="Calibri" pitchFamily="34" charset="-120"/>
              </a:rPr>
              <a:t>One platform in the middle, deliberately thin, so that models and surfaces can both be swapped without touching the other.</a:t>
            </a:r>
            <a:endParaRPr lang="en-US" sz="1450" dirty="0"/>
          </a:p>
        </p:txBody>
      </p:sp>
      <p:sp>
        <p:nvSpPr>
          <p:cNvPr id="8" name="Text 6"/>
          <p:cNvSpPr txBox="1"/>
          <p:nvPr/>
        </p:nvSpPr>
        <p:spPr>
          <a:xfrm>
            <a:off x="548640" y="1316736"/>
            <a:ext cx="5486400" cy="201168"/>
          </a:xfrm>
          <a:prstGeom prst="rect">
            <a:avLst/>
          </a:prstGeom>
          <a:noFill/>
          <a:ln/>
        </p:spPr>
        <p:txBody>
          <a:bodyPr wrap="square" lIns="0" tIns="0" rIns="0" bIns="0" rtlCol="0" anchor="ctr"/>
          <a:lstStyle/>
          <a:p>
            <a:pPr indent="0" marL="0">
              <a:buNone/>
            </a:pPr>
            <a:r>
              <a:rPr lang="en-US" sz="950" b="1" spc="200" kern="0" dirty="0">
                <a:solidFill>
                  <a:srgbClr val="C0761A"/>
                </a:solidFill>
                <a:latin typeface="Calibri" pitchFamily="34" charset="0"/>
                <a:ea typeface="Calibri" pitchFamily="34" charset="-122"/>
                <a:cs typeface="Calibri" pitchFamily="34" charset="-120"/>
              </a:rPr>
              <a:t>SOURCES</a:t>
            </a:r>
            <a:endParaRPr lang="en-US" sz="950" dirty="0"/>
          </a:p>
        </p:txBody>
      </p:sp>
      <p:sp>
        <p:nvSpPr>
          <p:cNvPr id="9" name="Shape 7"/>
          <p:cNvSpPr/>
          <p:nvPr/>
        </p:nvSpPr>
        <p:spPr>
          <a:xfrm>
            <a:off x="548640" y="1554480"/>
            <a:ext cx="3465576" cy="1060704"/>
          </a:xfrm>
          <a:prstGeom prst="roundRect">
            <a:avLst>
              <a:gd name="adj" fmla="val 5172"/>
            </a:avLst>
          </a:prstGeom>
          <a:solidFill>
            <a:srgbClr val="F2F2EF"/>
          </a:solidFill>
          <a:ln w="12700">
            <a:solidFill>
              <a:srgbClr val="F2F2EF"/>
            </a:solidFill>
            <a:prstDash val="solid"/>
          </a:ln>
        </p:spPr>
      </p:sp>
      <p:sp>
        <p:nvSpPr>
          <p:cNvPr id="10" name="Text 8"/>
          <p:cNvSpPr txBox="1"/>
          <p:nvPr/>
        </p:nvSpPr>
        <p:spPr>
          <a:xfrm>
            <a:off x="749808" y="1627632"/>
            <a:ext cx="3063240" cy="256032"/>
          </a:xfrm>
          <a:prstGeom prst="rect">
            <a:avLst/>
          </a:prstGeom>
          <a:noFill/>
          <a:ln/>
        </p:spPr>
        <p:txBody>
          <a:bodyPr wrap="square" lIns="0" tIns="0" rIns="0" bIns="0" rtlCol="0" anchor="ctr"/>
          <a:lstStyle/>
          <a:p>
            <a:pPr indent="0" marL="0">
              <a:buNone/>
            </a:pPr>
            <a:r>
              <a:rPr lang="en-US" sz="1150" b="1" dirty="0">
                <a:solidFill>
                  <a:srgbClr val="C0761A"/>
                </a:solidFill>
                <a:latin typeface="Calibri" pitchFamily="34" charset="0"/>
                <a:ea typeface="Calibri" pitchFamily="34" charset="-122"/>
                <a:cs typeface="Calibri" pitchFamily="34" charset="-120"/>
              </a:rPr>
              <a:t>Technical documentation</a:t>
            </a:r>
            <a:endParaRPr lang="en-US" sz="1150" dirty="0"/>
          </a:p>
        </p:txBody>
      </p:sp>
      <p:sp>
        <p:nvSpPr>
          <p:cNvPr id="11" name="Text 9"/>
          <p:cNvSpPr txBox="1"/>
          <p:nvPr/>
        </p:nvSpPr>
        <p:spPr>
          <a:xfrm>
            <a:off x="749808" y="1901952"/>
            <a:ext cx="3063240" cy="640080"/>
          </a:xfrm>
          <a:prstGeom prst="rect">
            <a:avLst/>
          </a:prstGeom>
          <a:noFill/>
          <a:ln/>
        </p:spPr>
        <p:txBody>
          <a:bodyPr wrap="square" lIns="0" tIns="0" rIns="0" bIns="0" rtlCol="0" anchor="t"/>
          <a:lstStyle/>
          <a:p>
            <a:pPr indent="0" marL="0">
              <a:lnSpc>
                <a:spcPct val="105000"/>
              </a:lnSpc>
              <a:buNone/>
            </a:pPr>
            <a:r>
              <a:rPr lang="en-US" sz="1000" dirty="0">
                <a:solidFill>
                  <a:srgbClr val="232833"/>
                </a:solidFill>
                <a:latin typeface="Calibri" pitchFamily="34" charset="0"/>
                <a:ea typeface="Calibri" pitchFamily="34" charset="-122"/>
                <a:cs typeface="Calibri" pitchFamily="34" charset="-120"/>
              </a:rPr>
              <a:t>The maintained internal docs, filtered per channel.</a:t>
            </a:r>
            <a:endParaRPr lang="en-US" sz="1000" dirty="0"/>
          </a:p>
        </p:txBody>
      </p:sp>
      <p:sp>
        <p:nvSpPr>
          <p:cNvPr id="12" name="Shape 10"/>
          <p:cNvSpPr/>
          <p:nvPr/>
        </p:nvSpPr>
        <p:spPr>
          <a:xfrm>
            <a:off x="4361688" y="1554480"/>
            <a:ext cx="3465576" cy="1060704"/>
          </a:xfrm>
          <a:prstGeom prst="roundRect">
            <a:avLst>
              <a:gd name="adj" fmla="val 5172"/>
            </a:avLst>
          </a:prstGeom>
          <a:solidFill>
            <a:srgbClr val="F2F2EF"/>
          </a:solidFill>
          <a:ln w="12700">
            <a:solidFill>
              <a:srgbClr val="F2F2EF"/>
            </a:solidFill>
            <a:prstDash val="solid"/>
          </a:ln>
        </p:spPr>
      </p:sp>
      <p:sp>
        <p:nvSpPr>
          <p:cNvPr id="13" name="Text 11"/>
          <p:cNvSpPr txBox="1"/>
          <p:nvPr/>
        </p:nvSpPr>
        <p:spPr>
          <a:xfrm>
            <a:off x="4562856" y="1627632"/>
            <a:ext cx="3063240" cy="256032"/>
          </a:xfrm>
          <a:prstGeom prst="rect">
            <a:avLst/>
          </a:prstGeom>
          <a:noFill/>
          <a:ln/>
        </p:spPr>
        <p:txBody>
          <a:bodyPr wrap="square" lIns="0" tIns="0" rIns="0" bIns="0" rtlCol="0" anchor="ctr"/>
          <a:lstStyle/>
          <a:p>
            <a:pPr indent="0" marL="0">
              <a:buNone/>
            </a:pPr>
            <a:r>
              <a:rPr lang="en-US" sz="1150" b="1" dirty="0">
                <a:solidFill>
                  <a:srgbClr val="C0761A"/>
                </a:solidFill>
                <a:latin typeface="Calibri" pitchFamily="34" charset="0"/>
                <a:ea typeface="Calibri" pitchFamily="34" charset="-122"/>
                <a:cs typeface="Calibri" pitchFamily="34" charset="-120"/>
              </a:rPr>
              <a:t>Slack message history</a:t>
            </a:r>
            <a:endParaRPr lang="en-US" sz="1150" dirty="0"/>
          </a:p>
        </p:txBody>
      </p:sp>
      <p:sp>
        <p:nvSpPr>
          <p:cNvPr id="14" name="Text 12"/>
          <p:cNvSpPr txBox="1"/>
          <p:nvPr/>
        </p:nvSpPr>
        <p:spPr>
          <a:xfrm>
            <a:off x="4562856" y="1901952"/>
            <a:ext cx="3063240" cy="640080"/>
          </a:xfrm>
          <a:prstGeom prst="rect">
            <a:avLst/>
          </a:prstGeom>
          <a:noFill/>
          <a:ln/>
        </p:spPr>
        <p:txBody>
          <a:bodyPr wrap="square" lIns="0" tIns="0" rIns="0" bIns="0" rtlCol="0" anchor="t"/>
          <a:lstStyle/>
          <a:p>
            <a:pPr indent="0" marL="0">
              <a:lnSpc>
                <a:spcPct val="105000"/>
              </a:lnSpc>
              <a:buNone/>
            </a:pPr>
            <a:r>
              <a:rPr lang="en-US" sz="1000" dirty="0">
                <a:solidFill>
                  <a:srgbClr val="232833"/>
                </a:solidFill>
                <a:latin typeface="Calibri" pitchFamily="34" charset="0"/>
                <a:ea typeface="Calibri" pitchFamily="34" charset="-122"/>
                <a:cs typeface="Calibri" pitchFamily="34" charset="-120"/>
              </a:rPr>
              <a:t>Historical posts pulled through the message search API.</a:t>
            </a:r>
            <a:endParaRPr lang="en-US" sz="1000" dirty="0"/>
          </a:p>
        </p:txBody>
      </p:sp>
      <p:sp>
        <p:nvSpPr>
          <p:cNvPr id="15" name="Shape 13"/>
          <p:cNvSpPr/>
          <p:nvPr/>
        </p:nvSpPr>
        <p:spPr>
          <a:xfrm>
            <a:off x="8174736" y="1554480"/>
            <a:ext cx="3465576" cy="1060704"/>
          </a:xfrm>
          <a:prstGeom prst="roundRect">
            <a:avLst>
              <a:gd name="adj" fmla="val 5172"/>
            </a:avLst>
          </a:prstGeom>
          <a:solidFill>
            <a:srgbClr val="F2F2EF"/>
          </a:solidFill>
          <a:ln w="12700">
            <a:solidFill>
              <a:srgbClr val="F2F2EF"/>
            </a:solidFill>
            <a:prstDash val="solid"/>
          </a:ln>
        </p:spPr>
      </p:sp>
      <p:sp>
        <p:nvSpPr>
          <p:cNvPr id="16" name="Text 14"/>
          <p:cNvSpPr txBox="1"/>
          <p:nvPr/>
        </p:nvSpPr>
        <p:spPr>
          <a:xfrm>
            <a:off x="8375904" y="1627632"/>
            <a:ext cx="3063240" cy="256032"/>
          </a:xfrm>
          <a:prstGeom prst="rect">
            <a:avLst/>
          </a:prstGeom>
          <a:noFill/>
          <a:ln/>
        </p:spPr>
        <p:txBody>
          <a:bodyPr wrap="square" lIns="0" tIns="0" rIns="0" bIns="0" rtlCol="0" anchor="ctr"/>
          <a:lstStyle/>
          <a:p>
            <a:pPr indent="0" marL="0">
              <a:buNone/>
            </a:pPr>
            <a:r>
              <a:rPr lang="en-US" sz="1150" b="1" dirty="0">
                <a:solidFill>
                  <a:srgbClr val="C0761A"/>
                </a:solidFill>
                <a:latin typeface="Calibri" pitchFamily="34" charset="0"/>
                <a:ea typeface="Calibri" pitchFamily="34" charset="-122"/>
                <a:cs typeface="Calibri" pitchFamily="34" charset="-120"/>
              </a:rPr>
              <a:t>Canvas documents</a:t>
            </a:r>
            <a:endParaRPr lang="en-US" sz="1150" dirty="0"/>
          </a:p>
        </p:txBody>
      </p:sp>
      <p:sp>
        <p:nvSpPr>
          <p:cNvPr id="17" name="Text 15"/>
          <p:cNvSpPr txBox="1"/>
          <p:nvPr/>
        </p:nvSpPr>
        <p:spPr>
          <a:xfrm>
            <a:off x="8375904" y="1901952"/>
            <a:ext cx="3063240" cy="640080"/>
          </a:xfrm>
          <a:prstGeom prst="rect">
            <a:avLst/>
          </a:prstGeom>
          <a:noFill/>
          <a:ln/>
        </p:spPr>
        <p:txBody>
          <a:bodyPr wrap="square" lIns="0" tIns="0" rIns="0" bIns="0" rtlCol="0" anchor="t"/>
          <a:lstStyle/>
          <a:p>
            <a:pPr indent="0" marL="0">
              <a:lnSpc>
                <a:spcPct val="105000"/>
              </a:lnSpc>
              <a:buNone/>
            </a:pPr>
            <a:r>
              <a:rPr lang="en-US" sz="1000" dirty="0">
                <a:solidFill>
                  <a:srgbClr val="232833"/>
                </a:solidFill>
                <a:latin typeface="Calibri" pitchFamily="34" charset="0"/>
                <a:ea typeface="Calibri" pitchFamily="34" charset="-122"/>
                <a:cs typeface="Calibri" pitchFamily="34" charset="-120"/>
              </a:rPr>
              <a:t>Long-form working docs written inside Slack itself.</a:t>
            </a:r>
            <a:endParaRPr lang="en-US" sz="1000" dirty="0"/>
          </a:p>
        </p:txBody>
      </p:sp>
      <p:sp>
        <p:nvSpPr>
          <p:cNvPr id="18" name="Text 16"/>
          <p:cNvSpPr txBox="1"/>
          <p:nvPr/>
        </p:nvSpPr>
        <p:spPr>
          <a:xfrm>
            <a:off x="548640" y="2798064"/>
            <a:ext cx="5486400" cy="201168"/>
          </a:xfrm>
          <a:prstGeom prst="rect">
            <a:avLst/>
          </a:prstGeom>
          <a:noFill/>
          <a:ln/>
        </p:spPr>
        <p:txBody>
          <a:bodyPr wrap="square" lIns="0" tIns="0" rIns="0" bIns="0" rtlCol="0" anchor="ctr"/>
          <a:lstStyle/>
          <a:p>
            <a:pPr indent="0" marL="0">
              <a:buNone/>
            </a:pPr>
            <a:r>
              <a:rPr lang="en-US" sz="950" b="1" spc="200" kern="0" dirty="0">
                <a:solidFill>
                  <a:srgbClr val="1F6F6B"/>
                </a:solidFill>
                <a:latin typeface="Calibri" pitchFamily="34" charset="0"/>
                <a:ea typeface="Calibri" pitchFamily="34" charset="-122"/>
                <a:cs typeface="Calibri" pitchFamily="34" charset="-120"/>
              </a:rPr>
              <a:t>PLATFORM</a:t>
            </a:r>
            <a:endParaRPr lang="en-US" sz="950" dirty="0"/>
          </a:p>
        </p:txBody>
      </p:sp>
      <p:sp>
        <p:nvSpPr>
          <p:cNvPr id="19" name="Shape 17"/>
          <p:cNvSpPr/>
          <p:nvPr/>
        </p:nvSpPr>
        <p:spPr>
          <a:xfrm>
            <a:off x="548640" y="3035808"/>
            <a:ext cx="3465576" cy="1060704"/>
          </a:xfrm>
          <a:prstGeom prst="roundRect">
            <a:avLst>
              <a:gd name="adj" fmla="val 5172"/>
            </a:avLst>
          </a:prstGeom>
          <a:solidFill>
            <a:srgbClr val="F2F2EF"/>
          </a:solidFill>
          <a:ln w="12700">
            <a:solidFill>
              <a:srgbClr val="F2F2EF"/>
            </a:solidFill>
            <a:prstDash val="solid"/>
          </a:ln>
        </p:spPr>
      </p:sp>
      <p:sp>
        <p:nvSpPr>
          <p:cNvPr id="20" name="Text 18"/>
          <p:cNvSpPr txBox="1"/>
          <p:nvPr/>
        </p:nvSpPr>
        <p:spPr>
          <a:xfrm>
            <a:off x="749808" y="3108960"/>
            <a:ext cx="3063240" cy="256032"/>
          </a:xfrm>
          <a:prstGeom prst="rect">
            <a:avLst/>
          </a:prstGeom>
          <a:noFill/>
          <a:ln/>
        </p:spPr>
        <p:txBody>
          <a:bodyPr wrap="square" lIns="0" tIns="0" rIns="0" bIns="0" rtlCol="0" anchor="ctr"/>
          <a:lstStyle/>
          <a:p>
            <a:pPr indent="0" marL="0">
              <a:buNone/>
            </a:pPr>
            <a:r>
              <a:rPr lang="en-US" sz="1150" b="1" dirty="0">
                <a:solidFill>
                  <a:srgbClr val="1F6F6B"/>
                </a:solidFill>
                <a:latin typeface="Calibri" pitchFamily="34" charset="0"/>
                <a:ea typeface="Calibri" pitchFamily="34" charset="-122"/>
                <a:cs typeface="Calibri" pitchFamily="34" charset="-120"/>
              </a:rPr>
              <a:t>Bedrock Knowledge Bases</a:t>
            </a:r>
            <a:endParaRPr lang="en-US" sz="1150" dirty="0"/>
          </a:p>
        </p:txBody>
      </p:sp>
      <p:sp>
        <p:nvSpPr>
          <p:cNvPr id="21" name="Text 19"/>
          <p:cNvSpPr txBox="1"/>
          <p:nvPr/>
        </p:nvSpPr>
        <p:spPr>
          <a:xfrm>
            <a:off x="749808" y="3383280"/>
            <a:ext cx="3063240" cy="640080"/>
          </a:xfrm>
          <a:prstGeom prst="rect">
            <a:avLst/>
          </a:prstGeom>
          <a:noFill/>
          <a:ln/>
        </p:spPr>
        <p:txBody>
          <a:bodyPr wrap="square" lIns="0" tIns="0" rIns="0" bIns="0" rtlCol="0" anchor="t"/>
          <a:lstStyle/>
          <a:p>
            <a:pPr indent="0" marL="0">
              <a:lnSpc>
                <a:spcPct val="105000"/>
              </a:lnSpc>
              <a:buNone/>
            </a:pPr>
            <a:r>
              <a:rPr lang="en-US" sz="1000" dirty="0">
                <a:solidFill>
                  <a:srgbClr val="232833"/>
                </a:solidFill>
                <a:latin typeface="Calibri" pitchFamily="34" charset="0"/>
                <a:ea typeface="Calibri" pitchFamily="34" charset="-122"/>
                <a:cs typeface="Calibri" pitchFamily="34" charset="-120"/>
              </a:rPr>
              <a:t>Managed embedding, indexing and search, so they run little of it.</a:t>
            </a:r>
            <a:endParaRPr lang="en-US" sz="1000" dirty="0"/>
          </a:p>
        </p:txBody>
      </p:sp>
      <p:sp>
        <p:nvSpPr>
          <p:cNvPr id="22" name="Shape 20"/>
          <p:cNvSpPr/>
          <p:nvPr/>
        </p:nvSpPr>
        <p:spPr>
          <a:xfrm>
            <a:off x="4361688" y="3035808"/>
            <a:ext cx="3465576" cy="1060704"/>
          </a:xfrm>
          <a:prstGeom prst="roundRect">
            <a:avLst>
              <a:gd name="adj" fmla="val 5172"/>
            </a:avLst>
          </a:prstGeom>
          <a:solidFill>
            <a:srgbClr val="F2F2EF"/>
          </a:solidFill>
          <a:ln w="12700">
            <a:solidFill>
              <a:srgbClr val="F2F2EF"/>
            </a:solidFill>
            <a:prstDash val="solid"/>
          </a:ln>
        </p:spPr>
      </p:sp>
      <p:sp>
        <p:nvSpPr>
          <p:cNvPr id="23" name="Text 21"/>
          <p:cNvSpPr txBox="1"/>
          <p:nvPr/>
        </p:nvSpPr>
        <p:spPr>
          <a:xfrm>
            <a:off x="4562856" y="3108960"/>
            <a:ext cx="3063240" cy="256032"/>
          </a:xfrm>
          <a:prstGeom prst="rect">
            <a:avLst/>
          </a:prstGeom>
          <a:noFill/>
          <a:ln/>
        </p:spPr>
        <p:txBody>
          <a:bodyPr wrap="square" lIns="0" tIns="0" rIns="0" bIns="0" rtlCol="0" anchor="ctr"/>
          <a:lstStyle/>
          <a:p>
            <a:pPr indent="0" marL="0">
              <a:buNone/>
            </a:pPr>
            <a:r>
              <a:rPr lang="en-US" sz="1150" b="1" dirty="0">
                <a:solidFill>
                  <a:srgbClr val="1F6F6B"/>
                </a:solidFill>
                <a:latin typeface="Calibri" pitchFamily="34" charset="0"/>
                <a:ea typeface="Calibri" pitchFamily="34" charset="-122"/>
                <a:cs typeface="Calibri" pitchFamily="34" charset="-120"/>
              </a:rPr>
              <a:t>Several approved models</a:t>
            </a:r>
            <a:endParaRPr lang="en-US" sz="1150" dirty="0"/>
          </a:p>
        </p:txBody>
      </p:sp>
      <p:sp>
        <p:nvSpPr>
          <p:cNvPr id="24" name="Text 22"/>
          <p:cNvSpPr txBox="1"/>
          <p:nvPr/>
        </p:nvSpPr>
        <p:spPr>
          <a:xfrm>
            <a:off x="4562856" y="3383280"/>
            <a:ext cx="3063240" cy="640080"/>
          </a:xfrm>
          <a:prstGeom prst="rect">
            <a:avLst/>
          </a:prstGeom>
          <a:noFill/>
          <a:ln/>
        </p:spPr>
        <p:txBody>
          <a:bodyPr wrap="square" lIns="0" tIns="0" rIns="0" bIns="0" rtlCol="0" anchor="t"/>
          <a:lstStyle/>
          <a:p>
            <a:pPr indent="0" marL="0">
              <a:lnSpc>
                <a:spcPct val="105000"/>
              </a:lnSpc>
              <a:buNone/>
            </a:pPr>
            <a:r>
              <a:rPr lang="en-US" sz="1000" dirty="0">
                <a:solidFill>
                  <a:srgbClr val="232833"/>
                </a:solidFill>
                <a:latin typeface="Calibri" pitchFamily="34" charset="0"/>
                <a:ea typeface="Calibri" pitchFamily="34" charset="-122"/>
                <a:cs typeface="Calibri" pitchFamily="34" charset="-120"/>
              </a:rPr>
              <a:t>All behind one I/O schema, so swapping a model touches no caller.</a:t>
            </a:r>
            <a:endParaRPr lang="en-US" sz="1000" dirty="0"/>
          </a:p>
        </p:txBody>
      </p:sp>
      <p:sp>
        <p:nvSpPr>
          <p:cNvPr id="25" name="Shape 23"/>
          <p:cNvSpPr/>
          <p:nvPr/>
        </p:nvSpPr>
        <p:spPr>
          <a:xfrm>
            <a:off x="8174736" y="3035808"/>
            <a:ext cx="3465576" cy="1060704"/>
          </a:xfrm>
          <a:prstGeom prst="roundRect">
            <a:avLst>
              <a:gd name="adj" fmla="val 5172"/>
            </a:avLst>
          </a:prstGeom>
          <a:solidFill>
            <a:srgbClr val="F2F2EF"/>
          </a:solidFill>
          <a:ln w="12700">
            <a:solidFill>
              <a:srgbClr val="F2F2EF"/>
            </a:solidFill>
            <a:prstDash val="solid"/>
          </a:ln>
        </p:spPr>
      </p:sp>
      <p:sp>
        <p:nvSpPr>
          <p:cNvPr id="26" name="Text 24"/>
          <p:cNvSpPr txBox="1"/>
          <p:nvPr/>
        </p:nvSpPr>
        <p:spPr>
          <a:xfrm>
            <a:off x="8375904" y="3108960"/>
            <a:ext cx="3063240" cy="256032"/>
          </a:xfrm>
          <a:prstGeom prst="rect">
            <a:avLst/>
          </a:prstGeom>
          <a:noFill/>
          <a:ln/>
        </p:spPr>
        <p:txBody>
          <a:bodyPr wrap="square" lIns="0" tIns="0" rIns="0" bIns="0" rtlCol="0" anchor="ctr"/>
          <a:lstStyle/>
          <a:p>
            <a:pPr indent="0" marL="0">
              <a:buNone/>
            </a:pPr>
            <a:r>
              <a:rPr lang="en-US" sz="1150" b="1" dirty="0">
                <a:solidFill>
                  <a:srgbClr val="1F6F6B"/>
                </a:solidFill>
                <a:latin typeface="Calibri" pitchFamily="34" charset="0"/>
                <a:ea typeface="Calibri" pitchFamily="34" charset="-122"/>
                <a:cs typeface="Calibri" pitchFamily="34" charset="-120"/>
              </a:rPr>
              <a:t>Per-channel thresholds</a:t>
            </a:r>
            <a:endParaRPr lang="en-US" sz="1150" dirty="0"/>
          </a:p>
        </p:txBody>
      </p:sp>
      <p:sp>
        <p:nvSpPr>
          <p:cNvPr id="27" name="Text 25"/>
          <p:cNvSpPr txBox="1"/>
          <p:nvPr/>
        </p:nvSpPr>
        <p:spPr>
          <a:xfrm>
            <a:off x="8375904" y="3383280"/>
            <a:ext cx="3063240" cy="640080"/>
          </a:xfrm>
          <a:prstGeom prst="rect">
            <a:avLst/>
          </a:prstGeom>
          <a:noFill/>
          <a:ln/>
        </p:spPr>
        <p:txBody>
          <a:bodyPr wrap="square" lIns="0" tIns="0" rIns="0" bIns="0" rtlCol="0" anchor="t"/>
          <a:lstStyle/>
          <a:p>
            <a:pPr indent="0" marL="0">
              <a:lnSpc>
                <a:spcPct val="105000"/>
              </a:lnSpc>
              <a:buNone/>
            </a:pPr>
            <a:r>
              <a:rPr lang="en-US" sz="1000" dirty="0">
                <a:solidFill>
                  <a:srgbClr val="232833"/>
                </a:solidFill>
                <a:latin typeface="Calibri" pitchFamily="34" charset="0"/>
                <a:ea typeface="Calibri" pitchFamily="34" charset="-122"/>
                <a:cs typeface="Calibri" pitchFamily="34" charset="-120"/>
              </a:rPr>
              <a:t>Similarity cut-offs and doc filters, owned by the channel's team.</a:t>
            </a:r>
            <a:endParaRPr lang="en-US" sz="1000" dirty="0"/>
          </a:p>
        </p:txBody>
      </p:sp>
      <p:sp>
        <p:nvSpPr>
          <p:cNvPr id="28" name="Text 26"/>
          <p:cNvSpPr txBox="1"/>
          <p:nvPr/>
        </p:nvSpPr>
        <p:spPr>
          <a:xfrm>
            <a:off x="548640" y="4279392"/>
            <a:ext cx="5486400" cy="201168"/>
          </a:xfrm>
          <a:prstGeom prst="rect">
            <a:avLst/>
          </a:prstGeom>
          <a:noFill/>
          <a:ln/>
        </p:spPr>
        <p:txBody>
          <a:bodyPr wrap="square" lIns="0" tIns="0" rIns="0" bIns="0" rtlCol="0" anchor="ctr"/>
          <a:lstStyle/>
          <a:p>
            <a:pPr indent="0" marL="0">
              <a:buNone/>
            </a:pPr>
            <a:r>
              <a:rPr lang="en-US" sz="950" b="1" spc="200" kern="0" dirty="0">
                <a:solidFill>
                  <a:srgbClr val="8E3350"/>
                </a:solidFill>
                <a:latin typeface="Calibri" pitchFamily="34" charset="0"/>
                <a:ea typeface="Calibri" pitchFamily="34" charset="-122"/>
                <a:cs typeface="Calibri" pitchFamily="34" charset="-120"/>
              </a:rPr>
              <a:t>SURFACES</a:t>
            </a:r>
            <a:endParaRPr lang="en-US" sz="950" dirty="0"/>
          </a:p>
        </p:txBody>
      </p:sp>
      <p:sp>
        <p:nvSpPr>
          <p:cNvPr id="29" name="Shape 27"/>
          <p:cNvSpPr/>
          <p:nvPr/>
        </p:nvSpPr>
        <p:spPr>
          <a:xfrm>
            <a:off x="548640" y="4517136"/>
            <a:ext cx="2512314" cy="1060704"/>
          </a:xfrm>
          <a:prstGeom prst="roundRect">
            <a:avLst>
              <a:gd name="adj" fmla="val 5172"/>
            </a:avLst>
          </a:prstGeom>
          <a:solidFill>
            <a:srgbClr val="F2F2EF"/>
          </a:solidFill>
          <a:ln w="12700">
            <a:solidFill>
              <a:srgbClr val="F2F2EF"/>
            </a:solidFill>
            <a:prstDash val="solid"/>
          </a:ln>
        </p:spPr>
      </p:sp>
      <p:sp>
        <p:nvSpPr>
          <p:cNvPr id="30" name="Text 28"/>
          <p:cNvSpPr txBox="1"/>
          <p:nvPr/>
        </p:nvSpPr>
        <p:spPr>
          <a:xfrm>
            <a:off x="749808" y="4590288"/>
            <a:ext cx="2109978" cy="256032"/>
          </a:xfrm>
          <a:prstGeom prst="rect">
            <a:avLst/>
          </a:prstGeom>
          <a:noFill/>
          <a:ln/>
        </p:spPr>
        <p:txBody>
          <a:bodyPr wrap="square" lIns="0" tIns="0" rIns="0" bIns="0" rtlCol="0" anchor="ctr"/>
          <a:lstStyle/>
          <a:p>
            <a:pPr indent="0" marL="0">
              <a:buNone/>
            </a:pPr>
            <a:r>
              <a:rPr lang="en-US" sz="1150" b="1" dirty="0">
                <a:solidFill>
                  <a:srgbClr val="8E3350"/>
                </a:solidFill>
                <a:latin typeface="Calibri" pitchFamily="34" charset="0"/>
                <a:ea typeface="Calibri" pitchFamily="34" charset="-122"/>
                <a:cs typeface="Calibri" pitchFamily="34" charset="-120"/>
              </a:rPr>
              <a:t>Slack bot</a:t>
            </a:r>
            <a:endParaRPr lang="en-US" sz="1150" dirty="0"/>
          </a:p>
        </p:txBody>
      </p:sp>
      <p:sp>
        <p:nvSpPr>
          <p:cNvPr id="31" name="Text 29"/>
          <p:cNvSpPr txBox="1"/>
          <p:nvPr/>
        </p:nvSpPr>
        <p:spPr>
          <a:xfrm>
            <a:off x="749808" y="4864608"/>
            <a:ext cx="2109978" cy="640080"/>
          </a:xfrm>
          <a:prstGeom prst="rect">
            <a:avLst/>
          </a:prstGeom>
          <a:noFill/>
          <a:ln/>
        </p:spPr>
        <p:txBody>
          <a:bodyPr wrap="square" lIns="0" tIns="0" rIns="0" bIns="0" rtlCol="0" anchor="t"/>
          <a:lstStyle/>
          <a:p>
            <a:pPr indent="0" marL="0">
              <a:lnSpc>
                <a:spcPct val="105000"/>
              </a:lnSpc>
              <a:buNone/>
            </a:pPr>
            <a:r>
              <a:rPr lang="en-US" sz="1000" dirty="0">
                <a:solidFill>
                  <a:srgbClr val="232833"/>
                </a:solidFill>
                <a:latin typeface="Calibri" pitchFamily="34" charset="0"/>
                <a:ea typeface="Calibri" pitchFamily="34" charset="-122"/>
                <a:cs typeface="Calibri" pitchFamily="34" charset="-120"/>
              </a:rPr>
              <a:t>Emoji-triggered and monitoring modes inside existing channels.</a:t>
            </a:r>
            <a:endParaRPr lang="en-US" sz="1000" dirty="0"/>
          </a:p>
        </p:txBody>
      </p:sp>
      <p:sp>
        <p:nvSpPr>
          <p:cNvPr id="32" name="Shape 30"/>
          <p:cNvSpPr/>
          <p:nvPr/>
        </p:nvSpPr>
        <p:spPr>
          <a:xfrm>
            <a:off x="3408426" y="4517136"/>
            <a:ext cx="2512314" cy="1060704"/>
          </a:xfrm>
          <a:prstGeom prst="roundRect">
            <a:avLst>
              <a:gd name="adj" fmla="val 5172"/>
            </a:avLst>
          </a:prstGeom>
          <a:solidFill>
            <a:srgbClr val="F2F2EF"/>
          </a:solidFill>
          <a:ln w="12700">
            <a:solidFill>
              <a:srgbClr val="F2F2EF"/>
            </a:solidFill>
            <a:prstDash val="solid"/>
          </a:ln>
        </p:spPr>
      </p:sp>
      <p:sp>
        <p:nvSpPr>
          <p:cNvPr id="33" name="Text 31"/>
          <p:cNvSpPr txBox="1"/>
          <p:nvPr/>
        </p:nvSpPr>
        <p:spPr>
          <a:xfrm>
            <a:off x="3609594" y="4590288"/>
            <a:ext cx="2109978" cy="256032"/>
          </a:xfrm>
          <a:prstGeom prst="rect">
            <a:avLst/>
          </a:prstGeom>
          <a:noFill/>
          <a:ln/>
        </p:spPr>
        <p:txBody>
          <a:bodyPr wrap="square" lIns="0" tIns="0" rIns="0" bIns="0" rtlCol="0" anchor="ctr"/>
          <a:lstStyle/>
          <a:p>
            <a:pPr indent="0" marL="0">
              <a:buNone/>
            </a:pPr>
            <a:r>
              <a:rPr lang="en-US" sz="1150" b="1" dirty="0">
                <a:solidFill>
                  <a:srgbClr val="8E3350"/>
                </a:solidFill>
                <a:latin typeface="Calibri" pitchFamily="34" charset="0"/>
                <a:ea typeface="Calibri" pitchFamily="34" charset="-122"/>
                <a:cs typeface="Calibri" pitchFamily="34" charset="-120"/>
              </a:rPr>
              <a:t>In-Slack assistant</a:t>
            </a:r>
            <a:endParaRPr lang="en-US" sz="1150" dirty="0"/>
          </a:p>
        </p:txBody>
      </p:sp>
      <p:sp>
        <p:nvSpPr>
          <p:cNvPr id="34" name="Text 32"/>
          <p:cNvSpPr txBox="1"/>
          <p:nvPr/>
        </p:nvSpPr>
        <p:spPr>
          <a:xfrm>
            <a:off x="3609594" y="4864608"/>
            <a:ext cx="2109978" cy="640080"/>
          </a:xfrm>
          <a:prstGeom prst="rect">
            <a:avLst/>
          </a:prstGeom>
          <a:noFill/>
          <a:ln/>
        </p:spPr>
        <p:txBody>
          <a:bodyPr wrap="square" lIns="0" tIns="0" rIns="0" bIns="0" rtlCol="0" anchor="t"/>
          <a:lstStyle/>
          <a:p>
            <a:pPr indent="0" marL="0">
              <a:lnSpc>
                <a:spcPct val="105000"/>
              </a:lnSpc>
              <a:buNone/>
            </a:pPr>
            <a:r>
              <a:rPr lang="en-US" sz="1000" dirty="0">
                <a:solidFill>
                  <a:srgbClr val="232833"/>
                </a:solidFill>
                <a:latin typeface="Calibri" pitchFamily="34" charset="0"/>
                <a:ea typeface="Calibri" pitchFamily="34" charset="-122"/>
                <a:cs typeface="Calibri" pitchFamily="34" charset="-120"/>
              </a:rPr>
              <a:t>The custom assistant UI; 14% of all LLM traffic.</a:t>
            </a:r>
            <a:endParaRPr lang="en-US" sz="1000" dirty="0"/>
          </a:p>
        </p:txBody>
      </p:sp>
      <p:sp>
        <p:nvSpPr>
          <p:cNvPr id="35" name="Shape 33"/>
          <p:cNvSpPr/>
          <p:nvPr/>
        </p:nvSpPr>
        <p:spPr>
          <a:xfrm>
            <a:off x="6268212" y="4517136"/>
            <a:ext cx="2512314" cy="1060704"/>
          </a:xfrm>
          <a:prstGeom prst="roundRect">
            <a:avLst>
              <a:gd name="adj" fmla="val 5172"/>
            </a:avLst>
          </a:prstGeom>
          <a:solidFill>
            <a:srgbClr val="F2F2EF"/>
          </a:solidFill>
          <a:ln w="12700">
            <a:solidFill>
              <a:srgbClr val="F2F2EF"/>
            </a:solidFill>
            <a:prstDash val="solid"/>
          </a:ln>
        </p:spPr>
      </p:sp>
      <p:sp>
        <p:nvSpPr>
          <p:cNvPr id="36" name="Text 34"/>
          <p:cNvSpPr txBox="1"/>
          <p:nvPr/>
        </p:nvSpPr>
        <p:spPr>
          <a:xfrm>
            <a:off x="6469380" y="4590288"/>
            <a:ext cx="2109978" cy="256032"/>
          </a:xfrm>
          <a:prstGeom prst="rect">
            <a:avLst/>
          </a:prstGeom>
          <a:noFill/>
          <a:ln/>
        </p:spPr>
        <p:txBody>
          <a:bodyPr wrap="square" lIns="0" tIns="0" rIns="0" bIns="0" rtlCol="0" anchor="ctr"/>
          <a:lstStyle/>
          <a:p>
            <a:pPr indent="0" marL="0">
              <a:buNone/>
            </a:pPr>
            <a:r>
              <a:rPr lang="en-US" sz="1150" b="1" dirty="0">
                <a:solidFill>
                  <a:srgbClr val="8E3350"/>
                </a:solidFill>
                <a:latin typeface="Calibri" pitchFamily="34" charset="0"/>
                <a:ea typeface="Calibri" pitchFamily="34" charset="-122"/>
                <a:cs typeface="Calibri" pitchFamily="34" charset="-120"/>
              </a:rPr>
              <a:t>Web app</a:t>
            </a:r>
            <a:endParaRPr lang="en-US" sz="1150" dirty="0"/>
          </a:p>
        </p:txBody>
      </p:sp>
      <p:sp>
        <p:nvSpPr>
          <p:cNvPr id="37" name="Text 35"/>
          <p:cNvSpPr txBox="1"/>
          <p:nvPr/>
        </p:nvSpPr>
        <p:spPr>
          <a:xfrm>
            <a:off x="6469380" y="4864608"/>
            <a:ext cx="2109978" cy="640080"/>
          </a:xfrm>
          <a:prstGeom prst="rect">
            <a:avLst/>
          </a:prstGeom>
          <a:noFill/>
          <a:ln/>
        </p:spPr>
        <p:txBody>
          <a:bodyPr wrap="square" lIns="0" tIns="0" rIns="0" bIns="0" rtlCol="0" anchor="t"/>
          <a:lstStyle/>
          <a:p>
            <a:pPr indent="0" marL="0">
              <a:lnSpc>
                <a:spcPct val="105000"/>
              </a:lnSpc>
              <a:buNone/>
            </a:pPr>
            <a:r>
              <a:rPr lang="en-US" sz="1000" dirty="0">
                <a:solidFill>
                  <a:srgbClr val="232833"/>
                </a:solidFill>
                <a:latin typeface="Calibri" pitchFamily="34" charset="0"/>
                <a:ea typeface="Calibri" pitchFamily="34" charset="-122"/>
                <a:cs typeface="Calibri" pitchFamily="34" charset="-120"/>
              </a:rPr>
              <a:t>The most-used surface, carrying 37% of traffic.</a:t>
            </a:r>
            <a:endParaRPr lang="en-US" sz="1000" dirty="0"/>
          </a:p>
        </p:txBody>
      </p:sp>
      <p:sp>
        <p:nvSpPr>
          <p:cNvPr id="38" name="Shape 36"/>
          <p:cNvSpPr/>
          <p:nvPr/>
        </p:nvSpPr>
        <p:spPr>
          <a:xfrm>
            <a:off x="9127998" y="4517136"/>
            <a:ext cx="2512314" cy="1060704"/>
          </a:xfrm>
          <a:prstGeom prst="roundRect">
            <a:avLst>
              <a:gd name="adj" fmla="val 5172"/>
            </a:avLst>
          </a:prstGeom>
          <a:solidFill>
            <a:srgbClr val="F2F2EF"/>
          </a:solidFill>
          <a:ln w="12700">
            <a:solidFill>
              <a:srgbClr val="F2F2EF"/>
            </a:solidFill>
            <a:prstDash val="solid"/>
          </a:ln>
        </p:spPr>
      </p:sp>
      <p:sp>
        <p:nvSpPr>
          <p:cNvPr id="39" name="Text 37"/>
          <p:cNvSpPr txBox="1"/>
          <p:nvPr/>
        </p:nvSpPr>
        <p:spPr>
          <a:xfrm>
            <a:off x="9329166" y="4590288"/>
            <a:ext cx="2109978" cy="256032"/>
          </a:xfrm>
          <a:prstGeom prst="rect">
            <a:avLst/>
          </a:prstGeom>
          <a:noFill/>
          <a:ln/>
        </p:spPr>
        <p:txBody>
          <a:bodyPr wrap="square" lIns="0" tIns="0" rIns="0" bIns="0" rtlCol="0" anchor="ctr"/>
          <a:lstStyle/>
          <a:p>
            <a:pPr indent="0" marL="0">
              <a:buNone/>
            </a:pPr>
            <a:r>
              <a:rPr lang="en-US" sz="1150" b="1" dirty="0">
                <a:solidFill>
                  <a:srgbClr val="8E3350"/>
                </a:solidFill>
                <a:latin typeface="Calibri" pitchFamily="34" charset="0"/>
                <a:ea typeface="Calibri" pitchFamily="34" charset="-122"/>
                <a:cs typeface="Calibri" pitchFamily="34" charset="-120"/>
              </a:rPr>
              <a:t>IDE plugins</a:t>
            </a:r>
            <a:endParaRPr lang="en-US" sz="1150" dirty="0"/>
          </a:p>
        </p:txBody>
      </p:sp>
      <p:sp>
        <p:nvSpPr>
          <p:cNvPr id="40" name="Text 38"/>
          <p:cNvSpPr txBox="1"/>
          <p:nvPr/>
        </p:nvSpPr>
        <p:spPr>
          <a:xfrm>
            <a:off x="9329166" y="4864608"/>
            <a:ext cx="2109978" cy="640080"/>
          </a:xfrm>
          <a:prstGeom prst="rect">
            <a:avLst/>
          </a:prstGeom>
          <a:noFill/>
          <a:ln/>
        </p:spPr>
        <p:txBody>
          <a:bodyPr wrap="square" lIns="0" tIns="0" rIns="0" bIns="0" rtlCol="0" anchor="t"/>
          <a:lstStyle/>
          <a:p>
            <a:pPr indent="0" marL="0">
              <a:lnSpc>
                <a:spcPct val="105000"/>
              </a:lnSpc>
              <a:buNone/>
            </a:pPr>
            <a:r>
              <a:rPr lang="en-US" sz="1000" dirty="0">
                <a:solidFill>
                  <a:srgbClr val="232833"/>
                </a:solidFill>
                <a:latin typeface="Calibri" pitchFamily="34" charset="0"/>
                <a:ea typeface="Calibri" pitchFamily="34" charset="-122"/>
                <a:cs typeface="Calibri" pitchFamily="34" charset="-120"/>
              </a:rPr>
              <a:t>Preferred by 65% of surveyed engineers, despite lower traffic.</a:t>
            </a:r>
            <a:endParaRPr lang="en-US" sz="1000" dirty="0"/>
          </a:p>
        </p:txBody>
      </p:sp>
      <p:sp>
        <p:nvSpPr>
          <p:cNvPr id="41" name="Text 39"/>
          <p:cNvSpPr txBox="1"/>
          <p:nvPr/>
        </p:nvSpPr>
        <p:spPr>
          <a:xfrm>
            <a:off x="548640" y="5870448"/>
            <a:ext cx="11091672" cy="603504"/>
          </a:xfrm>
          <a:prstGeom prst="rect">
            <a:avLst/>
          </a:prstGeom>
          <a:noFill/>
          <a:ln/>
        </p:spPr>
        <p:txBody>
          <a:bodyPr wrap="square" lIns="0" tIns="0" rIns="0" bIns="0" rtlCol="0" anchor="t"/>
          <a:lstStyle/>
          <a:p>
            <a:pPr indent="0" marL="0">
              <a:lnSpc>
                <a:spcPct val="112000"/>
              </a:lnSpc>
              <a:buNone/>
            </a:pPr>
            <a:r>
              <a:rPr lang="en-US" sz="1050" i="1" dirty="0">
                <a:solidFill>
                  <a:srgbClr val="6E7480"/>
                </a:solidFill>
                <a:latin typeface="Calibri" pitchFamily="34" charset="0"/>
                <a:ea typeface="Calibri" pitchFamily="34" charset="-122"/>
                <a:cs typeface="Calibri" pitchFamily="34" charset="-120"/>
              </a:rPr>
              <a:t>A separate escalation bot watches 25+ channels and classifies what gets posted, routing anything needing a person to a human rather than answering it. That bot alone accounts for roughly 3,000 of the 10,000 engineering hours saved each year.</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C:\Users\chint\AppData\Local\Temp\claude\C--Users-chint-Development-conquerorchin-companywiki\d81c9c1b-31dc-4543-8328-70b4d6f55840\scratchpad\logos\dropbox.png">    </p:cNvPr>
          <p:cNvPicPr>
            <a:picLocks noChangeAspect="1"/>
          </p:cNvPicPr>
          <p:nvPr/>
        </p:nvPicPr>
        <p:blipFill>
          <a:blip r:embed="rId1"/>
          <a:stretch>
            <a:fillRect/>
          </a:stretch>
        </p:blipFill>
        <p:spPr>
          <a:xfrm>
            <a:off x="548640" y="329184"/>
            <a:ext cx="420624" cy="420624"/>
          </a:xfrm>
          <a:prstGeom prst="rect">
            <a:avLst/>
          </a:prstGeom>
        </p:spPr>
      </p:pic>
      <p:sp>
        <p:nvSpPr>
          <p:cNvPr id="3" name="Text 0"/>
          <p:cNvSpPr txBox="1"/>
          <p:nvPr/>
        </p:nvSpPr>
        <p:spPr>
          <a:xfrm>
            <a:off x="1188720" y="256032"/>
            <a:ext cx="7132320" cy="548640"/>
          </a:xfrm>
          <a:prstGeom prst="rect">
            <a:avLst/>
          </a:prstGeom>
          <a:noFill/>
          <a:ln/>
        </p:spPr>
        <p:txBody>
          <a:bodyPr wrap="square" lIns="0" tIns="0" rIns="0" bIns="0" rtlCol="0" anchor="ctr"/>
          <a:lstStyle/>
          <a:p>
            <a:pPr indent="0" marL="0">
              <a:buNone/>
            </a:pPr>
            <a:r>
              <a:rPr lang="en-US" sz="3000" b="1" dirty="0">
                <a:solidFill>
                  <a:srgbClr val="15181E"/>
                </a:solidFill>
                <a:latin typeface="Cambria" pitchFamily="34" charset="0"/>
                <a:ea typeface="Cambria" pitchFamily="34" charset="-122"/>
                <a:cs typeface="Cambria" pitchFamily="34" charset="-120"/>
              </a:rPr>
              <a:t>Dropbox</a:t>
            </a:r>
            <a:endParaRPr lang="en-US" sz="3000" dirty="0"/>
          </a:p>
        </p:txBody>
      </p:sp>
      <p:sp>
        <p:nvSpPr>
          <p:cNvPr id="4" name="Shape 1"/>
          <p:cNvSpPr/>
          <p:nvPr/>
        </p:nvSpPr>
        <p:spPr>
          <a:xfrm>
            <a:off x="9902952" y="384048"/>
            <a:ext cx="1737360" cy="274320"/>
          </a:xfrm>
          <a:prstGeom prst="roundRect">
            <a:avLst>
              <a:gd name="adj" fmla="val 50000"/>
            </a:avLst>
          </a:prstGeom>
          <a:solidFill>
            <a:srgbClr val="1F6F6B"/>
          </a:solidFill>
          <a:ln/>
        </p:spPr>
      </p:sp>
      <p:sp>
        <p:nvSpPr>
          <p:cNvPr id="5" name="Text 2"/>
          <p:cNvSpPr txBox="1"/>
          <p:nvPr/>
        </p:nvSpPr>
        <p:spPr>
          <a:xfrm>
            <a:off x="9902952" y="384048"/>
            <a:ext cx="17373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FIRST-PARTY</a:t>
            </a:r>
            <a:endParaRPr lang="en-US" sz="850" dirty="0"/>
          </a:p>
        </p:txBody>
      </p:sp>
      <p:sp>
        <p:nvSpPr>
          <p:cNvPr id="6" name="Text 3"/>
          <p:cNvSpPr txBox="1"/>
          <p:nvPr/>
        </p:nvSpPr>
        <p:spPr>
          <a:xfrm>
            <a:off x="548640" y="896112"/>
            <a:ext cx="10881360" cy="457200"/>
          </a:xfrm>
          <a:prstGeom prst="rect">
            <a:avLst/>
          </a:prstGeom>
          <a:noFill/>
          <a:ln/>
        </p:spPr>
        <p:txBody>
          <a:bodyPr wrap="square" lIns="0" tIns="0" rIns="0" bIns="0" rtlCol="0" anchor="t"/>
          <a:lstStyle/>
          <a:p>
            <a:pPr indent="0" marL="0">
              <a:lnSpc>
                <a:spcPct val="105000"/>
              </a:lnSpc>
              <a:buNone/>
            </a:pPr>
            <a:r>
              <a:rPr lang="en-US" sz="1550" b="1" dirty="0">
                <a:solidFill>
                  <a:srgbClr val="15181E"/>
                </a:solidFill>
                <a:latin typeface="Calibri" pitchFamily="34" charset="0"/>
                <a:ea typeface="Calibri" pitchFamily="34" charset="-122"/>
                <a:cs typeface="Calibri" pitchFamily="34" charset="-120"/>
              </a:rPr>
              <a:t>Dash. </a:t>
            </a:r>
            <a:pPr indent="0" marL="0">
              <a:lnSpc>
                <a:spcPct val="105000"/>
              </a:lnSpc>
              <a:buNone/>
            </a:pPr>
            <a:r>
              <a:rPr lang="en-US" sz="1550" dirty="0">
                <a:solidFill>
                  <a:srgbClr val="232833"/>
                </a:solidFill>
                <a:latin typeface="Calibri" pitchFamily="34" charset="0"/>
                <a:ea typeface="Calibri" pitchFamily="34" charset="-122"/>
                <a:cs typeface="Calibri" pitchFamily="34" charset="-120"/>
              </a:rPr>
              <a:t>Simple questions get RAG. Hard ones get an agent that plans in code you can read.</a:t>
            </a:r>
            <a:endParaRPr lang="en-US" sz="1550" dirty="0"/>
          </a:p>
        </p:txBody>
      </p:sp>
      <p:sp>
        <p:nvSpPr>
          <p:cNvPr id="7" name="Shape 4"/>
          <p:cNvSpPr/>
          <p:nvPr/>
        </p:nvSpPr>
        <p:spPr>
          <a:xfrm>
            <a:off x="548640" y="1463040"/>
            <a:ext cx="5399532" cy="2139696"/>
          </a:xfrm>
          <a:prstGeom prst="roundRect">
            <a:avLst>
              <a:gd name="adj" fmla="val 2564"/>
            </a:avLst>
          </a:prstGeom>
          <a:solidFill>
            <a:srgbClr val="F2F2EF"/>
          </a:solidFill>
          <a:ln w="12700">
            <a:solidFill>
              <a:srgbClr val="F2F2EF"/>
            </a:solidFill>
            <a:prstDash val="solid"/>
          </a:ln>
        </p:spPr>
      </p:sp>
      <p:sp>
        <p:nvSpPr>
          <p:cNvPr id="8" name="Shape 5"/>
          <p:cNvSpPr/>
          <p:nvPr/>
        </p:nvSpPr>
        <p:spPr>
          <a:xfrm>
            <a:off x="786384" y="1627632"/>
            <a:ext cx="292608" cy="292608"/>
          </a:xfrm>
          <a:prstGeom prst="ellipse">
            <a:avLst/>
          </a:prstGeom>
          <a:solidFill>
            <a:srgbClr val="C0761A"/>
          </a:solidFill>
          <a:ln/>
        </p:spPr>
      </p:sp>
      <p:sp>
        <p:nvSpPr>
          <p:cNvPr id="9" name="Text 6"/>
          <p:cNvSpPr txBox="1"/>
          <p:nvPr/>
        </p:nvSpPr>
        <p:spPr>
          <a:xfrm>
            <a:off x="786384" y="1627632"/>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mbria" pitchFamily="34" charset="0"/>
                <a:ea typeface="Cambria" pitchFamily="34" charset="-122"/>
                <a:cs typeface="Cambria" pitchFamily="34" charset="-120"/>
              </a:rPr>
              <a:t>I</a:t>
            </a:r>
            <a:endParaRPr lang="en-US" sz="1150" dirty="0"/>
          </a:p>
        </p:txBody>
      </p:sp>
      <p:sp>
        <p:nvSpPr>
          <p:cNvPr id="10" name="Text 7"/>
          <p:cNvSpPr txBox="1"/>
          <p:nvPr/>
        </p:nvSpPr>
        <p:spPr>
          <a:xfrm>
            <a:off x="1188720" y="1627632"/>
            <a:ext cx="4530852" cy="292608"/>
          </a:xfrm>
          <a:prstGeom prst="rect">
            <a:avLst/>
          </a:prstGeom>
          <a:noFill/>
          <a:ln/>
        </p:spPr>
        <p:txBody>
          <a:bodyPr wrap="square" lIns="0" tIns="0" rIns="0" bIns="0" rtlCol="0" anchor="ctr"/>
          <a:lstStyle/>
          <a:p>
            <a:pPr indent="0" marL="0">
              <a:buNone/>
            </a:pPr>
            <a:r>
              <a:rPr lang="en-US" sz="1150" b="1" spc="60" kern="0" dirty="0">
                <a:solidFill>
                  <a:srgbClr val="C0761A"/>
                </a:solidFill>
                <a:latin typeface="Calibri" pitchFamily="34" charset="0"/>
                <a:ea typeface="Calibri" pitchFamily="34" charset="-122"/>
                <a:cs typeface="Calibri" pitchFamily="34" charset="-120"/>
              </a:rPr>
              <a:t>Implementation</a:t>
            </a:r>
            <a:endParaRPr lang="en-US" sz="1150" dirty="0"/>
          </a:p>
        </p:txBody>
      </p:sp>
      <p:sp>
        <p:nvSpPr>
          <p:cNvPr id="11" name="Text 8"/>
          <p:cNvSpPr txBox="1"/>
          <p:nvPr/>
        </p:nvSpPr>
        <p:spPr>
          <a:xfrm>
            <a:off x="822960" y="2011680"/>
            <a:ext cx="4850892" cy="1463040"/>
          </a:xfrm>
          <a:prstGeom prst="rect">
            <a:avLst/>
          </a:prstGeom>
          <a:noFill/>
          <a:ln/>
        </p:spPr>
        <p:txBody>
          <a:bodyPr wrap="square" lIns="0" tIns="0" rIns="0" bIns="0" rtlCol="0" anchor="t"/>
          <a:lstStyle/>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Two tiers: straightforward lookups go through RAG, while complex multi-step work is handed to an agent instead.</a:t>
            </a:r>
            <a:endParaRPr lang="en-US" sz="1100" dirty="0"/>
          </a:p>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The RAG tier combines lexical search with on-the-fly chunking and embedding-based reranking, budgeted to answer 95% of queries in one to two seconds.</a:t>
            </a:r>
            <a:endParaRPr lang="en-US" sz="1100" dirty="0"/>
          </a:p>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For the agent tier the planner emits a Python-like internal DSL, which is validated and run in a security-hardened interpreter Dropbox wrote from scratch.</a:t>
            </a:r>
            <a:endParaRPr lang="en-US" sz="1100" dirty="0"/>
          </a:p>
        </p:txBody>
      </p:sp>
      <p:sp>
        <p:nvSpPr>
          <p:cNvPr id="12" name="Shape 9"/>
          <p:cNvSpPr/>
          <p:nvPr/>
        </p:nvSpPr>
        <p:spPr>
          <a:xfrm>
            <a:off x="6240780" y="1463040"/>
            <a:ext cx="5399532" cy="2139696"/>
          </a:xfrm>
          <a:prstGeom prst="roundRect">
            <a:avLst>
              <a:gd name="adj" fmla="val 2564"/>
            </a:avLst>
          </a:prstGeom>
          <a:solidFill>
            <a:srgbClr val="F2F2EF"/>
          </a:solidFill>
          <a:ln w="12700">
            <a:solidFill>
              <a:srgbClr val="F2F2EF"/>
            </a:solidFill>
            <a:prstDash val="solid"/>
          </a:ln>
        </p:spPr>
      </p:sp>
      <p:sp>
        <p:nvSpPr>
          <p:cNvPr id="13" name="Shape 10"/>
          <p:cNvSpPr/>
          <p:nvPr/>
        </p:nvSpPr>
        <p:spPr>
          <a:xfrm>
            <a:off x="6478524" y="1627632"/>
            <a:ext cx="292608" cy="292608"/>
          </a:xfrm>
          <a:prstGeom prst="ellipse">
            <a:avLst/>
          </a:prstGeom>
          <a:solidFill>
            <a:srgbClr val="1F6F6B"/>
          </a:solidFill>
          <a:ln/>
        </p:spPr>
      </p:sp>
      <p:sp>
        <p:nvSpPr>
          <p:cNvPr id="14" name="Text 11"/>
          <p:cNvSpPr txBox="1"/>
          <p:nvPr/>
        </p:nvSpPr>
        <p:spPr>
          <a:xfrm>
            <a:off x="6478524" y="1627632"/>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mbria" pitchFamily="34" charset="0"/>
                <a:ea typeface="Cambria" pitchFamily="34" charset="-122"/>
                <a:cs typeface="Cambria" pitchFamily="34" charset="-120"/>
              </a:rPr>
              <a:t>P</a:t>
            </a:r>
            <a:endParaRPr lang="en-US" sz="1150" dirty="0"/>
          </a:p>
        </p:txBody>
      </p:sp>
      <p:sp>
        <p:nvSpPr>
          <p:cNvPr id="15" name="Text 12"/>
          <p:cNvSpPr txBox="1"/>
          <p:nvPr/>
        </p:nvSpPr>
        <p:spPr>
          <a:xfrm>
            <a:off x="6880860" y="1627632"/>
            <a:ext cx="4530852" cy="292608"/>
          </a:xfrm>
          <a:prstGeom prst="rect">
            <a:avLst/>
          </a:prstGeom>
          <a:noFill/>
          <a:ln/>
        </p:spPr>
        <p:txBody>
          <a:bodyPr wrap="square" lIns="0" tIns="0" rIns="0" bIns="0" rtlCol="0" anchor="ctr"/>
          <a:lstStyle/>
          <a:p>
            <a:pPr indent="0" marL="0">
              <a:buNone/>
            </a:pPr>
            <a:r>
              <a:rPr lang="en-US" sz="1150" b="1" spc="60" kern="0" dirty="0">
                <a:solidFill>
                  <a:srgbClr val="1F6F6B"/>
                </a:solidFill>
                <a:latin typeface="Calibri" pitchFamily="34" charset="0"/>
                <a:ea typeface="Calibri" pitchFamily="34" charset="-122"/>
                <a:cs typeface="Calibri" pitchFamily="34" charset="-120"/>
              </a:rPr>
              <a:t>Philosophy</a:t>
            </a:r>
            <a:endParaRPr lang="en-US" sz="1150" dirty="0"/>
          </a:p>
        </p:txBody>
      </p:sp>
      <p:sp>
        <p:nvSpPr>
          <p:cNvPr id="16" name="Text 13"/>
          <p:cNvSpPr txBox="1"/>
          <p:nvPr/>
        </p:nvSpPr>
        <p:spPr>
          <a:xfrm>
            <a:off x="6515100" y="2011680"/>
            <a:ext cx="4850892" cy="1463040"/>
          </a:xfrm>
          <a:prstGeom prst="rect">
            <a:avLst/>
          </a:prstGeom>
          <a:noFill/>
          <a:ln/>
        </p:spPr>
        <p:txBody>
          <a:bodyPr wrap="square" lIns="0" tIns="0" rIns="0" bIns="0" rtlCol="0" anchor="t"/>
          <a:lstStyle/>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Making the agent plan in code forces it to show its work, so reasoning becomes inspectable, debuggable and deterministically testable.</a:t>
            </a:r>
            <a:endParaRPr lang="en-US" sz="1100" dirty="0"/>
          </a:p>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They own the interpreter specifically to own the security boundary, with static analysis and runtime type enforcement built into it.</a:t>
            </a:r>
            <a:endParaRPr lang="en-US" sz="1100" dirty="0"/>
          </a:p>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Pick the right tool for each task rather than applying one solution universally, and name the trade-offs instead of pretending they are solved.</a:t>
            </a:r>
            <a:endParaRPr lang="en-US" sz="1100" dirty="0"/>
          </a:p>
        </p:txBody>
      </p:sp>
      <p:sp>
        <p:nvSpPr>
          <p:cNvPr id="17" name="Shape 14"/>
          <p:cNvSpPr/>
          <p:nvPr/>
        </p:nvSpPr>
        <p:spPr>
          <a:xfrm>
            <a:off x="548640" y="3730752"/>
            <a:ext cx="5399532" cy="2139696"/>
          </a:xfrm>
          <a:prstGeom prst="roundRect">
            <a:avLst>
              <a:gd name="adj" fmla="val 2564"/>
            </a:avLst>
          </a:prstGeom>
          <a:solidFill>
            <a:srgbClr val="F2F2EF"/>
          </a:solidFill>
          <a:ln w="12700">
            <a:solidFill>
              <a:srgbClr val="F2F2EF"/>
            </a:solidFill>
            <a:prstDash val="solid"/>
          </a:ln>
        </p:spPr>
      </p:sp>
      <p:sp>
        <p:nvSpPr>
          <p:cNvPr id="18" name="Shape 15"/>
          <p:cNvSpPr/>
          <p:nvPr/>
        </p:nvSpPr>
        <p:spPr>
          <a:xfrm>
            <a:off x="786384" y="3895344"/>
            <a:ext cx="292608" cy="292608"/>
          </a:xfrm>
          <a:prstGeom prst="ellipse">
            <a:avLst/>
          </a:prstGeom>
          <a:solidFill>
            <a:srgbClr val="8E3350"/>
          </a:solidFill>
          <a:ln/>
        </p:spPr>
      </p:sp>
      <p:sp>
        <p:nvSpPr>
          <p:cNvPr id="19" name="Text 16"/>
          <p:cNvSpPr txBox="1"/>
          <p:nvPr/>
        </p:nvSpPr>
        <p:spPr>
          <a:xfrm>
            <a:off x="786384" y="3895344"/>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mbria" pitchFamily="34" charset="0"/>
                <a:ea typeface="Cambria" pitchFamily="34" charset="-122"/>
                <a:cs typeface="Cambria" pitchFamily="34" charset="-120"/>
              </a:rPr>
              <a:t>U</a:t>
            </a:r>
            <a:endParaRPr lang="en-US" sz="1150" dirty="0"/>
          </a:p>
        </p:txBody>
      </p:sp>
      <p:sp>
        <p:nvSpPr>
          <p:cNvPr id="20" name="Text 17"/>
          <p:cNvSpPr txBox="1"/>
          <p:nvPr/>
        </p:nvSpPr>
        <p:spPr>
          <a:xfrm>
            <a:off x="1188720" y="3895344"/>
            <a:ext cx="4530852" cy="292608"/>
          </a:xfrm>
          <a:prstGeom prst="rect">
            <a:avLst/>
          </a:prstGeom>
          <a:noFill/>
          <a:ln/>
        </p:spPr>
        <p:txBody>
          <a:bodyPr wrap="square" lIns="0" tIns="0" rIns="0" bIns="0" rtlCol="0" anchor="ctr"/>
          <a:lstStyle/>
          <a:p>
            <a:pPr indent="0" marL="0">
              <a:buNone/>
            </a:pPr>
            <a:r>
              <a:rPr lang="en-US" sz="1150" b="1" spc="60" kern="0" dirty="0">
                <a:solidFill>
                  <a:srgbClr val="8E3350"/>
                </a:solidFill>
                <a:latin typeface="Calibri" pitchFamily="34" charset="0"/>
                <a:ea typeface="Calibri" pitchFamily="34" charset="-122"/>
                <a:cs typeface="Calibri" pitchFamily="34" charset="-120"/>
              </a:rPr>
              <a:t>How it's used</a:t>
            </a:r>
            <a:endParaRPr lang="en-US" sz="1150" dirty="0"/>
          </a:p>
        </p:txBody>
      </p:sp>
      <p:sp>
        <p:nvSpPr>
          <p:cNvPr id="21" name="Text 18"/>
          <p:cNvSpPr txBox="1"/>
          <p:nvPr/>
        </p:nvSpPr>
        <p:spPr>
          <a:xfrm>
            <a:off x="822960" y="4279392"/>
            <a:ext cx="4850892" cy="1463040"/>
          </a:xfrm>
          <a:prstGeom prst="rect">
            <a:avLst/>
          </a:prstGeom>
          <a:noFill/>
          <a:ln/>
        </p:spPr>
        <p:txBody>
          <a:bodyPr wrap="square" lIns="0" tIns="0" rIns="0" bIns="0" rtlCol="0" anchor="t"/>
          <a:lstStyle/>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Answers span scattered email, docs, notes and task tools, across text, images, audio and video.</a:t>
            </a:r>
            <a:endParaRPr lang="en-US" sz="1100" dirty="0"/>
          </a:p>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Over 95% of queries return in one to two seconds, which is the constraint the whole RAG tier is designed around.</a:t>
            </a:r>
            <a:endParaRPr lang="en-US" sz="1100" dirty="0"/>
          </a:p>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The users are external business customers rather than engineers, which is why an inspectable audit trail matters so much here.</a:t>
            </a:r>
            <a:endParaRPr lang="en-US" sz="1100" dirty="0"/>
          </a:p>
        </p:txBody>
      </p:sp>
      <p:sp>
        <p:nvSpPr>
          <p:cNvPr id="22" name="Shape 19"/>
          <p:cNvSpPr/>
          <p:nvPr/>
        </p:nvSpPr>
        <p:spPr>
          <a:xfrm>
            <a:off x="6240780" y="3730752"/>
            <a:ext cx="5399532" cy="2139696"/>
          </a:xfrm>
          <a:prstGeom prst="roundRect">
            <a:avLst>
              <a:gd name="adj" fmla="val 2564"/>
            </a:avLst>
          </a:prstGeom>
          <a:solidFill>
            <a:srgbClr val="F2F2EF"/>
          </a:solidFill>
          <a:ln w="12700">
            <a:solidFill>
              <a:srgbClr val="F2F2EF"/>
            </a:solidFill>
            <a:prstDash val="solid"/>
          </a:ln>
        </p:spPr>
      </p:sp>
      <p:sp>
        <p:nvSpPr>
          <p:cNvPr id="23" name="Shape 20"/>
          <p:cNvSpPr/>
          <p:nvPr/>
        </p:nvSpPr>
        <p:spPr>
          <a:xfrm>
            <a:off x="6478524" y="3895344"/>
            <a:ext cx="292608" cy="292608"/>
          </a:xfrm>
          <a:prstGeom prst="ellipse">
            <a:avLst/>
          </a:prstGeom>
          <a:solidFill>
            <a:srgbClr val="3C4759"/>
          </a:solidFill>
          <a:ln/>
        </p:spPr>
      </p:sp>
      <p:sp>
        <p:nvSpPr>
          <p:cNvPr id="24" name="Text 21"/>
          <p:cNvSpPr txBox="1"/>
          <p:nvPr/>
        </p:nvSpPr>
        <p:spPr>
          <a:xfrm>
            <a:off x="6478524" y="3895344"/>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mbria" pitchFamily="34" charset="0"/>
                <a:ea typeface="Cambria" pitchFamily="34" charset="-122"/>
                <a:cs typeface="Cambria" pitchFamily="34" charset="-120"/>
              </a:rPr>
              <a:t>M</a:t>
            </a:r>
            <a:endParaRPr lang="en-US" sz="1150" dirty="0"/>
          </a:p>
        </p:txBody>
      </p:sp>
      <p:sp>
        <p:nvSpPr>
          <p:cNvPr id="25" name="Text 22"/>
          <p:cNvSpPr txBox="1"/>
          <p:nvPr/>
        </p:nvSpPr>
        <p:spPr>
          <a:xfrm>
            <a:off x="6880860" y="3895344"/>
            <a:ext cx="4530852" cy="292608"/>
          </a:xfrm>
          <a:prstGeom prst="rect">
            <a:avLst/>
          </a:prstGeom>
          <a:noFill/>
          <a:ln/>
        </p:spPr>
        <p:txBody>
          <a:bodyPr wrap="square" lIns="0" tIns="0" rIns="0" bIns="0" rtlCol="0" anchor="ctr"/>
          <a:lstStyle/>
          <a:p>
            <a:pPr indent="0" marL="0">
              <a:buNone/>
            </a:pPr>
            <a:r>
              <a:rPr lang="en-US" sz="1150" b="1" spc="60" kern="0" dirty="0">
                <a:solidFill>
                  <a:srgbClr val="3C4759"/>
                </a:solidFill>
                <a:latin typeface="Calibri" pitchFamily="34" charset="0"/>
                <a:ea typeface="Calibri" pitchFamily="34" charset="-122"/>
                <a:cs typeface="Calibri" pitchFamily="34" charset="-120"/>
              </a:rPr>
              <a:t>Maintenance</a:t>
            </a:r>
            <a:endParaRPr lang="en-US" sz="1150" dirty="0"/>
          </a:p>
        </p:txBody>
      </p:sp>
      <p:sp>
        <p:nvSpPr>
          <p:cNvPr id="26" name="Text 23"/>
          <p:cNvSpPr txBox="1"/>
          <p:nvPr/>
        </p:nvSpPr>
        <p:spPr>
          <a:xfrm>
            <a:off x="6515100" y="4279392"/>
            <a:ext cx="4850892" cy="1463040"/>
          </a:xfrm>
          <a:prstGeom prst="rect">
            <a:avLst/>
          </a:prstGeom>
          <a:noFill/>
          <a:ln/>
        </p:spPr>
        <p:txBody>
          <a:bodyPr wrap="square" lIns="0" tIns="0" rIns="0" bIns="0" rtlCol="0" anchor="t"/>
          <a:lstStyle/>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Model selection is re-run against Natural Questions, MuSiQue and MS MARCO whenever a candidate model changes.</a:t>
            </a:r>
            <a:endParaRPr lang="en-US" sz="1100" dirty="0"/>
          </a:p>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Custom LLM judges score correctness and completeness, measuring things the public benchmarks do not capture.</a:t>
            </a:r>
            <a:endParaRPr lang="en-US" sz="1100" dirty="0"/>
          </a:p>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Their hard-won lesson is that prompts do not transfer between models, so every model swap carries real tuning cost.</a:t>
            </a:r>
            <a:endParaRPr lang="en-US" sz="1100" dirty="0"/>
          </a:p>
        </p:txBody>
      </p:sp>
      <p:sp>
        <p:nvSpPr>
          <p:cNvPr id="27" name="Text 24"/>
          <p:cNvSpPr txBox="1"/>
          <p:nvPr/>
        </p:nvSpPr>
        <p:spPr>
          <a:xfrm>
            <a:off x="548640" y="5943600"/>
            <a:ext cx="2544318" cy="310896"/>
          </a:xfrm>
          <a:prstGeom prst="rect">
            <a:avLst/>
          </a:prstGeom>
          <a:noFill/>
          <a:ln/>
        </p:spPr>
        <p:txBody>
          <a:bodyPr wrap="square" lIns="0" tIns="0" rIns="0" bIns="0" rtlCol="0" anchor="b"/>
          <a:lstStyle/>
          <a:p>
            <a:pPr indent="0" marL="0">
              <a:buNone/>
            </a:pPr>
            <a:r>
              <a:rPr lang="en-US" sz="1900" b="1" dirty="0">
                <a:solidFill>
                  <a:srgbClr val="15181E"/>
                </a:solidFill>
                <a:latin typeface="Cambria" pitchFamily="34" charset="0"/>
                <a:ea typeface="Cambria" pitchFamily="34" charset="-122"/>
                <a:cs typeface="Cambria" pitchFamily="34" charset="-120"/>
              </a:rPr>
              <a:t>1-2 s</a:t>
            </a:r>
            <a:endParaRPr lang="en-US" sz="1900" dirty="0"/>
          </a:p>
        </p:txBody>
      </p:sp>
      <p:sp>
        <p:nvSpPr>
          <p:cNvPr id="28" name="Text 25"/>
          <p:cNvSpPr txBox="1"/>
          <p:nvPr/>
        </p:nvSpPr>
        <p:spPr>
          <a:xfrm>
            <a:off x="548640" y="6272784"/>
            <a:ext cx="2544318" cy="475488"/>
          </a:xfrm>
          <a:prstGeom prst="rect">
            <a:avLst/>
          </a:prstGeom>
          <a:noFill/>
          <a:ln/>
        </p:spPr>
        <p:txBody>
          <a:bodyPr wrap="square" lIns="0" tIns="0" rIns="0" bIns="0" rtlCol="0" anchor="t"/>
          <a:lstStyle/>
          <a:p>
            <a:pPr indent="0" marL="0">
              <a:lnSpc>
                <a:spcPct val="106000"/>
              </a:lnSpc>
              <a:buNone/>
            </a:pPr>
            <a:r>
              <a:rPr lang="en-US" sz="950" dirty="0">
                <a:solidFill>
                  <a:srgbClr val="6E7480"/>
                </a:solidFill>
                <a:latin typeface="Calibri" pitchFamily="34" charset="0"/>
                <a:ea typeface="Calibri" pitchFamily="34" charset="-122"/>
                <a:cs typeface="Calibri" pitchFamily="34" charset="-120"/>
              </a:rPr>
              <a:t>to answer more than 95% of queries</a:t>
            </a:r>
            <a:endParaRPr lang="en-US" sz="950" dirty="0"/>
          </a:p>
        </p:txBody>
      </p:sp>
      <p:sp>
        <p:nvSpPr>
          <p:cNvPr id="29" name="Text 26"/>
          <p:cNvSpPr txBox="1"/>
          <p:nvPr/>
        </p:nvSpPr>
        <p:spPr>
          <a:xfrm>
            <a:off x="3321558" y="5943600"/>
            <a:ext cx="2544318" cy="310896"/>
          </a:xfrm>
          <a:prstGeom prst="rect">
            <a:avLst/>
          </a:prstGeom>
          <a:noFill/>
          <a:ln/>
        </p:spPr>
        <p:txBody>
          <a:bodyPr wrap="square" lIns="0" tIns="0" rIns="0" bIns="0" rtlCol="0" anchor="b"/>
          <a:lstStyle/>
          <a:p>
            <a:pPr indent="0" marL="0">
              <a:buNone/>
            </a:pPr>
            <a:r>
              <a:rPr lang="en-US" sz="1900" b="1" dirty="0">
                <a:solidFill>
                  <a:srgbClr val="15181E"/>
                </a:solidFill>
                <a:latin typeface="Cambria" pitchFamily="34" charset="0"/>
                <a:ea typeface="Cambria" pitchFamily="34" charset="-122"/>
                <a:cs typeface="Cambria" pitchFamily="34" charset="-120"/>
              </a:rPr>
              <a:t>2 tiers</a:t>
            </a:r>
            <a:endParaRPr lang="en-US" sz="1900" dirty="0"/>
          </a:p>
        </p:txBody>
      </p:sp>
      <p:sp>
        <p:nvSpPr>
          <p:cNvPr id="30" name="Text 27"/>
          <p:cNvSpPr txBox="1"/>
          <p:nvPr/>
        </p:nvSpPr>
        <p:spPr>
          <a:xfrm>
            <a:off x="3321558" y="6272784"/>
            <a:ext cx="2544318" cy="475488"/>
          </a:xfrm>
          <a:prstGeom prst="rect">
            <a:avLst/>
          </a:prstGeom>
          <a:noFill/>
          <a:ln/>
        </p:spPr>
        <p:txBody>
          <a:bodyPr wrap="square" lIns="0" tIns="0" rIns="0" bIns="0" rtlCol="0" anchor="t"/>
          <a:lstStyle/>
          <a:p>
            <a:pPr indent="0" marL="0">
              <a:lnSpc>
                <a:spcPct val="106000"/>
              </a:lnSpc>
              <a:buNone/>
            </a:pPr>
            <a:r>
              <a:rPr lang="en-US" sz="950" dirty="0">
                <a:solidFill>
                  <a:srgbClr val="6E7480"/>
                </a:solidFill>
                <a:latin typeface="Calibri" pitchFamily="34" charset="0"/>
                <a:ea typeface="Calibri" pitchFamily="34" charset="-122"/>
                <a:cs typeface="Calibri" pitchFamily="34" charset="-120"/>
              </a:rPr>
              <a:t>RAG for lookups, agents for multi-step work</a:t>
            </a:r>
            <a:endParaRPr lang="en-US" sz="950" dirty="0"/>
          </a:p>
        </p:txBody>
      </p:sp>
      <p:sp>
        <p:nvSpPr>
          <p:cNvPr id="31" name="Text 28"/>
          <p:cNvSpPr txBox="1"/>
          <p:nvPr/>
        </p:nvSpPr>
        <p:spPr>
          <a:xfrm>
            <a:off x="6094476" y="5943600"/>
            <a:ext cx="2544318" cy="310896"/>
          </a:xfrm>
          <a:prstGeom prst="rect">
            <a:avLst/>
          </a:prstGeom>
          <a:noFill/>
          <a:ln/>
        </p:spPr>
        <p:txBody>
          <a:bodyPr wrap="square" lIns="0" tIns="0" rIns="0" bIns="0" rtlCol="0" anchor="b"/>
          <a:lstStyle/>
          <a:p>
            <a:pPr indent="0" marL="0">
              <a:buNone/>
            </a:pPr>
            <a:r>
              <a:rPr lang="en-US" sz="1900" b="1" dirty="0">
                <a:solidFill>
                  <a:srgbClr val="15181E"/>
                </a:solidFill>
                <a:latin typeface="Cambria" pitchFamily="34" charset="0"/>
                <a:ea typeface="Cambria" pitchFamily="34" charset="-122"/>
                <a:cs typeface="Cambria" pitchFamily="34" charset="-120"/>
              </a:rPr>
              <a:t>1 DSL</a:t>
            </a:r>
            <a:endParaRPr lang="en-US" sz="1900" dirty="0"/>
          </a:p>
        </p:txBody>
      </p:sp>
      <p:sp>
        <p:nvSpPr>
          <p:cNvPr id="32" name="Text 29"/>
          <p:cNvSpPr txBox="1"/>
          <p:nvPr/>
        </p:nvSpPr>
        <p:spPr>
          <a:xfrm>
            <a:off x="6094476" y="6272784"/>
            <a:ext cx="2544318" cy="475488"/>
          </a:xfrm>
          <a:prstGeom prst="rect">
            <a:avLst/>
          </a:prstGeom>
          <a:noFill/>
          <a:ln/>
        </p:spPr>
        <p:txBody>
          <a:bodyPr wrap="square" lIns="0" tIns="0" rIns="0" bIns="0" rtlCol="0" anchor="t"/>
          <a:lstStyle/>
          <a:p>
            <a:pPr indent="0" marL="0">
              <a:lnSpc>
                <a:spcPct val="106000"/>
              </a:lnSpc>
              <a:buNone/>
            </a:pPr>
            <a:r>
              <a:rPr lang="en-US" sz="950" dirty="0">
                <a:solidFill>
                  <a:srgbClr val="6E7480"/>
                </a:solidFill>
                <a:latin typeface="Calibri" pitchFamily="34" charset="0"/>
                <a:ea typeface="Calibri" pitchFamily="34" charset="-122"/>
                <a:cs typeface="Calibri" pitchFamily="34" charset="-120"/>
              </a:rPr>
              <a:t>run inside an interpreter built in-house</a:t>
            </a:r>
            <a:endParaRPr lang="en-US" sz="950" dirty="0"/>
          </a:p>
        </p:txBody>
      </p:sp>
      <p:sp>
        <p:nvSpPr>
          <p:cNvPr id="33" name="Text 30"/>
          <p:cNvSpPr txBox="1"/>
          <p:nvPr/>
        </p:nvSpPr>
        <p:spPr>
          <a:xfrm>
            <a:off x="8867394" y="5943600"/>
            <a:ext cx="2544318" cy="310896"/>
          </a:xfrm>
          <a:prstGeom prst="rect">
            <a:avLst/>
          </a:prstGeom>
          <a:noFill/>
          <a:ln/>
        </p:spPr>
        <p:txBody>
          <a:bodyPr wrap="square" lIns="0" tIns="0" rIns="0" bIns="0" rtlCol="0" anchor="b"/>
          <a:lstStyle/>
          <a:p>
            <a:pPr indent="0" marL="0">
              <a:buNone/>
            </a:pPr>
            <a:r>
              <a:rPr lang="en-US" sz="1900" b="1" dirty="0">
                <a:solidFill>
                  <a:srgbClr val="15181E"/>
                </a:solidFill>
                <a:latin typeface="Cambria" pitchFamily="34" charset="0"/>
                <a:ea typeface="Cambria" pitchFamily="34" charset="-122"/>
                <a:cs typeface="Cambria" pitchFamily="34" charset="-120"/>
              </a:rPr>
              <a:t>3</a:t>
            </a:r>
            <a:endParaRPr lang="en-US" sz="1900" dirty="0"/>
          </a:p>
        </p:txBody>
      </p:sp>
      <p:sp>
        <p:nvSpPr>
          <p:cNvPr id="34" name="Text 31"/>
          <p:cNvSpPr txBox="1"/>
          <p:nvPr/>
        </p:nvSpPr>
        <p:spPr>
          <a:xfrm>
            <a:off x="8867394" y="6272784"/>
            <a:ext cx="2544318" cy="475488"/>
          </a:xfrm>
          <a:prstGeom prst="rect">
            <a:avLst/>
          </a:prstGeom>
          <a:noFill/>
          <a:ln/>
        </p:spPr>
        <p:txBody>
          <a:bodyPr wrap="square" lIns="0" tIns="0" rIns="0" bIns="0" rtlCol="0" anchor="t"/>
          <a:lstStyle/>
          <a:p>
            <a:pPr indent="0" marL="0">
              <a:lnSpc>
                <a:spcPct val="106000"/>
              </a:lnSpc>
              <a:buNone/>
            </a:pPr>
            <a:r>
              <a:rPr lang="en-US" sz="950" dirty="0">
                <a:solidFill>
                  <a:srgbClr val="6E7480"/>
                </a:solidFill>
                <a:latin typeface="Calibri" pitchFamily="34" charset="0"/>
                <a:ea typeface="Calibri" pitchFamily="34" charset="-122"/>
                <a:cs typeface="Calibri" pitchFamily="34" charset="-120"/>
              </a:rPr>
              <a:t>trade-offs named openly in the write-up</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C:\Users\chint\AppData\Local\Temp\claude\C--Users-chint-Development-conquerorchin-companywiki\d81c9c1b-31dc-4543-8328-70b4d6f55840\scratchpad\logos\dropbox.png">    </p:cNvPr>
          <p:cNvPicPr>
            <a:picLocks noChangeAspect="1"/>
          </p:cNvPicPr>
          <p:nvPr/>
        </p:nvPicPr>
        <p:blipFill>
          <a:blip r:embed="rId1"/>
          <a:stretch>
            <a:fillRect/>
          </a:stretch>
        </p:blipFill>
        <p:spPr>
          <a:xfrm>
            <a:off x="548640" y="310896"/>
            <a:ext cx="365760" cy="365760"/>
          </a:xfrm>
          <a:prstGeom prst="rect">
            <a:avLst/>
          </a:prstGeom>
        </p:spPr>
      </p:pic>
      <p:sp>
        <p:nvSpPr>
          <p:cNvPr id="3" name="Text 0"/>
          <p:cNvSpPr txBox="1"/>
          <p:nvPr/>
        </p:nvSpPr>
        <p:spPr>
          <a:xfrm>
            <a:off x="1133856" y="237744"/>
            <a:ext cx="7132320" cy="548640"/>
          </a:xfrm>
          <a:prstGeom prst="rect">
            <a:avLst/>
          </a:prstGeom>
          <a:noFill/>
          <a:ln/>
        </p:spPr>
        <p:txBody>
          <a:bodyPr wrap="square" lIns="0" tIns="0" rIns="0" bIns="0" rtlCol="0" anchor="ctr"/>
          <a:lstStyle/>
          <a:p>
            <a:pPr indent="0" marL="0">
              <a:buNone/>
            </a:pPr>
            <a:r>
              <a:rPr lang="en-US" sz="2400" b="1" dirty="0">
                <a:solidFill>
                  <a:srgbClr val="15181E"/>
                </a:solidFill>
                <a:latin typeface="Cambria" pitchFamily="34" charset="0"/>
                <a:ea typeface="Cambria" pitchFamily="34" charset="-122"/>
                <a:cs typeface="Cambria" pitchFamily="34" charset="-120"/>
              </a:rPr>
              <a:t>Dropbox</a:t>
            </a:r>
            <a:endParaRPr lang="en-US" sz="2400" dirty="0"/>
          </a:p>
        </p:txBody>
      </p:sp>
      <p:sp>
        <p:nvSpPr>
          <p:cNvPr id="4" name="Shape 1"/>
          <p:cNvSpPr/>
          <p:nvPr/>
        </p:nvSpPr>
        <p:spPr>
          <a:xfrm>
            <a:off x="9902952" y="347472"/>
            <a:ext cx="1737360" cy="274320"/>
          </a:xfrm>
          <a:prstGeom prst="roundRect">
            <a:avLst>
              <a:gd name="adj" fmla="val 50000"/>
            </a:avLst>
          </a:prstGeom>
          <a:solidFill>
            <a:srgbClr val="1F6F6B"/>
          </a:solidFill>
          <a:ln/>
        </p:spPr>
      </p:sp>
      <p:sp>
        <p:nvSpPr>
          <p:cNvPr id="5" name="Text 2"/>
          <p:cNvSpPr txBox="1"/>
          <p:nvPr/>
        </p:nvSpPr>
        <p:spPr>
          <a:xfrm>
            <a:off x="9902952" y="347472"/>
            <a:ext cx="17373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FIRST-PARTY</a:t>
            </a:r>
            <a:endParaRPr lang="en-US" sz="850" dirty="0"/>
          </a:p>
        </p:txBody>
      </p:sp>
      <p:sp>
        <p:nvSpPr>
          <p:cNvPr id="6" name="Text 3"/>
          <p:cNvSpPr txBox="1"/>
          <p:nvPr/>
        </p:nvSpPr>
        <p:spPr>
          <a:xfrm>
            <a:off x="548640" y="786384"/>
            <a:ext cx="10881360" cy="402336"/>
          </a:xfrm>
          <a:prstGeom prst="rect">
            <a:avLst/>
          </a:prstGeom>
          <a:noFill/>
          <a:ln/>
        </p:spPr>
        <p:txBody>
          <a:bodyPr wrap="square" lIns="0" tIns="0" rIns="0" bIns="0" rtlCol="0" anchor="t"/>
          <a:lstStyle/>
          <a:p>
            <a:pPr indent="0" marL="0">
              <a:lnSpc>
                <a:spcPct val="106000"/>
              </a:lnSpc>
              <a:buNone/>
            </a:pPr>
            <a:r>
              <a:rPr lang="en-US" sz="1450" dirty="0">
                <a:solidFill>
                  <a:srgbClr val="232833"/>
                </a:solidFill>
                <a:latin typeface="Calibri" pitchFamily="34" charset="0"/>
                <a:ea typeface="Calibri" pitchFamily="34" charset="-122"/>
                <a:cs typeface="Calibri" pitchFamily="34" charset="-120"/>
              </a:rPr>
              <a:t>The only architecture here that forks. A query is classified first, and the two paths share almost nothing downstream.</a:t>
            </a:r>
            <a:endParaRPr lang="en-US" sz="1450" dirty="0"/>
          </a:p>
        </p:txBody>
      </p:sp>
      <p:sp>
        <p:nvSpPr>
          <p:cNvPr id="7" name="Text 4"/>
          <p:cNvSpPr txBox="1"/>
          <p:nvPr/>
        </p:nvSpPr>
        <p:spPr>
          <a:xfrm>
            <a:off x="548640" y="1316736"/>
            <a:ext cx="5486400" cy="201168"/>
          </a:xfrm>
          <a:prstGeom prst="rect">
            <a:avLst/>
          </a:prstGeom>
          <a:noFill/>
          <a:ln/>
        </p:spPr>
        <p:txBody>
          <a:bodyPr wrap="square" lIns="0" tIns="0" rIns="0" bIns="0" rtlCol="0" anchor="ctr"/>
          <a:lstStyle/>
          <a:p>
            <a:pPr indent="0" marL="0">
              <a:buNone/>
            </a:pPr>
            <a:r>
              <a:rPr lang="en-US" sz="950" b="1" spc="200" kern="0" dirty="0">
                <a:solidFill>
                  <a:srgbClr val="C0761A"/>
                </a:solidFill>
                <a:latin typeface="Calibri" pitchFamily="34" charset="0"/>
                <a:ea typeface="Calibri" pitchFamily="34" charset="-122"/>
                <a:cs typeface="Calibri" pitchFamily="34" charset="-120"/>
              </a:rPr>
              <a:t>SIMPLE LOOKUPS</a:t>
            </a:r>
            <a:endParaRPr lang="en-US" sz="950" dirty="0"/>
          </a:p>
        </p:txBody>
      </p:sp>
      <p:sp>
        <p:nvSpPr>
          <p:cNvPr id="8" name="Shape 5"/>
          <p:cNvSpPr/>
          <p:nvPr/>
        </p:nvSpPr>
        <p:spPr>
          <a:xfrm>
            <a:off x="548640" y="1554480"/>
            <a:ext cx="3465576" cy="1060704"/>
          </a:xfrm>
          <a:prstGeom prst="roundRect">
            <a:avLst>
              <a:gd name="adj" fmla="val 5172"/>
            </a:avLst>
          </a:prstGeom>
          <a:solidFill>
            <a:srgbClr val="F2F2EF"/>
          </a:solidFill>
          <a:ln w="12700">
            <a:solidFill>
              <a:srgbClr val="F2F2EF"/>
            </a:solidFill>
            <a:prstDash val="solid"/>
          </a:ln>
        </p:spPr>
      </p:sp>
      <p:sp>
        <p:nvSpPr>
          <p:cNvPr id="9" name="Text 6"/>
          <p:cNvSpPr txBox="1"/>
          <p:nvPr/>
        </p:nvSpPr>
        <p:spPr>
          <a:xfrm>
            <a:off x="749808" y="1627632"/>
            <a:ext cx="3063240" cy="256032"/>
          </a:xfrm>
          <a:prstGeom prst="rect">
            <a:avLst/>
          </a:prstGeom>
          <a:noFill/>
          <a:ln/>
        </p:spPr>
        <p:txBody>
          <a:bodyPr wrap="square" lIns="0" tIns="0" rIns="0" bIns="0" rtlCol="0" anchor="ctr"/>
          <a:lstStyle/>
          <a:p>
            <a:pPr indent="0" marL="0">
              <a:buNone/>
            </a:pPr>
            <a:r>
              <a:rPr lang="en-US" sz="1150" b="1" dirty="0">
                <a:solidFill>
                  <a:srgbClr val="C0761A"/>
                </a:solidFill>
                <a:latin typeface="Calibri" pitchFamily="34" charset="0"/>
                <a:ea typeface="Calibri" pitchFamily="34" charset="-122"/>
                <a:cs typeface="Calibri" pitchFamily="34" charset="-120"/>
              </a:rPr>
              <a:t>Hybrid retrieval</a:t>
            </a:r>
            <a:endParaRPr lang="en-US" sz="1150" dirty="0"/>
          </a:p>
        </p:txBody>
      </p:sp>
      <p:sp>
        <p:nvSpPr>
          <p:cNvPr id="10" name="Text 7"/>
          <p:cNvSpPr txBox="1"/>
          <p:nvPr/>
        </p:nvSpPr>
        <p:spPr>
          <a:xfrm>
            <a:off x="749808" y="1901952"/>
            <a:ext cx="3063240" cy="640080"/>
          </a:xfrm>
          <a:prstGeom prst="rect">
            <a:avLst/>
          </a:prstGeom>
          <a:noFill/>
          <a:ln/>
        </p:spPr>
        <p:txBody>
          <a:bodyPr wrap="square" lIns="0" tIns="0" rIns="0" bIns="0" rtlCol="0" anchor="t"/>
          <a:lstStyle/>
          <a:p>
            <a:pPr indent="0" marL="0">
              <a:lnSpc>
                <a:spcPct val="105000"/>
              </a:lnSpc>
              <a:buNone/>
            </a:pPr>
            <a:r>
              <a:rPr lang="en-US" sz="1000" dirty="0">
                <a:solidFill>
                  <a:srgbClr val="232833"/>
                </a:solidFill>
                <a:latin typeface="Calibri" pitchFamily="34" charset="0"/>
                <a:ea typeface="Calibri" pitchFamily="34" charset="-122"/>
                <a:cs typeface="Calibri" pitchFamily="34" charset="-120"/>
              </a:rPr>
              <a:t>Lexical search runs alongside vectors, because neither alone was good enough.</a:t>
            </a:r>
            <a:endParaRPr lang="en-US" sz="1000" dirty="0"/>
          </a:p>
        </p:txBody>
      </p:sp>
      <p:sp>
        <p:nvSpPr>
          <p:cNvPr id="11" name="Text 8"/>
          <p:cNvSpPr txBox="1"/>
          <p:nvPr/>
        </p:nvSpPr>
        <p:spPr>
          <a:xfrm>
            <a:off x="4014216" y="1554480"/>
            <a:ext cx="347472" cy="1060704"/>
          </a:xfrm>
          <a:prstGeom prst="rect">
            <a:avLst/>
          </a:prstGeom>
          <a:noFill/>
          <a:ln/>
        </p:spPr>
        <p:txBody>
          <a:bodyPr wrap="square" lIns="0" tIns="0" rIns="0" bIns="0" rtlCol="0" anchor="ctr"/>
          <a:lstStyle/>
          <a:p>
            <a:pPr algn="ctr" indent="0" marL="0">
              <a:buNone/>
            </a:pPr>
            <a:r>
              <a:rPr lang="en-US" sz="1900" b="1" dirty="0">
                <a:solidFill>
                  <a:srgbClr val="A8AEBB"/>
                </a:solidFill>
                <a:latin typeface="Calibri" pitchFamily="34" charset="0"/>
                <a:ea typeface="Calibri" pitchFamily="34" charset="-122"/>
                <a:cs typeface="Calibri" pitchFamily="34" charset="-120"/>
              </a:rPr>
              <a:t>›</a:t>
            </a:r>
            <a:endParaRPr lang="en-US" sz="1900" dirty="0"/>
          </a:p>
        </p:txBody>
      </p:sp>
      <p:sp>
        <p:nvSpPr>
          <p:cNvPr id="12" name="Shape 9"/>
          <p:cNvSpPr/>
          <p:nvPr/>
        </p:nvSpPr>
        <p:spPr>
          <a:xfrm>
            <a:off x="4361688" y="1554480"/>
            <a:ext cx="3465576" cy="1060704"/>
          </a:xfrm>
          <a:prstGeom prst="roundRect">
            <a:avLst>
              <a:gd name="adj" fmla="val 5172"/>
            </a:avLst>
          </a:prstGeom>
          <a:solidFill>
            <a:srgbClr val="F2F2EF"/>
          </a:solidFill>
          <a:ln w="12700">
            <a:solidFill>
              <a:srgbClr val="F2F2EF"/>
            </a:solidFill>
            <a:prstDash val="solid"/>
          </a:ln>
        </p:spPr>
      </p:sp>
      <p:sp>
        <p:nvSpPr>
          <p:cNvPr id="13" name="Text 10"/>
          <p:cNvSpPr txBox="1"/>
          <p:nvPr/>
        </p:nvSpPr>
        <p:spPr>
          <a:xfrm>
            <a:off x="4562856" y="1627632"/>
            <a:ext cx="3063240" cy="256032"/>
          </a:xfrm>
          <a:prstGeom prst="rect">
            <a:avLst/>
          </a:prstGeom>
          <a:noFill/>
          <a:ln/>
        </p:spPr>
        <p:txBody>
          <a:bodyPr wrap="square" lIns="0" tIns="0" rIns="0" bIns="0" rtlCol="0" anchor="ctr"/>
          <a:lstStyle/>
          <a:p>
            <a:pPr indent="0" marL="0">
              <a:buNone/>
            </a:pPr>
            <a:r>
              <a:rPr lang="en-US" sz="1150" b="1" dirty="0">
                <a:solidFill>
                  <a:srgbClr val="C0761A"/>
                </a:solidFill>
                <a:latin typeface="Calibri" pitchFamily="34" charset="0"/>
                <a:ea typeface="Calibri" pitchFamily="34" charset="-122"/>
                <a:cs typeface="Calibri" pitchFamily="34" charset="-120"/>
              </a:rPr>
              <a:t>Chunk and rerank</a:t>
            </a:r>
            <a:endParaRPr lang="en-US" sz="1150" dirty="0"/>
          </a:p>
        </p:txBody>
      </p:sp>
      <p:sp>
        <p:nvSpPr>
          <p:cNvPr id="14" name="Text 11"/>
          <p:cNvSpPr txBox="1"/>
          <p:nvPr/>
        </p:nvSpPr>
        <p:spPr>
          <a:xfrm>
            <a:off x="4562856" y="1901952"/>
            <a:ext cx="3063240" cy="640080"/>
          </a:xfrm>
          <a:prstGeom prst="rect">
            <a:avLst/>
          </a:prstGeom>
          <a:noFill/>
          <a:ln/>
        </p:spPr>
        <p:txBody>
          <a:bodyPr wrap="square" lIns="0" tIns="0" rIns="0" bIns="0" rtlCol="0" anchor="t"/>
          <a:lstStyle/>
          <a:p>
            <a:pPr indent="0" marL="0">
              <a:lnSpc>
                <a:spcPct val="105000"/>
              </a:lnSpc>
              <a:buNone/>
            </a:pPr>
            <a:r>
              <a:rPr lang="en-US" sz="1000" dirty="0">
                <a:solidFill>
                  <a:srgbClr val="232833"/>
                </a:solidFill>
                <a:latin typeface="Calibri" pitchFamily="34" charset="0"/>
                <a:ea typeface="Calibri" pitchFamily="34" charset="-122"/>
                <a:cs typeface="Calibri" pitchFamily="34" charset="-120"/>
              </a:rPr>
              <a:t>Chunking happens on the fly, then embedding-based reranking orders the result.</a:t>
            </a:r>
            <a:endParaRPr lang="en-US" sz="1000" dirty="0"/>
          </a:p>
        </p:txBody>
      </p:sp>
      <p:sp>
        <p:nvSpPr>
          <p:cNvPr id="15" name="Text 12"/>
          <p:cNvSpPr txBox="1"/>
          <p:nvPr/>
        </p:nvSpPr>
        <p:spPr>
          <a:xfrm>
            <a:off x="7827264" y="1554480"/>
            <a:ext cx="347472" cy="1060704"/>
          </a:xfrm>
          <a:prstGeom prst="rect">
            <a:avLst/>
          </a:prstGeom>
          <a:noFill/>
          <a:ln/>
        </p:spPr>
        <p:txBody>
          <a:bodyPr wrap="square" lIns="0" tIns="0" rIns="0" bIns="0" rtlCol="0" anchor="ctr"/>
          <a:lstStyle/>
          <a:p>
            <a:pPr algn="ctr" indent="0" marL="0">
              <a:buNone/>
            </a:pPr>
            <a:r>
              <a:rPr lang="en-US" sz="1900" b="1" dirty="0">
                <a:solidFill>
                  <a:srgbClr val="A8AEBB"/>
                </a:solidFill>
                <a:latin typeface="Calibri" pitchFamily="34" charset="0"/>
                <a:ea typeface="Calibri" pitchFamily="34" charset="-122"/>
                <a:cs typeface="Calibri" pitchFamily="34" charset="-120"/>
              </a:rPr>
              <a:t>›</a:t>
            </a:r>
            <a:endParaRPr lang="en-US" sz="1900" dirty="0"/>
          </a:p>
        </p:txBody>
      </p:sp>
      <p:sp>
        <p:nvSpPr>
          <p:cNvPr id="16" name="Shape 13"/>
          <p:cNvSpPr/>
          <p:nvPr/>
        </p:nvSpPr>
        <p:spPr>
          <a:xfrm>
            <a:off x="8174736" y="1554480"/>
            <a:ext cx="3465576" cy="1060704"/>
          </a:xfrm>
          <a:prstGeom prst="roundRect">
            <a:avLst>
              <a:gd name="adj" fmla="val 5172"/>
            </a:avLst>
          </a:prstGeom>
          <a:solidFill>
            <a:srgbClr val="F2F2EF"/>
          </a:solidFill>
          <a:ln w="12700">
            <a:solidFill>
              <a:srgbClr val="F2F2EF"/>
            </a:solidFill>
            <a:prstDash val="solid"/>
          </a:ln>
        </p:spPr>
      </p:sp>
      <p:sp>
        <p:nvSpPr>
          <p:cNvPr id="17" name="Text 14"/>
          <p:cNvSpPr txBox="1"/>
          <p:nvPr/>
        </p:nvSpPr>
        <p:spPr>
          <a:xfrm>
            <a:off x="8375904" y="1627632"/>
            <a:ext cx="3063240" cy="256032"/>
          </a:xfrm>
          <a:prstGeom prst="rect">
            <a:avLst/>
          </a:prstGeom>
          <a:noFill/>
          <a:ln/>
        </p:spPr>
        <p:txBody>
          <a:bodyPr wrap="square" lIns="0" tIns="0" rIns="0" bIns="0" rtlCol="0" anchor="ctr"/>
          <a:lstStyle/>
          <a:p>
            <a:pPr indent="0" marL="0">
              <a:buNone/>
            </a:pPr>
            <a:r>
              <a:rPr lang="en-US" sz="1150" b="1" dirty="0">
                <a:solidFill>
                  <a:srgbClr val="C0761A"/>
                </a:solidFill>
                <a:latin typeface="Calibri" pitchFamily="34" charset="0"/>
                <a:ea typeface="Calibri" pitchFamily="34" charset="-122"/>
                <a:cs typeface="Calibri" pitchFamily="34" charset="-120"/>
              </a:rPr>
              <a:t>Answer inside 2s</a:t>
            </a:r>
            <a:endParaRPr lang="en-US" sz="1150" dirty="0"/>
          </a:p>
        </p:txBody>
      </p:sp>
      <p:sp>
        <p:nvSpPr>
          <p:cNvPr id="18" name="Text 15"/>
          <p:cNvSpPr txBox="1"/>
          <p:nvPr/>
        </p:nvSpPr>
        <p:spPr>
          <a:xfrm>
            <a:off x="8375904" y="1901952"/>
            <a:ext cx="3063240" cy="640080"/>
          </a:xfrm>
          <a:prstGeom prst="rect">
            <a:avLst/>
          </a:prstGeom>
          <a:noFill/>
          <a:ln/>
        </p:spPr>
        <p:txBody>
          <a:bodyPr wrap="square" lIns="0" tIns="0" rIns="0" bIns="0" rtlCol="0" anchor="t"/>
          <a:lstStyle/>
          <a:p>
            <a:pPr indent="0" marL="0">
              <a:lnSpc>
                <a:spcPct val="105000"/>
              </a:lnSpc>
              <a:buNone/>
            </a:pPr>
            <a:r>
              <a:rPr lang="en-US" sz="1000" dirty="0">
                <a:solidFill>
                  <a:srgbClr val="232833"/>
                </a:solidFill>
                <a:latin typeface="Calibri" pitchFamily="34" charset="0"/>
                <a:ea typeface="Calibri" pitchFamily="34" charset="-122"/>
                <a:cs typeface="Calibri" pitchFamily="34" charset="-120"/>
              </a:rPr>
              <a:t>The whole tier is budgeted so 95%+ of queries return in one to two seconds.</a:t>
            </a:r>
            <a:endParaRPr lang="en-US" sz="1000" dirty="0"/>
          </a:p>
        </p:txBody>
      </p:sp>
      <p:sp>
        <p:nvSpPr>
          <p:cNvPr id="19" name="Text 16"/>
          <p:cNvSpPr txBox="1"/>
          <p:nvPr/>
        </p:nvSpPr>
        <p:spPr>
          <a:xfrm>
            <a:off x="548640" y="2798064"/>
            <a:ext cx="5486400" cy="201168"/>
          </a:xfrm>
          <a:prstGeom prst="rect">
            <a:avLst/>
          </a:prstGeom>
          <a:noFill/>
          <a:ln/>
        </p:spPr>
        <p:txBody>
          <a:bodyPr wrap="square" lIns="0" tIns="0" rIns="0" bIns="0" rtlCol="0" anchor="ctr"/>
          <a:lstStyle/>
          <a:p>
            <a:pPr indent="0" marL="0">
              <a:buNone/>
            </a:pPr>
            <a:r>
              <a:rPr lang="en-US" sz="950" b="1" spc="200" kern="0" dirty="0">
                <a:solidFill>
                  <a:srgbClr val="1F6F6B"/>
                </a:solidFill>
                <a:latin typeface="Calibri" pitchFamily="34" charset="0"/>
                <a:ea typeface="Calibri" pitchFamily="34" charset="-122"/>
                <a:cs typeface="Calibri" pitchFamily="34" charset="-120"/>
              </a:rPr>
              <a:t>COMPLEX TASKS</a:t>
            </a:r>
            <a:endParaRPr lang="en-US" sz="950" dirty="0"/>
          </a:p>
        </p:txBody>
      </p:sp>
      <p:sp>
        <p:nvSpPr>
          <p:cNvPr id="20" name="Shape 17"/>
          <p:cNvSpPr/>
          <p:nvPr/>
        </p:nvSpPr>
        <p:spPr>
          <a:xfrm>
            <a:off x="548640" y="3035808"/>
            <a:ext cx="2512314" cy="1060704"/>
          </a:xfrm>
          <a:prstGeom prst="roundRect">
            <a:avLst>
              <a:gd name="adj" fmla="val 5172"/>
            </a:avLst>
          </a:prstGeom>
          <a:solidFill>
            <a:srgbClr val="F2F2EF"/>
          </a:solidFill>
          <a:ln w="12700">
            <a:solidFill>
              <a:srgbClr val="F2F2EF"/>
            </a:solidFill>
            <a:prstDash val="solid"/>
          </a:ln>
        </p:spPr>
      </p:sp>
      <p:sp>
        <p:nvSpPr>
          <p:cNvPr id="21" name="Text 18"/>
          <p:cNvSpPr txBox="1"/>
          <p:nvPr/>
        </p:nvSpPr>
        <p:spPr>
          <a:xfrm>
            <a:off x="749808" y="3108960"/>
            <a:ext cx="2109978" cy="256032"/>
          </a:xfrm>
          <a:prstGeom prst="rect">
            <a:avLst/>
          </a:prstGeom>
          <a:noFill/>
          <a:ln/>
        </p:spPr>
        <p:txBody>
          <a:bodyPr wrap="square" lIns="0" tIns="0" rIns="0" bIns="0" rtlCol="0" anchor="ctr"/>
          <a:lstStyle/>
          <a:p>
            <a:pPr indent="0" marL="0">
              <a:buNone/>
            </a:pPr>
            <a:r>
              <a:rPr lang="en-US" sz="1150" b="1" dirty="0">
                <a:solidFill>
                  <a:srgbClr val="1F6F6B"/>
                </a:solidFill>
                <a:latin typeface="Calibri" pitchFamily="34" charset="0"/>
                <a:ea typeface="Calibri" pitchFamily="34" charset="-122"/>
                <a:cs typeface="Calibri" pitchFamily="34" charset="-120"/>
              </a:rPr>
              <a:t>Planner emits a DSL</a:t>
            </a:r>
            <a:endParaRPr lang="en-US" sz="1150" dirty="0"/>
          </a:p>
        </p:txBody>
      </p:sp>
      <p:sp>
        <p:nvSpPr>
          <p:cNvPr id="22" name="Text 19"/>
          <p:cNvSpPr txBox="1"/>
          <p:nvPr/>
        </p:nvSpPr>
        <p:spPr>
          <a:xfrm>
            <a:off x="749808" y="3383280"/>
            <a:ext cx="2109978" cy="640080"/>
          </a:xfrm>
          <a:prstGeom prst="rect">
            <a:avLst/>
          </a:prstGeom>
          <a:noFill/>
          <a:ln/>
        </p:spPr>
        <p:txBody>
          <a:bodyPr wrap="square" lIns="0" tIns="0" rIns="0" bIns="0" rtlCol="0" anchor="t"/>
          <a:lstStyle/>
          <a:p>
            <a:pPr indent="0" marL="0">
              <a:lnSpc>
                <a:spcPct val="105000"/>
              </a:lnSpc>
              <a:buNone/>
            </a:pPr>
            <a:r>
              <a:rPr lang="en-US" sz="1000" dirty="0">
                <a:solidFill>
                  <a:srgbClr val="232833"/>
                </a:solidFill>
                <a:latin typeface="Calibri" pitchFamily="34" charset="0"/>
                <a:ea typeface="Calibri" pitchFamily="34" charset="-122"/>
                <a:cs typeface="Calibri" pitchFamily="34" charset="-120"/>
              </a:rPr>
              <a:t>Rather than reasoning in prose, the planner writes a Python-like internal language.</a:t>
            </a:r>
            <a:endParaRPr lang="en-US" sz="1000" dirty="0"/>
          </a:p>
        </p:txBody>
      </p:sp>
      <p:sp>
        <p:nvSpPr>
          <p:cNvPr id="23" name="Text 20"/>
          <p:cNvSpPr txBox="1"/>
          <p:nvPr/>
        </p:nvSpPr>
        <p:spPr>
          <a:xfrm>
            <a:off x="3060954" y="3035808"/>
            <a:ext cx="347472" cy="1060704"/>
          </a:xfrm>
          <a:prstGeom prst="rect">
            <a:avLst/>
          </a:prstGeom>
          <a:noFill/>
          <a:ln/>
        </p:spPr>
        <p:txBody>
          <a:bodyPr wrap="square" lIns="0" tIns="0" rIns="0" bIns="0" rtlCol="0" anchor="ctr"/>
          <a:lstStyle/>
          <a:p>
            <a:pPr algn="ctr" indent="0" marL="0">
              <a:buNone/>
            </a:pPr>
            <a:r>
              <a:rPr lang="en-US" sz="1900" b="1" dirty="0">
                <a:solidFill>
                  <a:srgbClr val="A8AEBB"/>
                </a:solidFill>
                <a:latin typeface="Calibri" pitchFamily="34" charset="0"/>
                <a:ea typeface="Calibri" pitchFamily="34" charset="-122"/>
                <a:cs typeface="Calibri" pitchFamily="34" charset="-120"/>
              </a:rPr>
              <a:t>›</a:t>
            </a:r>
            <a:endParaRPr lang="en-US" sz="1900" dirty="0"/>
          </a:p>
        </p:txBody>
      </p:sp>
      <p:sp>
        <p:nvSpPr>
          <p:cNvPr id="24" name="Shape 21"/>
          <p:cNvSpPr/>
          <p:nvPr/>
        </p:nvSpPr>
        <p:spPr>
          <a:xfrm>
            <a:off x="3408426" y="3035808"/>
            <a:ext cx="2512314" cy="1060704"/>
          </a:xfrm>
          <a:prstGeom prst="roundRect">
            <a:avLst>
              <a:gd name="adj" fmla="val 5172"/>
            </a:avLst>
          </a:prstGeom>
          <a:solidFill>
            <a:srgbClr val="F2F2EF"/>
          </a:solidFill>
          <a:ln w="12700">
            <a:solidFill>
              <a:srgbClr val="F2F2EF"/>
            </a:solidFill>
            <a:prstDash val="solid"/>
          </a:ln>
        </p:spPr>
      </p:sp>
      <p:sp>
        <p:nvSpPr>
          <p:cNvPr id="25" name="Text 22"/>
          <p:cNvSpPr txBox="1"/>
          <p:nvPr/>
        </p:nvSpPr>
        <p:spPr>
          <a:xfrm>
            <a:off x="3609594" y="3108960"/>
            <a:ext cx="2109978" cy="256032"/>
          </a:xfrm>
          <a:prstGeom prst="rect">
            <a:avLst/>
          </a:prstGeom>
          <a:noFill/>
          <a:ln/>
        </p:spPr>
        <p:txBody>
          <a:bodyPr wrap="square" lIns="0" tIns="0" rIns="0" bIns="0" rtlCol="0" anchor="ctr"/>
          <a:lstStyle/>
          <a:p>
            <a:pPr indent="0" marL="0">
              <a:buNone/>
            </a:pPr>
            <a:r>
              <a:rPr lang="en-US" sz="1150" b="1" dirty="0">
                <a:solidFill>
                  <a:srgbClr val="1F6F6B"/>
                </a:solidFill>
                <a:latin typeface="Calibri" pitchFamily="34" charset="0"/>
                <a:ea typeface="Calibri" pitchFamily="34" charset="-122"/>
                <a:cs typeface="Calibri" pitchFamily="34" charset="-120"/>
              </a:rPr>
              <a:t>Validated statically</a:t>
            </a:r>
            <a:endParaRPr lang="en-US" sz="1150" dirty="0"/>
          </a:p>
        </p:txBody>
      </p:sp>
      <p:sp>
        <p:nvSpPr>
          <p:cNvPr id="26" name="Text 23"/>
          <p:cNvSpPr txBox="1"/>
          <p:nvPr/>
        </p:nvSpPr>
        <p:spPr>
          <a:xfrm>
            <a:off x="3609594" y="3383280"/>
            <a:ext cx="2109978" cy="640080"/>
          </a:xfrm>
          <a:prstGeom prst="rect">
            <a:avLst/>
          </a:prstGeom>
          <a:noFill/>
          <a:ln/>
        </p:spPr>
        <p:txBody>
          <a:bodyPr wrap="square" lIns="0" tIns="0" rIns="0" bIns="0" rtlCol="0" anchor="t"/>
          <a:lstStyle/>
          <a:p>
            <a:pPr indent="0" marL="0">
              <a:lnSpc>
                <a:spcPct val="105000"/>
              </a:lnSpc>
              <a:buNone/>
            </a:pPr>
            <a:r>
              <a:rPr lang="en-US" sz="1000" dirty="0">
                <a:solidFill>
                  <a:srgbClr val="232833"/>
                </a:solidFill>
                <a:latin typeface="Calibri" pitchFamily="34" charset="0"/>
                <a:ea typeface="Calibri" pitchFamily="34" charset="-122"/>
                <a:cs typeface="Calibri" pitchFamily="34" charset="-120"/>
              </a:rPr>
              <a:t>The plan is analysed before it runs, so bad steps are caught without executing.</a:t>
            </a:r>
            <a:endParaRPr lang="en-US" sz="1000" dirty="0"/>
          </a:p>
        </p:txBody>
      </p:sp>
      <p:sp>
        <p:nvSpPr>
          <p:cNvPr id="27" name="Text 24"/>
          <p:cNvSpPr txBox="1"/>
          <p:nvPr/>
        </p:nvSpPr>
        <p:spPr>
          <a:xfrm>
            <a:off x="5920740" y="3035808"/>
            <a:ext cx="347472" cy="1060704"/>
          </a:xfrm>
          <a:prstGeom prst="rect">
            <a:avLst/>
          </a:prstGeom>
          <a:noFill/>
          <a:ln/>
        </p:spPr>
        <p:txBody>
          <a:bodyPr wrap="square" lIns="0" tIns="0" rIns="0" bIns="0" rtlCol="0" anchor="ctr"/>
          <a:lstStyle/>
          <a:p>
            <a:pPr algn="ctr" indent="0" marL="0">
              <a:buNone/>
            </a:pPr>
            <a:r>
              <a:rPr lang="en-US" sz="1900" b="1" dirty="0">
                <a:solidFill>
                  <a:srgbClr val="A8AEBB"/>
                </a:solidFill>
                <a:latin typeface="Calibri" pitchFamily="34" charset="0"/>
                <a:ea typeface="Calibri" pitchFamily="34" charset="-122"/>
                <a:cs typeface="Calibri" pitchFamily="34" charset="-120"/>
              </a:rPr>
              <a:t>›</a:t>
            </a:r>
            <a:endParaRPr lang="en-US" sz="1900" dirty="0"/>
          </a:p>
        </p:txBody>
      </p:sp>
      <p:sp>
        <p:nvSpPr>
          <p:cNvPr id="28" name="Shape 25"/>
          <p:cNvSpPr/>
          <p:nvPr/>
        </p:nvSpPr>
        <p:spPr>
          <a:xfrm>
            <a:off x="6268212" y="3035808"/>
            <a:ext cx="2512314" cy="1060704"/>
          </a:xfrm>
          <a:prstGeom prst="roundRect">
            <a:avLst>
              <a:gd name="adj" fmla="val 5172"/>
            </a:avLst>
          </a:prstGeom>
          <a:solidFill>
            <a:srgbClr val="F2F2EF"/>
          </a:solidFill>
          <a:ln w="12700">
            <a:solidFill>
              <a:srgbClr val="F2F2EF"/>
            </a:solidFill>
            <a:prstDash val="solid"/>
          </a:ln>
        </p:spPr>
      </p:sp>
      <p:sp>
        <p:nvSpPr>
          <p:cNvPr id="29" name="Text 26"/>
          <p:cNvSpPr txBox="1"/>
          <p:nvPr/>
        </p:nvSpPr>
        <p:spPr>
          <a:xfrm>
            <a:off x="6469380" y="3108960"/>
            <a:ext cx="2109978" cy="256032"/>
          </a:xfrm>
          <a:prstGeom prst="rect">
            <a:avLst/>
          </a:prstGeom>
          <a:noFill/>
          <a:ln/>
        </p:spPr>
        <p:txBody>
          <a:bodyPr wrap="square" lIns="0" tIns="0" rIns="0" bIns="0" rtlCol="0" anchor="ctr"/>
          <a:lstStyle/>
          <a:p>
            <a:pPr indent="0" marL="0">
              <a:buNone/>
            </a:pPr>
            <a:r>
              <a:rPr lang="en-US" sz="1150" b="1" dirty="0">
                <a:solidFill>
                  <a:srgbClr val="1F6F6B"/>
                </a:solidFill>
                <a:latin typeface="Calibri" pitchFamily="34" charset="0"/>
                <a:ea typeface="Calibri" pitchFamily="34" charset="-122"/>
                <a:cs typeface="Calibri" pitchFamily="34" charset="-120"/>
              </a:rPr>
              <a:t>Hardened interpreter</a:t>
            </a:r>
            <a:endParaRPr lang="en-US" sz="1150" dirty="0"/>
          </a:p>
        </p:txBody>
      </p:sp>
      <p:sp>
        <p:nvSpPr>
          <p:cNvPr id="30" name="Text 27"/>
          <p:cNvSpPr txBox="1"/>
          <p:nvPr/>
        </p:nvSpPr>
        <p:spPr>
          <a:xfrm>
            <a:off x="6469380" y="3383280"/>
            <a:ext cx="2109978" cy="640080"/>
          </a:xfrm>
          <a:prstGeom prst="rect">
            <a:avLst/>
          </a:prstGeom>
          <a:noFill/>
          <a:ln/>
        </p:spPr>
        <p:txBody>
          <a:bodyPr wrap="square" lIns="0" tIns="0" rIns="0" bIns="0" rtlCol="0" anchor="t"/>
          <a:lstStyle/>
          <a:p>
            <a:pPr indent="0" marL="0">
              <a:lnSpc>
                <a:spcPct val="105000"/>
              </a:lnSpc>
              <a:buNone/>
            </a:pPr>
            <a:r>
              <a:rPr lang="en-US" sz="1000" dirty="0">
                <a:solidFill>
                  <a:srgbClr val="232833"/>
                </a:solidFill>
                <a:latin typeface="Calibri" pitchFamily="34" charset="0"/>
                <a:ea typeface="Calibri" pitchFamily="34" charset="-122"/>
                <a:cs typeface="Calibri" pitchFamily="34" charset="-120"/>
              </a:rPr>
              <a:t>A minimal interpreter Dropbox built, with runtime type enforcement.</a:t>
            </a:r>
            <a:endParaRPr lang="en-US" sz="1000" dirty="0"/>
          </a:p>
        </p:txBody>
      </p:sp>
      <p:sp>
        <p:nvSpPr>
          <p:cNvPr id="31" name="Text 28"/>
          <p:cNvSpPr txBox="1"/>
          <p:nvPr/>
        </p:nvSpPr>
        <p:spPr>
          <a:xfrm>
            <a:off x="8780526" y="3035808"/>
            <a:ext cx="347472" cy="1060704"/>
          </a:xfrm>
          <a:prstGeom prst="rect">
            <a:avLst/>
          </a:prstGeom>
          <a:noFill/>
          <a:ln/>
        </p:spPr>
        <p:txBody>
          <a:bodyPr wrap="square" lIns="0" tIns="0" rIns="0" bIns="0" rtlCol="0" anchor="ctr"/>
          <a:lstStyle/>
          <a:p>
            <a:pPr algn="ctr" indent="0" marL="0">
              <a:buNone/>
            </a:pPr>
            <a:r>
              <a:rPr lang="en-US" sz="1900" b="1" dirty="0">
                <a:solidFill>
                  <a:srgbClr val="A8AEBB"/>
                </a:solidFill>
                <a:latin typeface="Calibri" pitchFamily="34" charset="0"/>
                <a:ea typeface="Calibri" pitchFamily="34" charset="-122"/>
                <a:cs typeface="Calibri" pitchFamily="34" charset="-120"/>
              </a:rPr>
              <a:t>›</a:t>
            </a:r>
            <a:endParaRPr lang="en-US" sz="1900" dirty="0"/>
          </a:p>
        </p:txBody>
      </p:sp>
      <p:sp>
        <p:nvSpPr>
          <p:cNvPr id="32" name="Shape 29"/>
          <p:cNvSpPr/>
          <p:nvPr/>
        </p:nvSpPr>
        <p:spPr>
          <a:xfrm>
            <a:off x="9127998" y="3035808"/>
            <a:ext cx="2512314" cy="1060704"/>
          </a:xfrm>
          <a:prstGeom prst="roundRect">
            <a:avLst>
              <a:gd name="adj" fmla="val 5172"/>
            </a:avLst>
          </a:prstGeom>
          <a:solidFill>
            <a:srgbClr val="F2F2EF"/>
          </a:solidFill>
          <a:ln w="12700">
            <a:solidFill>
              <a:srgbClr val="F2F2EF"/>
            </a:solidFill>
            <a:prstDash val="solid"/>
          </a:ln>
        </p:spPr>
      </p:sp>
      <p:sp>
        <p:nvSpPr>
          <p:cNvPr id="33" name="Text 30"/>
          <p:cNvSpPr txBox="1"/>
          <p:nvPr/>
        </p:nvSpPr>
        <p:spPr>
          <a:xfrm>
            <a:off x="9329166" y="3108960"/>
            <a:ext cx="2109978" cy="256032"/>
          </a:xfrm>
          <a:prstGeom prst="rect">
            <a:avLst/>
          </a:prstGeom>
          <a:noFill/>
          <a:ln/>
        </p:spPr>
        <p:txBody>
          <a:bodyPr wrap="square" lIns="0" tIns="0" rIns="0" bIns="0" rtlCol="0" anchor="ctr"/>
          <a:lstStyle/>
          <a:p>
            <a:pPr indent="0" marL="0">
              <a:buNone/>
            </a:pPr>
            <a:r>
              <a:rPr lang="en-US" sz="1150" b="1" dirty="0">
                <a:solidFill>
                  <a:srgbClr val="1F6F6B"/>
                </a:solidFill>
                <a:latin typeface="Calibri" pitchFamily="34" charset="0"/>
                <a:ea typeface="Calibri" pitchFamily="34" charset="-122"/>
                <a:cs typeface="Calibri" pitchFamily="34" charset="-120"/>
              </a:rPr>
              <a:t>Answer you can audit</a:t>
            </a:r>
            <a:endParaRPr lang="en-US" sz="1150" dirty="0"/>
          </a:p>
        </p:txBody>
      </p:sp>
      <p:sp>
        <p:nvSpPr>
          <p:cNvPr id="34" name="Text 31"/>
          <p:cNvSpPr txBox="1"/>
          <p:nvPr/>
        </p:nvSpPr>
        <p:spPr>
          <a:xfrm>
            <a:off x="9329166" y="3383280"/>
            <a:ext cx="2109978" cy="640080"/>
          </a:xfrm>
          <a:prstGeom prst="rect">
            <a:avLst/>
          </a:prstGeom>
          <a:noFill/>
          <a:ln/>
        </p:spPr>
        <p:txBody>
          <a:bodyPr wrap="square" lIns="0" tIns="0" rIns="0" bIns="0" rtlCol="0" anchor="t"/>
          <a:lstStyle/>
          <a:p>
            <a:pPr indent="0" marL="0">
              <a:lnSpc>
                <a:spcPct val="105000"/>
              </a:lnSpc>
              <a:buNone/>
            </a:pPr>
            <a:r>
              <a:rPr lang="en-US" sz="1000" dirty="0">
                <a:solidFill>
                  <a:srgbClr val="232833"/>
                </a:solidFill>
                <a:latin typeface="Calibri" pitchFamily="34" charset="0"/>
                <a:ea typeface="Calibri" pitchFamily="34" charset="-122"/>
                <a:cs typeface="Calibri" pitchFamily="34" charset="-120"/>
              </a:rPr>
              <a:t>The plan is readable, so a wrong answer can be traced to a wrong step.</a:t>
            </a:r>
            <a:endParaRPr lang="en-US" sz="1000" dirty="0"/>
          </a:p>
        </p:txBody>
      </p:sp>
      <p:sp>
        <p:nvSpPr>
          <p:cNvPr id="35" name="Text 32"/>
          <p:cNvSpPr txBox="1"/>
          <p:nvPr/>
        </p:nvSpPr>
        <p:spPr>
          <a:xfrm>
            <a:off x="548640" y="4279392"/>
            <a:ext cx="5486400" cy="201168"/>
          </a:xfrm>
          <a:prstGeom prst="rect">
            <a:avLst/>
          </a:prstGeom>
          <a:noFill/>
          <a:ln/>
        </p:spPr>
        <p:txBody>
          <a:bodyPr wrap="square" lIns="0" tIns="0" rIns="0" bIns="0" rtlCol="0" anchor="ctr"/>
          <a:lstStyle/>
          <a:p>
            <a:pPr indent="0" marL="0">
              <a:buNone/>
            </a:pPr>
            <a:r>
              <a:rPr lang="en-US" sz="950" b="1" spc="200" kern="0" dirty="0">
                <a:solidFill>
                  <a:srgbClr val="8E3350"/>
                </a:solidFill>
                <a:latin typeface="Calibri" pitchFamily="34" charset="0"/>
                <a:ea typeface="Calibri" pitchFamily="34" charset="-122"/>
                <a:cs typeface="Calibri" pitchFamily="34" charset="-120"/>
              </a:rPr>
              <a:t>EVALUATION</a:t>
            </a:r>
            <a:endParaRPr lang="en-US" sz="950" dirty="0"/>
          </a:p>
        </p:txBody>
      </p:sp>
      <p:sp>
        <p:nvSpPr>
          <p:cNvPr id="36" name="Shape 33"/>
          <p:cNvSpPr/>
          <p:nvPr/>
        </p:nvSpPr>
        <p:spPr>
          <a:xfrm>
            <a:off x="548640" y="4517136"/>
            <a:ext cx="3465576" cy="1060704"/>
          </a:xfrm>
          <a:prstGeom prst="roundRect">
            <a:avLst>
              <a:gd name="adj" fmla="val 5172"/>
            </a:avLst>
          </a:prstGeom>
          <a:solidFill>
            <a:srgbClr val="F2F2EF"/>
          </a:solidFill>
          <a:ln w="12700">
            <a:solidFill>
              <a:srgbClr val="F2F2EF"/>
            </a:solidFill>
            <a:prstDash val="solid"/>
          </a:ln>
        </p:spPr>
      </p:sp>
      <p:sp>
        <p:nvSpPr>
          <p:cNvPr id="37" name="Text 34"/>
          <p:cNvSpPr txBox="1"/>
          <p:nvPr/>
        </p:nvSpPr>
        <p:spPr>
          <a:xfrm>
            <a:off x="749808" y="4590288"/>
            <a:ext cx="3063240" cy="256032"/>
          </a:xfrm>
          <a:prstGeom prst="rect">
            <a:avLst/>
          </a:prstGeom>
          <a:noFill/>
          <a:ln/>
        </p:spPr>
        <p:txBody>
          <a:bodyPr wrap="square" lIns="0" tIns="0" rIns="0" bIns="0" rtlCol="0" anchor="ctr"/>
          <a:lstStyle/>
          <a:p>
            <a:pPr indent="0" marL="0">
              <a:buNone/>
            </a:pPr>
            <a:r>
              <a:rPr lang="en-US" sz="1150" b="1" dirty="0">
                <a:solidFill>
                  <a:srgbClr val="8E3350"/>
                </a:solidFill>
                <a:latin typeface="Calibri" pitchFamily="34" charset="0"/>
                <a:ea typeface="Calibri" pitchFamily="34" charset="-122"/>
                <a:cs typeface="Calibri" pitchFamily="34" charset="-120"/>
              </a:rPr>
              <a:t>Public benchmarks</a:t>
            </a:r>
            <a:endParaRPr lang="en-US" sz="1150" dirty="0"/>
          </a:p>
        </p:txBody>
      </p:sp>
      <p:sp>
        <p:nvSpPr>
          <p:cNvPr id="38" name="Text 35"/>
          <p:cNvSpPr txBox="1"/>
          <p:nvPr/>
        </p:nvSpPr>
        <p:spPr>
          <a:xfrm>
            <a:off x="749808" y="4864608"/>
            <a:ext cx="3063240" cy="640080"/>
          </a:xfrm>
          <a:prstGeom prst="rect">
            <a:avLst/>
          </a:prstGeom>
          <a:noFill/>
          <a:ln/>
        </p:spPr>
        <p:txBody>
          <a:bodyPr wrap="square" lIns="0" tIns="0" rIns="0" bIns="0" rtlCol="0" anchor="t"/>
          <a:lstStyle/>
          <a:p>
            <a:pPr indent="0" marL="0">
              <a:lnSpc>
                <a:spcPct val="105000"/>
              </a:lnSpc>
              <a:buNone/>
            </a:pPr>
            <a:r>
              <a:rPr lang="en-US" sz="1000" dirty="0">
                <a:solidFill>
                  <a:srgbClr val="232833"/>
                </a:solidFill>
                <a:latin typeface="Calibri" pitchFamily="34" charset="0"/>
                <a:ea typeface="Calibri" pitchFamily="34" charset="-122"/>
                <a:cs typeface="Calibri" pitchFamily="34" charset="-120"/>
              </a:rPr>
              <a:t>Natural Questions, MuSiQue and MS MARCO, re-run on every model change.</a:t>
            </a:r>
            <a:endParaRPr lang="en-US" sz="1000" dirty="0"/>
          </a:p>
        </p:txBody>
      </p:sp>
      <p:sp>
        <p:nvSpPr>
          <p:cNvPr id="39" name="Shape 36"/>
          <p:cNvSpPr/>
          <p:nvPr/>
        </p:nvSpPr>
        <p:spPr>
          <a:xfrm>
            <a:off x="4361688" y="4517136"/>
            <a:ext cx="3465576" cy="1060704"/>
          </a:xfrm>
          <a:prstGeom prst="roundRect">
            <a:avLst>
              <a:gd name="adj" fmla="val 5172"/>
            </a:avLst>
          </a:prstGeom>
          <a:solidFill>
            <a:srgbClr val="F2F2EF"/>
          </a:solidFill>
          <a:ln w="12700">
            <a:solidFill>
              <a:srgbClr val="F2F2EF"/>
            </a:solidFill>
            <a:prstDash val="solid"/>
          </a:ln>
        </p:spPr>
      </p:sp>
      <p:sp>
        <p:nvSpPr>
          <p:cNvPr id="40" name="Text 37"/>
          <p:cNvSpPr txBox="1"/>
          <p:nvPr/>
        </p:nvSpPr>
        <p:spPr>
          <a:xfrm>
            <a:off x="4562856" y="4590288"/>
            <a:ext cx="3063240" cy="256032"/>
          </a:xfrm>
          <a:prstGeom prst="rect">
            <a:avLst/>
          </a:prstGeom>
          <a:noFill/>
          <a:ln/>
        </p:spPr>
        <p:txBody>
          <a:bodyPr wrap="square" lIns="0" tIns="0" rIns="0" bIns="0" rtlCol="0" anchor="ctr"/>
          <a:lstStyle/>
          <a:p>
            <a:pPr indent="0" marL="0">
              <a:buNone/>
            </a:pPr>
            <a:r>
              <a:rPr lang="en-US" sz="1150" b="1" dirty="0">
                <a:solidFill>
                  <a:srgbClr val="8E3350"/>
                </a:solidFill>
                <a:latin typeface="Calibri" pitchFamily="34" charset="0"/>
                <a:ea typeface="Calibri" pitchFamily="34" charset="-122"/>
                <a:cs typeface="Calibri" pitchFamily="34" charset="-120"/>
              </a:rPr>
              <a:t>Custom LLM judges</a:t>
            </a:r>
            <a:endParaRPr lang="en-US" sz="1150" dirty="0"/>
          </a:p>
        </p:txBody>
      </p:sp>
      <p:sp>
        <p:nvSpPr>
          <p:cNvPr id="41" name="Text 38"/>
          <p:cNvSpPr txBox="1"/>
          <p:nvPr/>
        </p:nvSpPr>
        <p:spPr>
          <a:xfrm>
            <a:off x="4562856" y="4864608"/>
            <a:ext cx="3063240" cy="640080"/>
          </a:xfrm>
          <a:prstGeom prst="rect">
            <a:avLst/>
          </a:prstGeom>
          <a:noFill/>
          <a:ln/>
        </p:spPr>
        <p:txBody>
          <a:bodyPr wrap="square" lIns="0" tIns="0" rIns="0" bIns="0" rtlCol="0" anchor="t"/>
          <a:lstStyle/>
          <a:p>
            <a:pPr indent="0" marL="0">
              <a:lnSpc>
                <a:spcPct val="105000"/>
              </a:lnSpc>
              <a:buNone/>
            </a:pPr>
            <a:r>
              <a:rPr lang="en-US" sz="1000" dirty="0">
                <a:solidFill>
                  <a:srgbClr val="232833"/>
                </a:solidFill>
                <a:latin typeface="Calibri" pitchFamily="34" charset="0"/>
                <a:ea typeface="Calibri" pitchFamily="34" charset="-122"/>
                <a:cs typeface="Calibri" pitchFamily="34" charset="-120"/>
              </a:rPr>
              <a:t>Score correctness and completeness beyond what the benchmarks measure.</a:t>
            </a:r>
            <a:endParaRPr lang="en-US" sz="1000" dirty="0"/>
          </a:p>
        </p:txBody>
      </p:sp>
      <p:sp>
        <p:nvSpPr>
          <p:cNvPr id="42" name="Shape 39"/>
          <p:cNvSpPr/>
          <p:nvPr/>
        </p:nvSpPr>
        <p:spPr>
          <a:xfrm>
            <a:off x="8174736" y="4517136"/>
            <a:ext cx="3465576" cy="1060704"/>
          </a:xfrm>
          <a:prstGeom prst="roundRect">
            <a:avLst>
              <a:gd name="adj" fmla="val 5172"/>
            </a:avLst>
          </a:prstGeom>
          <a:solidFill>
            <a:srgbClr val="F2F2EF"/>
          </a:solidFill>
          <a:ln w="12700">
            <a:solidFill>
              <a:srgbClr val="F2F2EF"/>
            </a:solidFill>
            <a:prstDash val="solid"/>
          </a:ln>
        </p:spPr>
      </p:sp>
      <p:sp>
        <p:nvSpPr>
          <p:cNvPr id="43" name="Text 40"/>
          <p:cNvSpPr txBox="1"/>
          <p:nvPr/>
        </p:nvSpPr>
        <p:spPr>
          <a:xfrm>
            <a:off x="8375904" y="4590288"/>
            <a:ext cx="3063240" cy="256032"/>
          </a:xfrm>
          <a:prstGeom prst="rect">
            <a:avLst/>
          </a:prstGeom>
          <a:noFill/>
          <a:ln/>
        </p:spPr>
        <p:txBody>
          <a:bodyPr wrap="square" lIns="0" tIns="0" rIns="0" bIns="0" rtlCol="0" anchor="ctr"/>
          <a:lstStyle/>
          <a:p>
            <a:pPr indent="0" marL="0">
              <a:buNone/>
            </a:pPr>
            <a:r>
              <a:rPr lang="en-US" sz="1150" b="1" dirty="0">
                <a:solidFill>
                  <a:srgbClr val="8E3350"/>
                </a:solidFill>
                <a:latin typeface="Calibri" pitchFamily="34" charset="0"/>
                <a:ea typeface="Calibri" pitchFamily="34" charset="-122"/>
                <a:cs typeface="Calibri" pitchFamily="34" charset="-120"/>
              </a:rPr>
              <a:t>Model-agnostic by design</a:t>
            </a:r>
            <a:endParaRPr lang="en-US" sz="1150" dirty="0"/>
          </a:p>
        </p:txBody>
      </p:sp>
      <p:sp>
        <p:nvSpPr>
          <p:cNvPr id="44" name="Text 41"/>
          <p:cNvSpPr txBox="1"/>
          <p:nvPr/>
        </p:nvSpPr>
        <p:spPr>
          <a:xfrm>
            <a:off x="8375904" y="4864608"/>
            <a:ext cx="3063240" cy="640080"/>
          </a:xfrm>
          <a:prstGeom prst="rect">
            <a:avLst/>
          </a:prstGeom>
          <a:noFill/>
          <a:ln/>
        </p:spPr>
        <p:txBody>
          <a:bodyPr wrap="square" lIns="0" tIns="0" rIns="0" bIns="0" rtlCol="0" anchor="t"/>
          <a:lstStyle/>
          <a:p>
            <a:pPr indent="0" marL="0">
              <a:lnSpc>
                <a:spcPct val="105000"/>
              </a:lnSpc>
              <a:buNone/>
            </a:pPr>
            <a:r>
              <a:rPr lang="en-US" sz="1000" dirty="0">
                <a:solidFill>
                  <a:srgbClr val="232833"/>
                </a:solidFill>
                <a:latin typeface="Calibri" pitchFamily="34" charset="0"/>
                <a:ea typeface="Calibri" pitchFamily="34" charset="-122"/>
                <a:cs typeface="Calibri" pitchFamily="34" charset="-120"/>
              </a:rPr>
              <a:t>A better model can be swapped in, though prompts never transfer cleanly.</a:t>
            </a:r>
            <a:endParaRPr lang="en-US" sz="1000" dirty="0"/>
          </a:p>
        </p:txBody>
      </p:sp>
      <p:sp>
        <p:nvSpPr>
          <p:cNvPr id="45" name="Text 42"/>
          <p:cNvSpPr txBox="1"/>
          <p:nvPr/>
        </p:nvSpPr>
        <p:spPr>
          <a:xfrm>
            <a:off x="548640" y="5870448"/>
            <a:ext cx="11091672" cy="603504"/>
          </a:xfrm>
          <a:prstGeom prst="rect">
            <a:avLst/>
          </a:prstGeom>
          <a:noFill/>
          <a:ln/>
        </p:spPr>
        <p:txBody>
          <a:bodyPr wrap="square" lIns="0" tIns="0" rIns="0" bIns="0" rtlCol="0" anchor="t"/>
          <a:lstStyle/>
          <a:p>
            <a:pPr indent="0" marL="0">
              <a:lnSpc>
                <a:spcPct val="112000"/>
              </a:lnSpc>
              <a:buNone/>
            </a:pPr>
            <a:r>
              <a:rPr lang="en-US" sz="1050" i="1" dirty="0">
                <a:solidFill>
                  <a:srgbClr val="6E7480"/>
                </a:solidFill>
                <a:latin typeface="Calibri" pitchFamily="34" charset="0"/>
                <a:ea typeface="Calibri" pitchFamily="34" charset="-122"/>
                <a:cs typeface="Calibri" pitchFamily="34" charset="-120"/>
              </a:rPr>
              <a:t>The fork is the whole design. Routing simple questions away from the agent is what keeps the latency budget achievable, and writing plans in code is what makes the expensive path auditable for external users who cannot each get a human reviewer.</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C:\Users\chint\AppData\Local\Temp\claude\C--Users-chint-Development-conquerorchin-companywiki\d81c9c1b-31dc-4543-8328-70b4d6f55840\scratchpad\logos\elastic.png">    </p:cNvPr>
          <p:cNvPicPr>
            <a:picLocks noChangeAspect="1"/>
          </p:cNvPicPr>
          <p:nvPr/>
        </p:nvPicPr>
        <p:blipFill>
          <a:blip r:embed="rId1"/>
          <a:stretch>
            <a:fillRect/>
          </a:stretch>
        </p:blipFill>
        <p:spPr>
          <a:xfrm>
            <a:off x="548640" y="329184"/>
            <a:ext cx="420624" cy="420624"/>
          </a:xfrm>
          <a:prstGeom prst="rect">
            <a:avLst/>
          </a:prstGeom>
        </p:spPr>
      </p:pic>
      <p:sp>
        <p:nvSpPr>
          <p:cNvPr id="3" name="Text 0"/>
          <p:cNvSpPr txBox="1"/>
          <p:nvPr/>
        </p:nvSpPr>
        <p:spPr>
          <a:xfrm>
            <a:off x="1188720" y="256032"/>
            <a:ext cx="7132320" cy="548640"/>
          </a:xfrm>
          <a:prstGeom prst="rect">
            <a:avLst/>
          </a:prstGeom>
          <a:noFill/>
          <a:ln/>
        </p:spPr>
        <p:txBody>
          <a:bodyPr wrap="square" lIns="0" tIns="0" rIns="0" bIns="0" rtlCol="0" anchor="ctr"/>
          <a:lstStyle/>
          <a:p>
            <a:pPr indent="0" marL="0">
              <a:buNone/>
            </a:pPr>
            <a:r>
              <a:rPr lang="en-US" sz="3000" b="1" dirty="0">
                <a:solidFill>
                  <a:srgbClr val="15181E"/>
                </a:solidFill>
                <a:latin typeface="Cambria" pitchFamily="34" charset="0"/>
                <a:ea typeface="Cambria" pitchFamily="34" charset="-122"/>
                <a:cs typeface="Cambria" pitchFamily="34" charset="-120"/>
              </a:rPr>
              <a:t>Elastic</a:t>
            </a:r>
            <a:endParaRPr lang="en-US" sz="3000" dirty="0"/>
          </a:p>
        </p:txBody>
      </p:sp>
      <p:sp>
        <p:nvSpPr>
          <p:cNvPr id="4" name="Shape 1"/>
          <p:cNvSpPr/>
          <p:nvPr/>
        </p:nvSpPr>
        <p:spPr>
          <a:xfrm>
            <a:off x="9902952" y="384048"/>
            <a:ext cx="1737360" cy="274320"/>
          </a:xfrm>
          <a:prstGeom prst="roundRect">
            <a:avLst>
              <a:gd name="adj" fmla="val 50000"/>
            </a:avLst>
          </a:prstGeom>
          <a:solidFill>
            <a:srgbClr val="1F6F6B"/>
          </a:solidFill>
          <a:ln/>
        </p:spPr>
      </p:sp>
      <p:sp>
        <p:nvSpPr>
          <p:cNvPr id="5" name="Text 2"/>
          <p:cNvSpPr txBox="1"/>
          <p:nvPr/>
        </p:nvSpPr>
        <p:spPr>
          <a:xfrm>
            <a:off x="9902952" y="384048"/>
            <a:ext cx="17373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FIRST-PARTY</a:t>
            </a:r>
            <a:endParaRPr lang="en-US" sz="850" dirty="0"/>
          </a:p>
        </p:txBody>
      </p:sp>
      <p:sp>
        <p:nvSpPr>
          <p:cNvPr id="6" name="Text 3"/>
          <p:cNvSpPr txBox="1"/>
          <p:nvPr/>
        </p:nvSpPr>
        <p:spPr>
          <a:xfrm>
            <a:off x="548640" y="896112"/>
            <a:ext cx="10881360" cy="457200"/>
          </a:xfrm>
          <a:prstGeom prst="rect">
            <a:avLst/>
          </a:prstGeom>
          <a:noFill/>
          <a:ln/>
        </p:spPr>
        <p:txBody>
          <a:bodyPr wrap="square" lIns="0" tIns="0" rIns="0" bIns="0" rtlCol="0" anchor="t"/>
          <a:lstStyle/>
          <a:p>
            <a:pPr indent="0" marL="0">
              <a:lnSpc>
                <a:spcPct val="105000"/>
              </a:lnSpc>
              <a:buNone/>
            </a:pPr>
            <a:r>
              <a:rPr lang="en-US" sz="1550" b="1" dirty="0">
                <a:solidFill>
                  <a:srgbClr val="15181E"/>
                </a:solidFill>
                <a:latin typeface="Calibri" pitchFamily="34" charset="0"/>
                <a:ea typeface="Calibri" pitchFamily="34" charset="-122"/>
                <a:cs typeface="Calibri" pitchFamily="34" charset="-120"/>
              </a:rPr>
              <a:t>Support Assistant. </a:t>
            </a:r>
            <a:pPr indent="0" marL="0">
              <a:lnSpc>
                <a:spcPct val="105000"/>
              </a:lnSpc>
              <a:buNone/>
            </a:pPr>
            <a:r>
              <a:rPr lang="en-US" sz="1550" dirty="0">
                <a:solidFill>
                  <a:srgbClr val="232833"/>
                </a:solidFill>
                <a:latin typeface="Calibri" pitchFamily="34" charset="0"/>
                <a:ea typeface="Calibri" pitchFamily="34" charset="-122"/>
                <a:cs typeface="Calibri" pitchFamily="34" charset="-120"/>
              </a:rPr>
              <a:t>AI drafts, but a named human stays accountable for everything that reaches a customer.</a:t>
            </a:r>
            <a:endParaRPr lang="en-US" sz="1550" dirty="0"/>
          </a:p>
        </p:txBody>
      </p:sp>
      <p:sp>
        <p:nvSpPr>
          <p:cNvPr id="7" name="Shape 4"/>
          <p:cNvSpPr/>
          <p:nvPr/>
        </p:nvSpPr>
        <p:spPr>
          <a:xfrm>
            <a:off x="548640" y="1463040"/>
            <a:ext cx="5399532" cy="2139696"/>
          </a:xfrm>
          <a:prstGeom prst="roundRect">
            <a:avLst>
              <a:gd name="adj" fmla="val 2564"/>
            </a:avLst>
          </a:prstGeom>
          <a:solidFill>
            <a:srgbClr val="F2F2EF"/>
          </a:solidFill>
          <a:ln w="12700">
            <a:solidFill>
              <a:srgbClr val="F2F2EF"/>
            </a:solidFill>
            <a:prstDash val="solid"/>
          </a:ln>
        </p:spPr>
      </p:sp>
      <p:sp>
        <p:nvSpPr>
          <p:cNvPr id="8" name="Shape 5"/>
          <p:cNvSpPr/>
          <p:nvPr/>
        </p:nvSpPr>
        <p:spPr>
          <a:xfrm>
            <a:off x="786384" y="1627632"/>
            <a:ext cx="292608" cy="292608"/>
          </a:xfrm>
          <a:prstGeom prst="ellipse">
            <a:avLst/>
          </a:prstGeom>
          <a:solidFill>
            <a:srgbClr val="C0761A"/>
          </a:solidFill>
          <a:ln/>
        </p:spPr>
      </p:sp>
      <p:sp>
        <p:nvSpPr>
          <p:cNvPr id="9" name="Text 6"/>
          <p:cNvSpPr txBox="1"/>
          <p:nvPr/>
        </p:nvSpPr>
        <p:spPr>
          <a:xfrm>
            <a:off x="786384" y="1627632"/>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mbria" pitchFamily="34" charset="0"/>
                <a:ea typeface="Cambria" pitchFamily="34" charset="-122"/>
                <a:cs typeface="Cambria" pitchFamily="34" charset="-120"/>
              </a:rPr>
              <a:t>I</a:t>
            </a:r>
            <a:endParaRPr lang="en-US" sz="1150" dirty="0"/>
          </a:p>
        </p:txBody>
      </p:sp>
      <p:sp>
        <p:nvSpPr>
          <p:cNvPr id="10" name="Text 7"/>
          <p:cNvSpPr txBox="1"/>
          <p:nvPr/>
        </p:nvSpPr>
        <p:spPr>
          <a:xfrm>
            <a:off x="1188720" y="1627632"/>
            <a:ext cx="4530852" cy="292608"/>
          </a:xfrm>
          <a:prstGeom prst="rect">
            <a:avLst/>
          </a:prstGeom>
          <a:noFill/>
          <a:ln/>
        </p:spPr>
        <p:txBody>
          <a:bodyPr wrap="square" lIns="0" tIns="0" rIns="0" bIns="0" rtlCol="0" anchor="ctr"/>
          <a:lstStyle/>
          <a:p>
            <a:pPr indent="0" marL="0">
              <a:buNone/>
            </a:pPr>
            <a:r>
              <a:rPr lang="en-US" sz="1150" b="1" spc="60" kern="0" dirty="0">
                <a:solidFill>
                  <a:srgbClr val="C0761A"/>
                </a:solidFill>
                <a:latin typeface="Calibri" pitchFamily="34" charset="0"/>
                <a:ea typeface="Calibri" pitchFamily="34" charset="-122"/>
                <a:cs typeface="Calibri" pitchFamily="34" charset="-120"/>
              </a:rPr>
              <a:t>Implementation</a:t>
            </a:r>
            <a:endParaRPr lang="en-US" sz="1150" dirty="0"/>
          </a:p>
        </p:txBody>
      </p:sp>
      <p:sp>
        <p:nvSpPr>
          <p:cNvPr id="11" name="Text 8"/>
          <p:cNvSpPr txBox="1"/>
          <p:nvPr/>
        </p:nvSpPr>
        <p:spPr>
          <a:xfrm>
            <a:off x="822960" y="2011680"/>
            <a:ext cx="4850892" cy="1463040"/>
          </a:xfrm>
          <a:prstGeom prst="rect">
            <a:avLst/>
          </a:prstGeom>
          <a:noFill/>
          <a:ln/>
        </p:spPr>
        <p:txBody>
          <a:bodyPr wrap="square" lIns="0" tIns="0" rIns="0" bIns="0" rtlCol="0" anchor="t"/>
          <a:lstStyle/>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AI is given three named, bounded roles instead of one general assistant, so the failure mode of each is understood in advance.</a:t>
            </a:r>
            <a:endParaRPr lang="en-US" sz="1100" dirty="0"/>
          </a:p>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The research assistant turns documentation and case history into hypotheses that an engineer must then validate against official sources.</a:t>
            </a:r>
            <a:endParaRPr lang="en-US" sz="1100" dirty="0"/>
          </a:p>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The environment replicator generates synthetic test data and mock configs, and the solution editor runs only after the technical check passes.</a:t>
            </a:r>
            <a:endParaRPr lang="en-US" sz="1100" dirty="0"/>
          </a:p>
        </p:txBody>
      </p:sp>
      <p:sp>
        <p:nvSpPr>
          <p:cNvPr id="12" name="Shape 9"/>
          <p:cNvSpPr/>
          <p:nvPr/>
        </p:nvSpPr>
        <p:spPr>
          <a:xfrm>
            <a:off x="6240780" y="1463040"/>
            <a:ext cx="5399532" cy="2139696"/>
          </a:xfrm>
          <a:prstGeom prst="roundRect">
            <a:avLst>
              <a:gd name="adj" fmla="val 2564"/>
            </a:avLst>
          </a:prstGeom>
          <a:solidFill>
            <a:srgbClr val="F2F2EF"/>
          </a:solidFill>
          <a:ln w="12700">
            <a:solidFill>
              <a:srgbClr val="F2F2EF"/>
            </a:solidFill>
            <a:prstDash val="solid"/>
          </a:ln>
        </p:spPr>
      </p:sp>
      <p:sp>
        <p:nvSpPr>
          <p:cNvPr id="13" name="Shape 10"/>
          <p:cNvSpPr/>
          <p:nvPr/>
        </p:nvSpPr>
        <p:spPr>
          <a:xfrm>
            <a:off x="6478524" y="1627632"/>
            <a:ext cx="292608" cy="292608"/>
          </a:xfrm>
          <a:prstGeom prst="ellipse">
            <a:avLst/>
          </a:prstGeom>
          <a:solidFill>
            <a:srgbClr val="1F6F6B"/>
          </a:solidFill>
          <a:ln/>
        </p:spPr>
      </p:sp>
      <p:sp>
        <p:nvSpPr>
          <p:cNvPr id="14" name="Text 11"/>
          <p:cNvSpPr txBox="1"/>
          <p:nvPr/>
        </p:nvSpPr>
        <p:spPr>
          <a:xfrm>
            <a:off x="6478524" y="1627632"/>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mbria" pitchFamily="34" charset="0"/>
                <a:ea typeface="Cambria" pitchFamily="34" charset="-122"/>
                <a:cs typeface="Cambria" pitchFamily="34" charset="-120"/>
              </a:rPr>
              <a:t>P</a:t>
            </a:r>
            <a:endParaRPr lang="en-US" sz="1150" dirty="0"/>
          </a:p>
        </p:txBody>
      </p:sp>
      <p:sp>
        <p:nvSpPr>
          <p:cNvPr id="15" name="Text 12"/>
          <p:cNvSpPr txBox="1"/>
          <p:nvPr/>
        </p:nvSpPr>
        <p:spPr>
          <a:xfrm>
            <a:off x="6880860" y="1627632"/>
            <a:ext cx="4530852" cy="292608"/>
          </a:xfrm>
          <a:prstGeom prst="rect">
            <a:avLst/>
          </a:prstGeom>
          <a:noFill/>
          <a:ln/>
        </p:spPr>
        <p:txBody>
          <a:bodyPr wrap="square" lIns="0" tIns="0" rIns="0" bIns="0" rtlCol="0" anchor="ctr"/>
          <a:lstStyle/>
          <a:p>
            <a:pPr indent="0" marL="0">
              <a:buNone/>
            </a:pPr>
            <a:r>
              <a:rPr lang="en-US" sz="1150" b="1" spc="60" kern="0" dirty="0">
                <a:solidFill>
                  <a:srgbClr val="1F6F6B"/>
                </a:solidFill>
                <a:latin typeface="Calibri" pitchFamily="34" charset="0"/>
                <a:ea typeface="Calibri" pitchFamily="34" charset="-122"/>
                <a:cs typeface="Calibri" pitchFamily="34" charset="-120"/>
              </a:rPr>
              <a:t>Philosophy</a:t>
            </a:r>
            <a:endParaRPr lang="en-US" sz="1150" dirty="0"/>
          </a:p>
        </p:txBody>
      </p:sp>
      <p:sp>
        <p:nvSpPr>
          <p:cNvPr id="16" name="Text 13"/>
          <p:cNvSpPr txBox="1"/>
          <p:nvPr/>
        </p:nvSpPr>
        <p:spPr>
          <a:xfrm>
            <a:off x="6515100" y="2011680"/>
            <a:ext cx="4850892" cy="1463040"/>
          </a:xfrm>
          <a:prstGeom prst="rect">
            <a:avLst/>
          </a:prstGeom>
          <a:noFill/>
          <a:ln/>
        </p:spPr>
        <p:txBody>
          <a:bodyPr wrap="square" lIns="0" tIns="0" rIns="0" bIns="0" rtlCol="0" anchor="t"/>
          <a:lstStyle/>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“AI is a brilliant intern, not the CEO.” Full automation is rejected outright and humans keep decision authority.</a:t>
            </a:r>
            <a:endParaRPr lang="en-US" sz="1100" dirty="0"/>
          </a:p>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AI output must replicate the shape of a customer's system and never the customer's data, which keeps real data out of test environments.</a:t>
            </a:r>
            <a:endParaRPr lang="en-US" sz="1100" dirty="0"/>
          </a:p>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Be transparent about exactly where automation ends and expert judgment begins, rather than leaving the boundary blurred.</a:t>
            </a:r>
            <a:endParaRPr lang="en-US" sz="1100" dirty="0"/>
          </a:p>
        </p:txBody>
      </p:sp>
      <p:sp>
        <p:nvSpPr>
          <p:cNvPr id="17" name="Shape 14"/>
          <p:cNvSpPr/>
          <p:nvPr/>
        </p:nvSpPr>
        <p:spPr>
          <a:xfrm>
            <a:off x="548640" y="3730752"/>
            <a:ext cx="5399532" cy="2139696"/>
          </a:xfrm>
          <a:prstGeom prst="roundRect">
            <a:avLst>
              <a:gd name="adj" fmla="val 2564"/>
            </a:avLst>
          </a:prstGeom>
          <a:solidFill>
            <a:srgbClr val="F2F2EF"/>
          </a:solidFill>
          <a:ln w="12700">
            <a:solidFill>
              <a:srgbClr val="F2F2EF"/>
            </a:solidFill>
            <a:prstDash val="solid"/>
          </a:ln>
        </p:spPr>
      </p:sp>
      <p:sp>
        <p:nvSpPr>
          <p:cNvPr id="18" name="Shape 15"/>
          <p:cNvSpPr/>
          <p:nvPr/>
        </p:nvSpPr>
        <p:spPr>
          <a:xfrm>
            <a:off x="786384" y="3895344"/>
            <a:ext cx="292608" cy="292608"/>
          </a:xfrm>
          <a:prstGeom prst="ellipse">
            <a:avLst/>
          </a:prstGeom>
          <a:solidFill>
            <a:srgbClr val="8E3350"/>
          </a:solidFill>
          <a:ln/>
        </p:spPr>
      </p:sp>
      <p:sp>
        <p:nvSpPr>
          <p:cNvPr id="19" name="Text 16"/>
          <p:cNvSpPr txBox="1"/>
          <p:nvPr/>
        </p:nvSpPr>
        <p:spPr>
          <a:xfrm>
            <a:off x="786384" y="3895344"/>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mbria" pitchFamily="34" charset="0"/>
                <a:ea typeface="Cambria" pitchFamily="34" charset="-122"/>
                <a:cs typeface="Cambria" pitchFamily="34" charset="-120"/>
              </a:rPr>
              <a:t>U</a:t>
            </a:r>
            <a:endParaRPr lang="en-US" sz="1150" dirty="0"/>
          </a:p>
        </p:txBody>
      </p:sp>
      <p:sp>
        <p:nvSpPr>
          <p:cNvPr id="20" name="Text 17"/>
          <p:cNvSpPr txBox="1"/>
          <p:nvPr/>
        </p:nvSpPr>
        <p:spPr>
          <a:xfrm>
            <a:off x="1188720" y="3895344"/>
            <a:ext cx="4530852" cy="292608"/>
          </a:xfrm>
          <a:prstGeom prst="rect">
            <a:avLst/>
          </a:prstGeom>
          <a:noFill/>
          <a:ln/>
        </p:spPr>
        <p:txBody>
          <a:bodyPr wrap="square" lIns="0" tIns="0" rIns="0" bIns="0" rtlCol="0" anchor="ctr"/>
          <a:lstStyle/>
          <a:p>
            <a:pPr indent="0" marL="0">
              <a:buNone/>
            </a:pPr>
            <a:r>
              <a:rPr lang="en-US" sz="1150" b="1" spc="60" kern="0" dirty="0">
                <a:solidFill>
                  <a:srgbClr val="8E3350"/>
                </a:solidFill>
                <a:latin typeface="Calibri" pitchFamily="34" charset="0"/>
                <a:ea typeface="Calibri" pitchFamily="34" charset="-122"/>
                <a:cs typeface="Calibri" pitchFamily="34" charset="-120"/>
              </a:rPr>
              <a:t>How it's used</a:t>
            </a:r>
            <a:endParaRPr lang="en-US" sz="1150" dirty="0"/>
          </a:p>
        </p:txBody>
      </p:sp>
      <p:sp>
        <p:nvSpPr>
          <p:cNvPr id="21" name="Text 18"/>
          <p:cNvSpPr txBox="1"/>
          <p:nvPr/>
        </p:nvSpPr>
        <p:spPr>
          <a:xfrm>
            <a:off x="822960" y="4279392"/>
            <a:ext cx="4850892" cy="1463040"/>
          </a:xfrm>
          <a:prstGeom prst="rect">
            <a:avLst/>
          </a:prstGeom>
          <a:noFill/>
          <a:ln/>
        </p:spPr>
        <p:txBody>
          <a:bodyPr wrap="square" lIns="0" tIns="0" rIns="0" bIns="0" rtlCol="0" anchor="t"/>
          <a:lstStyle/>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It sits inside the support workflow, ahead of any customer-facing response rather than in place of one.</a:t>
            </a:r>
            <a:endParaRPr lang="en-US" sz="1100" dirty="0"/>
          </a:p>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It speeds the engineer up but never speaks to the customer itself, so the accountable party is always a person.</a:t>
            </a:r>
            <a:endParaRPr lang="en-US" sz="1100" dirty="0"/>
          </a:p>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Solutions are polished for a multi-country, multi-language audience only after they have been confirmed technically correct.</a:t>
            </a:r>
            <a:endParaRPr lang="en-US" sz="1100" dirty="0"/>
          </a:p>
        </p:txBody>
      </p:sp>
      <p:sp>
        <p:nvSpPr>
          <p:cNvPr id="22" name="Shape 19"/>
          <p:cNvSpPr/>
          <p:nvPr/>
        </p:nvSpPr>
        <p:spPr>
          <a:xfrm>
            <a:off x="6240780" y="3730752"/>
            <a:ext cx="5399532" cy="2139696"/>
          </a:xfrm>
          <a:prstGeom prst="roundRect">
            <a:avLst>
              <a:gd name="adj" fmla="val 2564"/>
            </a:avLst>
          </a:prstGeom>
          <a:solidFill>
            <a:srgbClr val="F2F2EF"/>
          </a:solidFill>
          <a:ln w="12700">
            <a:solidFill>
              <a:srgbClr val="F2F2EF"/>
            </a:solidFill>
            <a:prstDash val="solid"/>
          </a:ln>
        </p:spPr>
      </p:sp>
      <p:sp>
        <p:nvSpPr>
          <p:cNvPr id="23" name="Shape 20"/>
          <p:cNvSpPr/>
          <p:nvPr/>
        </p:nvSpPr>
        <p:spPr>
          <a:xfrm>
            <a:off x="6478524" y="3895344"/>
            <a:ext cx="292608" cy="292608"/>
          </a:xfrm>
          <a:prstGeom prst="ellipse">
            <a:avLst/>
          </a:prstGeom>
          <a:solidFill>
            <a:srgbClr val="3C4759"/>
          </a:solidFill>
          <a:ln/>
        </p:spPr>
      </p:sp>
      <p:sp>
        <p:nvSpPr>
          <p:cNvPr id="24" name="Text 21"/>
          <p:cNvSpPr txBox="1"/>
          <p:nvPr/>
        </p:nvSpPr>
        <p:spPr>
          <a:xfrm>
            <a:off x="6478524" y="3895344"/>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mbria" pitchFamily="34" charset="0"/>
                <a:ea typeface="Cambria" pitchFamily="34" charset="-122"/>
                <a:cs typeface="Cambria" pitchFamily="34" charset="-120"/>
              </a:rPr>
              <a:t>M</a:t>
            </a:r>
            <a:endParaRPr lang="en-US" sz="1150" dirty="0"/>
          </a:p>
        </p:txBody>
      </p:sp>
      <p:sp>
        <p:nvSpPr>
          <p:cNvPr id="25" name="Text 22"/>
          <p:cNvSpPr txBox="1"/>
          <p:nvPr/>
        </p:nvSpPr>
        <p:spPr>
          <a:xfrm>
            <a:off x="6880860" y="3895344"/>
            <a:ext cx="4530852" cy="292608"/>
          </a:xfrm>
          <a:prstGeom prst="rect">
            <a:avLst/>
          </a:prstGeom>
          <a:noFill/>
          <a:ln/>
        </p:spPr>
        <p:txBody>
          <a:bodyPr wrap="square" lIns="0" tIns="0" rIns="0" bIns="0" rtlCol="0" anchor="ctr"/>
          <a:lstStyle/>
          <a:p>
            <a:pPr indent="0" marL="0">
              <a:buNone/>
            </a:pPr>
            <a:r>
              <a:rPr lang="en-US" sz="1150" b="1" spc="60" kern="0" dirty="0">
                <a:solidFill>
                  <a:srgbClr val="3C4759"/>
                </a:solidFill>
                <a:latin typeface="Calibri" pitchFamily="34" charset="0"/>
                <a:ea typeface="Calibri" pitchFamily="34" charset="-122"/>
                <a:cs typeface="Calibri" pitchFamily="34" charset="-120"/>
              </a:rPr>
              <a:t>Maintenance</a:t>
            </a:r>
            <a:endParaRPr lang="en-US" sz="1150" dirty="0"/>
          </a:p>
        </p:txBody>
      </p:sp>
      <p:sp>
        <p:nvSpPr>
          <p:cNvPr id="26" name="Text 23"/>
          <p:cNvSpPr txBox="1"/>
          <p:nvPr/>
        </p:nvSpPr>
        <p:spPr>
          <a:xfrm>
            <a:off x="6515100" y="4279392"/>
            <a:ext cx="4850892" cy="1463040"/>
          </a:xfrm>
          <a:prstGeom prst="rect">
            <a:avLst/>
          </a:prstGeom>
          <a:noFill/>
          <a:ln/>
        </p:spPr>
        <p:txBody>
          <a:bodyPr wrap="square" lIns="0" tIns="0" rIns="0" bIns="0" rtlCol="0" anchor="t"/>
          <a:lstStyle/>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A four-step gate stands before publication: check self-service history, establish the real problem, verify against the knowledge base, then reproduce.</a:t>
            </a:r>
            <a:endParaRPr lang="en-US" sz="1100" dirty="0"/>
          </a:p>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Every response is reviewed, validated and refined by an engineer before it reaches a customer.</a:t>
            </a:r>
            <a:endParaRPr lang="en-US" sz="1100" dirty="0"/>
          </a:p>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Elastic publishes no adoption metrics at all, so what is on offer here is a governance model rather than a scale story.</a:t>
            </a:r>
            <a:endParaRPr lang="en-US" sz="1100" dirty="0"/>
          </a:p>
        </p:txBody>
      </p:sp>
      <p:sp>
        <p:nvSpPr>
          <p:cNvPr id="27" name="Text 24"/>
          <p:cNvSpPr txBox="1"/>
          <p:nvPr/>
        </p:nvSpPr>
        <p:spPr>
          <a:xfrm>
            <a:off x="548640" y="5943600"/>
            <a:ext cx="2544318" cy="310896"/>
          </a:xfrm>
          <a:prstGeom prst="rect">
            <a:avLst/>
          </a:prstGeom>
          <a:noFill/>
          <a:ln/>
        </p:spPr>
        <p:txBody>
          <a:bodyPr wrap="square" lIns="0" tIns="0" rIns="0" bIns="0" rtlCol="0" anchor="b"/>
          <a:lstStyle/>
          <a:p>
            <a:pPr indent="0" marL="0">
              <a:buNone/>
            </a:pPr>
            <a:r>
              <a:rPr lang="en-US" sz="1900" b="1" dirty="0">
                <a:solidFill>
                  <a:srgbClr val="15181E"/>
                </a:solidFill>
                <a:latin typeface="Cambria" pitchFamily="34" charset="0"/>
                <a:ea typeface="Cambria" pitchFamily="34" charset="-122"/>
                <a:cs typeface="Cambria" pitchFamily="34" charset="-120"/>
              </a:rPr>
              <a:t>3</a:t>
            </a:r>
            <a:endParaRPr lang="en-US" sz="1900" dirty="0"/>
          </a:p>
        </p:txBody>
      </p:sp>
      <p:sp>
        <p:nvSpPr>
          <p:cNvPr id="28" name="Text 25"/>
          <p:cNvSpPr txBox="1"/>
          <p:nvPr/>
        </p:nvSpPr>
        <p:spPr>
          <a:xfrm>
            <a:off x="548640" y="6272784"/>
            <a:ext cx="2544318" cy="475488"/>
          </a:xfrm>
          <a:prstGeom prst="rect">
            <a:avLst/>
          </a:prstGeom>
          <a:noFill/>
          <a:ln/>
        </p:spPr>
        <p:txBody>
          <a:bodyPr wrap="square" lIns="0" tIns="0" rIns="0" bIns="0" rtlCol="0" anchor="t"/>
          <a:lstStyle/>
          <a:p>
            <a:pPr indent="0" marL="0">
              <a:lnSpc>
                <a:spcPct val="106000"/>
              </a:lnSpc>
              <a:buNone/>
            </a:pPr>
            <a:r>
              <a:rPr lang="en-US" sz="950" dirty="0">
                <a:solidFill>
                  <a:srgbClr val="6E7480"/>
                </a:solidFill>
                <a:latin typeface="Calibri" pitchFamily="34" charset="0"/>
                <a:ea typeface="Calibri" pitchFamily="34" charset="-122"/>
                <a:cs typeface="Calibri" pitchFamily="34" charset="-120"/>
              </a:rPr>
              <a:t>bounded AI roles, not one general assistant</a:t>
            </a:r>
            <a:endParaRPr lang="en-US" sz="950" dirty="0"/>
          </a:p>
        </p:txBody>
      </p:sp>
      <p:sp>
        <p:nvSpPr>
          <p:cNvPr id="29" name="Text 26"/>
          <p:cNvSpPr txBox="1"/>
          <p:nvPr/>
        </p:nvSpPr>
        <p:spPr>
          <a:xfrm>
            <a:off x="3321558" y="5943600"/>
            <a:ext cx="2544318" cy="310896"/>
          </a:xfrm>
          <a:prstGeom prst="rect">
            <a:avLst/>
          </a:prstGeom>
          <a:noFill/>
          <a:ln/>
        </p:spPr>
        <p:txBody>
          <a:bodyPr wrap="square" lIns="0" tIns="0" rIns="0" bIns="0" rtlCol="0" anchor="b"/>
          <a:lstStyle/>
          <a:p>
            <a:pPr indent="0" marL="0">
              <a:buNone/>
            </a:pPr>
            <a:r>
              <a:rPr lang="en-US" sz="1900" b="1" dirty="0">
                <a:solidFill>
                  <a:srgbClr val="15181E"/>
                </a:solidFill>
                <a:latin typeface="Cambria" pitchFamily="34" charset="0"/>
                <a:ea typeface="Cambria" pitchFamily="34" charset="-122"/>
                <a:cs typeface="Cambria" pitchFamily="34" charset="-120"/>
              </a:rPr>
              <a:t>4</a:t>
            </a:r>
            <a:endParaRPr lang="en-US" sz="1900" dirty="0"/>
          </a:p>
        </p:txBody>
      </p:sp>
      <p:sp>
        <p:nvSpPr>
          <p:cNvPr id="30" name="Text 27"/>
          <p:cNvSpPr txBox="1"/>
          <p:nvPr/>
        </p:nvSpPr>
        <p:spPr>
          <a:xfrm>
            <a:off x="3321558" y="6272784"/>
            <a:ext cx="2544318" cy="475488"/>
          </a:xfrm>
          <a:prstGeom prst="rect">
            <a:avLst/>
          </a:prstGeom>
          <a:noFill/>
          <a:ln/>
        </p:spPr>
        <p:txBody>
          <a:bodyPr wrap="square" lIns="0" tIns="0" rIns="0" bIns="0" rtlCol="0" anchor="t"/>
          <a:lstStyle/>
          <a:p>
            <a:pPr indent="0" marL="0">
              <a:lnSpc>
                <a:spcPct val="106000"/>
              </a:lnSpc>
              <a:buNone/>
            </a:pPr>
            <a:r>
              <a:rPr lang="en-US" sz="950" dirty="0">
                <a:solidFill>
                  <a:srgbClr val="6E7480"/>
                </a:solidFill>
                <a:latin typeface="Calibri" pitchFamily="34" charset="0"/>
                <a:ea typeface="Calibri" pitchFamily="34" charset="-122"/>
                <a:cs typeface="Calibri" pitchFamily="34" charset="-120"/>
              </a:rPr>
              <a:t>verification steps before anything publishes</a:t>
            </a:r>
            <a:endParaRPr lang="en-US" sz="950" dirty="0"/>
          </a:p>
        </p:txBody>
      </p:sp>
      <p:sp>
        <p:nvSpPr>
          <p:cNvPr id="31" name="Text 28"/>
          <p:cNvSpPr txBox="1"/>
          <p:nvPr/>
        </p:nvSpPr>
        <p:spPr>
          <a:xfrm>
            <a:off x="6094476" y="5943600"/>
            <a:ext cx="2544318" cy="310896"/>
          </a:xfrm>
          <a:prstGeom prst="rect">
            <a:avLst/>
          </a:prstGeom>
          <a:noFill/>
          <a:ln/>
        </p:spPr>
        <p:txBody>
          <a:bodyPr wrap="square" lIns="0" tIns="0" rIns="0" bIns="0" rtlCol="0" anchor="b"/>
          <a:lstStyle/>
          <a:p>
            <a:pPr indent="0" marL="0">
              <a:buNone/>
            </a:pPr>
            <a:r>
              <a:rPr lang="en-US" sz="1900" b="1" dirty="0">
                <a:solidFill>
                  <a:srgbClr val="15181E"/>
                </a:solidFill>
                <a:latin typeface="Cambria" pitchFamily="34" charset="0"/>
                <a:ea typeface="Cambria" pitchFamily="34" charset="-122"/>
                <a:cs typeface="Cambria" pitchFamily="34" charset="-120"/>
              </a:rPr>
              <a:t>“a brilliant intern”</a:t>
            </a:r>
            <a:endParaRPr lang="en-US" sz="1900" dirty="0"/>
          </a:p>
        </p:txBody>
      </p:sp>
      <p:sp>
        <p:nvSpPr>
          <p:cNvPr id="32" name="Text 29"/>
          <p:cNvSpPr txBox="1"/>
          <p:nvPr/>
        </p:nvSpPr>
        <p:spPr>
          <a:xfrm>
            <a:off x="6094476" y="6272784"/>
            <a:ext cx="2544318" cy="475488"/>
          </a:xfrm>
          <a:prstGeom prst="rect">
            <a:avLst/>
          </a:prstGeom>
          <a:noFill/>
          <a:ln/>
        </p:spPr>
        <p:txBody>
          <a:bodyPr wrap="square" lIns="0" tIns="0" rIns="0" bIns="0" rtlCol="0" anchor="t"/>
          <a:lstStyle/>
          <a:p>
            <a:pPr indent="0" marL="0">
              <a:lnSpc>
                <a:spcPct val="106000"/>
              </a:lnSpc>
              <a:buNone/>
            </a:pPr>
            <a:r>
              <a:rPr lang="en-US" sz="950" dirty="0">
                <a:solidFill>
                  <a:srgbClr val="6E7480"/>
                </a:solidFill>
                <a:latin typeface="Calibri" pitchFamily="34" charset="0"/>
                <a:ea typeface="Calibri" pitchFamily="34" charset="-122"/>
                <a:cs typeface="Calibri" pitchFamily="34" charset="-120"/>
              </a:rPr>
              <a:t>their own summary of the governance model</a:t>
            </a:r>
            <a:endParaRPr lang="en-US" sz="950" dirty="0"/>
          </a:p>
        </p:txBody>
      </p:sp>
      <p:sp>
        <p:nvSpPr>
          <p:cNvPr id="33" name="Text 30"/>
          <p:cNvSpPr txBox="1"/>
          <p:nvPr/>
        </p:nvSpPr>
        <p:spPr>
          <a:xfrm>
            <a:off x="8867394" y="5943600"/>
            <a:ext cx="2544318" cy="310896"/>
          </a:xfrm>
          <a:prstGeom prst="rect">
            <a:avLst/>
          </a:prstGeom>
          <a:noFill/>
          <a:ln/>
        </p:spPr>
        <p:txBody>
          <a:bodyPr wrap="square" lIns="0" tIns="0" rIns="0" bIns="0" rtlCol="0" anchor="b"/>
          <a:lstStyle/>
          <a:p>
            <a:pPr indent="0" marL="0">
              <a:buNone/>
            </a:pPr>
            <a:r>
              <a:rPr lang="en-US" sz="1900" b="1" dirty="0">
                <a:solidFill>
                  <a:srgbClr val="15181E"/>
                </a:solidFill>
                <a:latin typeface="Cambria" pitchFamily="34" charset="0"/>
                <a:ea typeface="Cambria" pitchFamily="34" charset="-122"/>
                <a:cs typeface="Cambria" pitchFamily="34" charset="-120"/>
              </a:rPr>
              <a:t>0</a:t>
            </a:r>
            <a:endParaRPr lang="en-US" sz="1900" dirty="0"/>
          </a:p>
        </p:txBody>
      </p:sp>
      <p:sp>
        <p:nvSpPr>
          <p:cNvPr id="34" name="Text 31"/>
          <p:cNvSpPr txBox="1"/>
          <p:nvPr/>
        </p:nvSpPr>
        <p:spPr>
          <a:xfrm>
            <a:off x="8867394" y="6272784"/>
            <a:ext cx="2544318" cy="475488"/>
          </a:xfrm>
          <a:prstGeom prst="rect">
            <a:avLst/>
          </a:prstGeom>
          <a:noFill/>
          <a:ln/>
        </p:spPr>
        <p:txBody>
          <a:bodyPr wrap="square" lIns="0" tIns="0" rIns="0" bIns="0" rtlCol="0" anchor="t"/>
          <a:lstStyle/>
          <a:p>
            <a:pPr indent="0" marL="0">
              <a:lnSpc>
                <a:spcPct val="106000"/>
              </a:lnSpc>
              <a:buNone/>
            </a:pPr>
            <a:r>
              <a:rPr lang="en-US" sz="950" dirty="0">
                <a:solidFill>
                  <a:srgbClr val="6E7480"/>
                </a:solidFill>
                <a:latin typeface="Calibri" pitchFamily="34" charset="0"/>
                <a:ea typeface="Calibri" pitchFamily="34" charset="-122"/>
                <a:cs typeface="Calibri" pitchFamily="34" charset="-120"/>
              </a:rPr>
              <a:t>adoption figures published anywhere</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C:\Users\chint\AppData\Local\Temp\claude\C--Users-chint-Development-conquerorchin-companywiki\d81c9c1b-31dc-4543-8328-70b4d6f55840\scratchpad\logos\elastic.png">    </p:cNvPr>
          <p:cNvPicPr>
            <a:picLocks noChangeAspect="1"/>
          </p:cNvPicPr>
          <p:nvPr/>
        </p:nvPicPr>
        <p:blipFill>
          <a:blip r:embed="rId1"/>
          <a:stretch>
            <a:fillRect/>
          </a:stretch>
        </p:blipFill>
        <p:spPr>
          <a:xfrm>
            <a:off x="548640" y="310896"/>
            <a:ext cx="365760" cy="365760"/>
          </a:xfrm>
          <a:prstGeom prst="rect">
            <a:avLst/>
          </a:prstGeom>
        </p:spPr>
      </p:pic>
      <p:sp>
        <p:nvSpPr>
          <p:cNvPr id="3" name="Text 0"/>
          <p:cNvSpPr txBox="1"/>
          <p:nvPr/>
        </p:nvSpPr>
        <p:spPr>
          <a:xfrm>
            <a:off x="1133856" y="237744"/>
            <a:ext cx="7132320" cy="548640"/>
          </a:xfrm>
          <a:prstGeom prst="rect">
            <a:avLst/>
          </a:prstGeom>
          <a:noFill/>
          <a:ln/>
        </p:spPr>
        <p:txBody>
          <a:bodyPr wrap="square" lIns="0" tIns="0" rIns="0" bIns="0" rtlCol="0" anchor="ctr"/>
          <a:lstStyle/>
          <a:p>
            <a:pPr indent="0" marL="0">
              <a:buNone/>
            </a:pPr>
            <a:r>
              <a:rPr lang="en-US" sz="2400" b="1" dirty="0">
                <a:solidFill>
                  <a:srgbClr val="15181E"/>
                </a:solidFill>
                <a:latin typeface="Cambria" pitchFamily="34" charset="0"/>
                <a:ea typeface="Cambria" pitchFamily="34" charset="-122"/>
                <a:cs typeface="Cambria" pitchFamily="34" charset="-120"/>
              </a:rPr>
              <a:t>Elastic</a:t>
            </a:r>
            <a:endParaRPr lang="en-US" sz="2400" dirty="0"/>
          </a:p>
        </p:txBody>
      </p:sp>
      <p:sp>
        <p:nvSpPr>
          <p:cNvPr id="4" name="Shape 1"/>
          <p:cNvSpPr/>
          <p:nvPr/>
        </p:nvSpPr>
        <p:spPr>
          <a:xfrm>
            <a:off x="9902952" y="347472"/>
            <a:ext cx="1737360" cy="274320"/>
          </a:xfrm>
          <a:prstGeom prst="roundRect">
            <a:avLst>
              <a:gd name="adj" fmla="val 50000"/>
            </a:avLst>
          </a:prstGeom>
          <a:solidFill>
            <a:srgbClr val="1F6F6B"/>
          </a:solidFill>
          <a:ln/>
        </p:spPr>
      </p:sp>
      <p:sp>
        <p:nvSpPr>
          <p:cNvPr id="5" name="Text 2"/>
          <p:cNvSpPr txBox="1"/>
          <p:nvPr/>
        </p:nvSpPr>
        <p:spPr>
          <a:xfrm>
            <a:off x="9902952" y="347472"/>
            <a:ext cx="17373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FIRST-PARTY</a:t>
            </a:r>
            <a:endParaRPr lang="en-US" sz="850" dirty="0"/>
          </a:p>
        </p:txBody>
      </p:sp>
      <p:sp>
        <p:nvSpPr>
          <p:cNvPr id="6" name="Text 3"/>
          <p:cNvSpPr txBox="1"/>
          <p:nvPr/>
        </p:nvSpPr>
        <p:spPr>
          <a:xfrm>
            <a:off x="548640" y="786384"/>
            <a:ext cx="10881360" cy="402336"/>
          </a:xfrm>
          <a:prstGeom prst="rect">
            <a:avLst/>
          </a:prstGeom>
          <a:noFill/>
          <a:ln/>
        </p:spPr>
        <p:txBody>
          <a:bodyPr wrap="square" lIns="0" tIns="0" rIns="0" bIns="0" rtlCol="0" anchor="t"/>
          <a:lstStyle/>
          <a:p>
            <a:pPr indent="0" marL="0">
              <a:lnSpc>
                <a:spcPct val="106000"/>
              </a:lnSpc>
              <a:buNone/>
            </a:pPr>
            <a:r>
              <a:rPr lang="en-US" sz="1450" dirty="0">
                <a:solidFill>
                  <a:srgbClr val="232833"/>
                </a:solidFill>
                <a:latin typeface="Calibri" pitchFamily="34" charset="0"/>
                <a:ea typeface="Calibri" pitchFamily="34" charset="-122"/>
                <a:cs typeface="Calibri" pitchFamily="34" charset="-120"/>
              </a:rPr>
              <a:t>The only design here where the gate, not the model, is the product. Everything narrows toward a single accountable engineer.</a:t>
            </a:r>
            <a:endParaRPr lang="en-US" sz="1450" dirty="0"/>
          </a:p>
        </p:txBody>
      </p:sp>
      <p:sp>
        <p:nvSpPr>
          <p:cNvPr id="7" name="Text 4"/>
          <p:cNvSpPr txBox="1"/>
          <p:nvPr/>
        </p:nvSpPr>
        <p:spPr>
          <a:xfrm>
            <a:off x="548640" y="1316736"/>
            <a:ext cx="5486400" cy="201168"/>
          </a:xfrm>
          <a:prstGeom prst="rect">
            <a:avLst/>
          </a:prstGeom>
          <a:noFill/>
          <a:ln/>
        </p:spPr>
        <p:txBody>
          <a:bodyPr wrap="square" lIns="0" tIns="0" rIns="0" bIns="0" rtlCol="0" anchor="ctr"/>
          <a:lstStyle/>
          <a:p>
            <a:pPr indent="0" marL="0">
              <a:buNone/>
            </a:pPr>
            <a:r>
              <a:rPr lang="en-US" sz="950" b="1" spc="200" kern="0" dirty="0">
                <a:solidFill>
                  <a:srgbClr val="C0761A"/>
                </a:solidFill>
                <a:latin typeface="Calibri" pitchFamily="34" charset="0"/>
                <a:ea typeface="Calibri" pitchFamily="34" charset="-122"/>
                <a:cs typeface="Calibri" pitchFamily="34" charset="-120"/>
              </a:rPr>
              <a:t>AI DRAFTS</a:t>
            </a:r>
            <a:endParaRPr lang="en-US" sz="950" dirty="0"/>
          </a:p>
        </p:txBody>
      </p:sp>
      <p:sp>
        <p:nvSpPr>
          <p:cNvPr id="8" name="Shape 5"/>
          <p:cNvSpPr/>
          <p:nvPr/>
        </p:nvSpPr>
        <p:spPr>
          <a:xfrm>
            <a:off x="548640" y="1554480"/>
            <a:ext cx="3465576" cy="1060704"/>
          </a:xfrm>
          <a:prstGeom prst="roundRect">
            <a:avLst>
              <a:gd name="adj" fmla="val 5172"/>
            </a:avLst>
          </a:prstGeom>
          <a:solidFill>
            <a:srgbClr val="F2F2EF"/>
          </a:solidFill>
          <a:ln w="12700">
            <a:solidFill>
              <a:srgbClr val="F2F2EF"/>
            </a:solidFill>
            <a:prstDash val="solid"/>
          </a:ln>
        </p:spPr>
      </p:sp>
      <p:sp>
        <p:nvSpPr>
          <p:cNvPr id="9" name="Text 6"/>
          <p:cNvSpPr txBox="1"/>
          <p:nvPr/>
        </p:nvSpPr>
        <p:spPr>
          <a:xfrm>
            <a:off x="749808" y="1627632"/>
            <a:ext cx="3063240" cy="256032"/>
          </a:xfrm>
          <a:prstGeom prst="rect">
            <a:avLst/>
          </a:prstGeom>
          <a:noFill/>
          <a:ln/>
        </p:spPr>
        <p:txBody>
          <a:bodyPr wrap="square" lIns="0" tIns="0" rIns="0" bIns="0" rtlCol="0" anchor="ctr"/>
          <a:lstStyle/>
          <a:p>
            <a:pPr indent="0" marL="0">
              <a:buNone/>
            </a:pPr>
            <a:r>
              <a:rPr lang="en-US" sz="1150" b="1" dirty="0">
                <a:solidFill>
                  <a:srgbClr val="C0761A"/>
                </a:solidFill>
                <a:latin typeface="Calibri" pitchFamily="34" charset="0"/>
                <a:ea typeface="Calibri" pitchFamily="34" charset="-122"/>
                <a:cs typeface="Calibri" pitchFamily="34" charset="-120"/>
              </a:rPr>
              <a:t>Research assistant</a:t>
            </a:r>
            <a:endParaRPr lang="en-US" sz="1150" dirty="0"/>
          </a:p>
        </p:txBody>
      </p:sp>
      <p:sp>
        <p:nvSpPr>
          <p:cNvPr id="10" name="Text 7"/>
          <p:cNvSpPr txBox="1"/>
          <p:nvPr/>
        </p:nvSpPr>
        <p:spPr>
          <a:xfrm>
            <a:off x="749808" y="1901952"/>
            <a:ext cx="3063240" cy="640080"/>
          </a:xfrm>
          <a:prstGeom prst="rect">
            <a:avLst/>
          </a:prstGeom>
          <a:noFill/>
          <a:ln/>
        </p:spPr>
        <p:txBody>
          <a:bodyPr wrap="square" lIns="0" tIns="0" rIns="0" bIns="0" rtlCol="0" anchor="t"/>
          <a:lstStyle/>
          <a:p>
            <a:pPr indent="0" marL="0">
              <a:lnSpc>
                <a:spcPct val="105000"/>
              </a:lnSpc>
              <a:buNone/>
            </a:pPr>
            <a:r>
              <a:rPr lang="en-US" sz="1000" dirty="0">
                <a:solidFill>
                  <a:srgbClr val="232833"/>
                </a:solidFill>
                <a:latin typeface="Calibri" pitchFamily="34" charset="0"/>
                <a:ea typeface="Calibri" pitchFamily="34" charset="-122"/>
                <a:cs typeface="Calibri" pitchFamily="34" charset="-120"/>
              </a:rPr>
              <a:t>Synthesises docs and case history into hypotheses, never conclusions.</a:t>
            </a:r>
            <a:endParaRPr lang="en-US" sz="1000" dirty="0"/>
          </a:p>
        </p:txBody>
      </p:sp>
      <p:sp>
        <p:nvSpPr>
          <p:cNvPr id="11" name="Shape 8"/>
          <p:cNvSpPr/>
          <p:nvPr/>
        </p:nvSpPr>
        <p:spPr>
          <a:xfrm>
            <a:off x="4361688" y="1554480"/>
            <a:ext cx="3465576" cy="1060704"/>
          </a:xfrm>
          <a:prstGeom prst="roundRect">
            <a:avLst>
              <a:gd name="adj" fmla="val 5172"/>
            </a:avLst>
          </a:prstGeom>
          <a:solidFill>
            <a:srgbClr val="F2F2EF"/>
          </a:solidFill>
          <a:ln w="12700">
            <a:solidFill>
              <a:srgbClr val="F2F2EF"/>
            </a:solidFill>
            <a:prstDash val="solid"/>
          </a:ln>
        </p:spPr>
      </p:sp>
      <p:sp>
        <p:nvSpPr>
          <p:cNvPr id="12" name="Text 9"/>
          <p:cNvSpPr txBox="1"/>
          <p:nvPr/>
        </p:nvSpPr>
        <p:spPr>
          <a:xfrm>
            <a:off x="4562856" y="1627632"/>
            <a:ext cx="3063240" cy="256032"/>
          </a:xfrm>
          <a:prstGeom prst="rect">
            <a:avLst/>
          </a:prstGeom>
          <a:noFill/>
          <a:ln/>
        </p:spPr>
        <p:txBody>
          <a:bodyPr wrap="square" lIns="0" tIns="0" rIns="0" bIns="0" rtlCol="0" anchor="ctr"/>
          <a:lstStyle/>
          <a:p>
            <a:pPr indent="0" marL="0">
              <a:buNone/>
            </a:pPr>
            <a:r>
              <a:rPr lang="en-US" sz="1150" b="1" dirty="0">
                <a:solidFill>
                  <a:srgbClr val="C0761A"/>
                </a:solidFill>
                <a:latin typeface="Calibri" pitchFamily="34" charset="0"/>
                <a:ea typeface="Calibri" pitchFamily="34" charset="-122"/>
                <a:cs typeface="Calibri" pitchFamily="34" charset="-120"/>
              </a:rPr>
              <a:t>Environment replicator</a:t>
            </a:r>
            <a:endParaRPr lang="en-US" sz="1150" dirty="0"/>
          </a:p>
        </p:txBody>
      </p:sp>
      <p:sp>
        <p:nvSpPr>
          <p:cNvPr id="13" name="Text 10"/>
          <p:cNvSpPr txBox="1"/>
          <p:nvPr/>
        </p:nvSpPr>
        <p:spPr>
          <a:xfrm>
            <a:off x="4562856" y="1901952"/>
            <a:ext cx="3063240" cy="640080"/>
          </a:xfrm>
          <a:prstGeom prst="rect">
            <a:avLst/>
          </a:prstGeom>
          <a:noFill/>
          <a:ln/>
        </p:spPr>
        <p:txBody>
          <a:bodyPr wrap="square" lIns="0" tIns="0" rIns="0" bIns="0" rtlCol="0" anchor="t"/>
          <a:lstStyle/>
          <a:p>
            <a:pPr indent="0" marL="0">
              <a:lnSpc>
                <a:spcPct val="105000"/>
              </a:lnSpc>
              <a:buNone/>
            </a:pPr>
            <a:r>
              <a:rPr lang="en-US" sz="1000" dirty="0">
                <a:solidFill>
                  <a:srgbClr val="232833"/>
                </a:solidFill>
                <a:latin typeface="Calibri" pitchFamily="34" charset="0"/>
                <a:ea typeface="Calibri" pitchFamily="34" charset="-122"/>
                <a:cs typeface="Calibri" pitchFamily="34" charset="-120"/>
              </a:rPr>
              <a:t>Builds synthetic data and mock configs shaped like the customer's system.</a:t>
            </a:r>
            <a:endParaRPr lang="en-US" sz="1000" dirty="0"/>
          </a:p>
        </p:txBody>
      </p:sp>
      <p:sp>
        <p:nvSpPr>
          <p:cNvPr id="14" name="Shape 11"/>
          <p:cNvSpPr/>
          <p:nvPr/>
        </p:nvSpPr>
        <p:spPr>
          <a:xfrm>
            <a:off x="8174736" y="1554480"/>
            <a:ext cx="3465576" cy="1060704"/>
          </a:xfrm>
          <a:prstGeom prst="roundRect">
            <a:avLst>
              <a:gd name="adj" fmla="val 5172"/>
            </a:avLst>
          </a:prstGeom>
          <a:solidFill>
            <a:srgbClr val="F2F2EF"/>
          </a:solidFill>
          <a:ln w="12700">
            <a:solidFill>
              <a:srgbClr val="F2F2EF"/>
            </a:solidFill>
            <a:prstDash val="solid"/>
          </a:ln>
        </p:spPr>
      </p:sp>
      <p:sp>
        <p:nvSpPr>
          <p:cNvPr id="15" name="Text 12"/>
          <p:cNvSpPr txBox="1"/>
          <p:nvPr/>
        </p:nvSpPr>
        <p:spPr>
          <a:xfrm>
            <a:off x="8375904" y="1627632"/>
            <a:ext cx="3063240" cy="256032"/>
          </a:xfrm>
          <a:prstGeom prst="rect">
            <a:avLst/>
          </a:prstGeom>
          <a:noFill/>
          <a:ln/>
        </p:spPr>
        <p:txBody>
          <a:bodyPr wrap="square" lIns="0" tIns="0" rIns="0" bIns="0" rtlCol="0" anchor="ctr"/>
          <a:lstStyle/>
          <a:p>
            <a:pPr indent="0" marL="0">
              <a:buNone/>
            </a:pPr>
            <a:r>
              <a:rPr lang="en-US" sz="1150" b="1" dirty="0">
                <a:solidFill>
                  <a:srgbClr val="C0761A"/>
                </a:solidFill>
                <a:latin typeface="Calibri" pitchFamily="34" charset="0"/>
                <a:ea typeface="Calibri" pitchFamily="34" charset="-122"/>
                <a:cs typeface="Calibri" pitchFamily="34" charset="-120"/>
              </a:rPr>
              <a:t>Solution editor</a:t>
            </a:r>
            <a:endParaRPr lang="en-US" sz="1150" dirty="0"/>
          </a:p>
        </p:txBody>
      </p:sp>
      <p:sp>
        <p:nvSpPr>
          <p:cNvPr id="16" name="Text 13"/>
          <p:cNvSpPr txBox="1"/>
          <p:nvPr/>
        </p:nvSpPr>
        <p:spPr>
          <a:xfrm>
            <a:off x="8375904" y="1901952"/>
            <a:ext cx="3063240" cy="640080"/>
          </a:xfrm>
          <a:prstGeom prst="rect">
            <a:avLst/>
          </a:prstGeom>
          <a:noFill/>
          <a:ln/>
        </p:spPr>
        <p:txBody>
          <a:bodyPr wrap="square" lIns="0" tIns="0" rIns="0" bIns="0" rtlCol="0" anchor="t"/>
          <a:lstStyle/>
          <a:p>
            <a:pPr indent="0" marL="0">
              <a:lnSpc>
                <a:spcPct val="105000"/>
              </a:lnSpc>
              <a:buNone/>
            </a:pPr>
            <a:r>
              <a:rPr lang="en-US" sz="1000" dirty="0">
                <a:solidFill>
                  <a:srgbClr val="232833"/>
                </a:solidFill>
                <a:latin typeface="Calibri" pitchFamily="34" charset="0"/>
                <a:ea typeface="Calibri" pitchFamily="34" charset="-122"/>
                <a:cs typeface="Calibri" pitchFamily="34" charset="-120"/>
              </a:rPr>
              <a:t>Polishes grammar and clarity, and only once the technical check has passed.</a:t>
            </a:r>
            <a:endParaRPr lang="en-US" sz="1000" dirty="0"/>
          </a:p>
        </p:txBody>
      </p:sp>
      <p:sp>
        <p:nvSpPr>
          <p:cNvPr id="17" name="Text 14"/>
          <p:cNvSpPr txBox="1"/>
          <p:nvPr/>
        </p:nvSpPr>
        <p:spPr>
          <a:xfrm>
            <a:off x="548640" y="2798064"/>
            <a:ext cx="5486400" cy="201168"/>
          </a:xfrm>
          <a:prstGeom prst="rect">
            <a:avLst/>
          </a:prstGeom>
          <a:noFill/>
          <a:ln/>
        </p:spPr>
        <p:txBody>
          <a:bodyPr wrap="square" lIns="0" tIns="0" rIns="0" bIns="0" rtlCol="0" anchor="ctr"/>
          <a:lstStyle/>
          <a:p>
            <a:pPr indent="0" marL="0">
              <a:buNone/>
            </a:pPr>
            <a:r>
              <a:rPr lang="en-US" sz="950" b="1" spc="200" kern="0" dirty="0">
                <a:solidFill>
                  <a:srgbClr val="1F6F6B"/>
                </a:solidFill>
                <a:latin typeface="Calibri" pitchFamily="34" charset="0"/>
                <a:ea typeface="Calibri" pitchFamily="34" charset="-122"/>
                <a:cs typeface="Calibri" pitchFamily="34" charset="-120"/>
              </a:rPr>
              <a:t>THE GATE</a:t>
            </a:r>
            <a:endParaRPr lang="en-US" sz="950" dirty="0"/>
          </a:p>
        </p:txBody>
      </p:sp>
      <p:sp>
        <p:nvSpPr>
          <p:cNvPr id="18" name="Shape 15"/>
          <p:cNvSpPr/>
          <p:nvPr/>
        </p:nvSpPr>
        <p:spPr>
          <a:xfrm>
            <a:off x="548640" y="3035808"/>
            <a:ext cx="2512314" cy="1060704"/>
          </a:xfrm>
          <a:prstGeom prst="roundRect">
            <a:avLst>
              <a:gd name="adj" fmla="val 5172"/>
            </a:avLst>
          </a:prstGeom>
          <a:solidFill>
            <a:srgbClr val="F2F2EF"/>
          </a:solidFill>
          <a:ln w="12700">
            <a:solidFill>
              <a:srgbClr val="F2F2EF"/>
            </a:solidFill>
            <a:prstDash val="solid"/>
          </a:ln>
        </p:spPr>
      </p:sp>
      <p:sp>
        <p:nvSpPr>
          <p:cNvPr id="19" name="Text 16"/>
          <p:cNvSpPr txBox="1"/>
          <p:nvPr/>
        </p:nvSpPr>
        <p:spPr>
          <a:xfrm>
            <a:off x="749808" y="3108960"/>
            <a:ext cx="2109978" cy="256032"/>
          </a:xfrm>
          <a:prstGeom prst="rect">
            <a:avLst/>
          </a:prstGeom>
          <a:noFill/>
          <a:ln/>
        </p:spPr>
        <p:txBody>
          <a:bodyPr wrap="square" lIns="0" tIns="0" rIns="0" bIns="0" rtlCol="0" anchor="ctr"/>
          <a:lstStyle/>
          <a:p>
            <a:pPr indent="0" marL="0">
              <a:buNone/>
            </a:pPr>
            <a:r>
              <a:rPr lang="en-US" sz="1150" b="1" dirty="0">
                <a:solidFill>
                  <a:srgbClr val="1F6F6B"/>
                </a:solidFill>
                <a:latin typeface="Calibri" pitchFamily="34" charset="0"/>
                <a:ea typeface="Calibri" pitchFamily="34" charset="-122"/>
                <a:cs typeface="Calibri" pitchFamily="34" charset="-120"/>
              </a:rPr>
              <a:t>Check history</a:t>
            </a:r>
            <a:endParaRPr lang="en-US" sz="1150" dirty="0"/>
          </a:p>
        </p:txBody>
      </p:sp>
      <p:sp>
        <p:nvSpPr>
          <p:cNvPr id="20" name="Text 17"/>
          <p:cNvSpPr txBox="1"/>
          <p:nvPr/>
        </p:nvSpPr>
        <p:spPr>
          <a:xfrm>
            <a:off x="749808" y="3383280"/>
            <a:ext cx="2109978" cy="640080"/>
          </a:xfrm>
          <a:prstGeom prst="rect">
            <a:avLst/>
          </a:prstGeom>
          <a:noFill/>
          <a:ln/>
        </p:spPr>
        <p:txBody>
          <a:bodyPr wrap="square" lIns="0" tIns="0" rIns="0" bIns="0" rtlCol="0" anchor="t"/>
          <a:lstStyle/>
          <a:p>
            <a:pPr indent="0" marL="0">
              <a:lnSpc>
                <a:spcPct val="105000"/>
              </a:lnSpc>
              <a:buNone/>
            </a:pPr>
            <a:r>
              <a:rPr lang="en-US" sz="1000" dirty="0">
                <a:solidFill>
                  <a:srgbClr val="232833"/>
                </a:solidFill>
                <a:latin typeface="Calibri" pitchFamily="34" charset="0"/>
                <a:ea typeface="Calibri" pitchFamily="34" charset="-122"/>
                <a:cs typeface="Calibri" pitchFamily="34" charset="-120"/>
              </a:rPr>
              <a:t>Has self-service already answered this? If so, no new work is created.</a:t>
            </a:r>
            <a:endParaRPr lang="en-US" sz="1000" dirty="0"/>
          </a:p>
        </p:txBody>
      </p:sp>
      <p:sp>
        <p:nvSpPr>
          <p:cNvPr id="21" name="Text 18"/>
          <p:cNvSpPr txBox="1"/>
          <p:nvPr/>
        </p:nvSpPr>
        <p:spPr>
          <a:xfrm>
            <a:off x="3060954" y="3035808"/>
            <a:ext cx="347472" cy="1060704"/>
          </a:xfrm>
          <a:prstGeom prst="rect">
            <a:avLst/>
          </a:prstGeom>
          <a:noFill/>
          <a:ln/>
        </p:spPr>
        <p:txBody>
          <a:bodyPr wrap="square" lIns="0" tIns="0" rIns="0" bIns="0" rtlCol="0" anchor="ctr"/>
          <a:lstStyle/>
          <a:p>
            <a:pPr algn="ctr" indent="0" marL="0">
              <a:buNone/>
            </a:pPr>
            <a:r>
              <a:rPr lang="en-US" sz="1900" b="1" dirty="0">
                <a:solidFill>
                  <a:srgbClr val="A8AEBB"/>
                </a:solidFill>
                <a:latin typeface="Calibri" pitchFamily="34" charset="0"/>
                <a:ea typeface="Calibri" pitchFamily="34" charset="-122"/>
                <a:cs typeface="Calibri" pitchFamily="34" charset="-120"/>
              </a:rPr>
              <a:t>›</a:t>
            </a:r>
            <a:endParaRPr lang="en-US" sz="1900" dirty="0"/>
          </a:p>
        </p:txBody>
      </p:sp>
      <p:sp>
        <p:nvSpPr>
          <p:cNvPr id="22" name="Shape 19"/>
          <p:cNvSpPr/>
          <p:nvPr/>
        </p:nvSpPr>
        <p:spPr>
          <a:xfrm>
            <a:off x="3408426" y="3035808"/>
            <a:ext cx="2512314" cy="1060704"/>
          </a:xfrm>
          <a:prstGeom prst="roundRect">
            <a:avLst>
              <a:gd name="adj" fmla="val 5172"/>
            </a:avLst>
          </a:prstGeom>
          <a:solidFill>
            <a:srgbClr val="F2F2EF"/>
          </a:solidFill>
          <a:ln w="12700">
            <a:solidFill>
              <a:srgbClr val="F2F2EF"/>
            </a:solidFill>
            <a:prstDash val="solid"/>
          </a:ln>
        </p:spPr>
      </p:sp>
      <p:sp>
        <p:nvSpPr>
          <p:cNvPr id="23" name="Text 20"/>
          <p:cNvSpPr txBox="1"/>
          <p:nvPr/>
        </p:nvSpPr>
        <p:spPr>
          <a:xfrm>
            <a:off x="3609594" y="3108960"/>
            <a:ext cx="2109978" cy="256032"/>
          </a:xfrm>
          <a:prstGeom prst="rect">
            <a:avLst/>
          </a:prstGeom>
          <a:noFill/>
          <a:ln/>
        </p:spPr>
        <p:txBody>
          <a:bodyPr wrap="square" lIns="0" tIns="0" rIns="0" bIns="0" rtlCol="0" anchor="ctr"/>
          <a:lstStyle/>
          <a:p>
            <a:pPr indent="0" marL="0">
              <a:buNone/>
            </a:pPr>
            <a:r>
              <a:rPr lang="en-US" sz="1150" b="1" dirty="0">
                <a:solidFill>
                  <a:srgbClr val="1F6F6B"/>
                </a:solidFill>
                <a:latin typeface="Calibri" pitchFamily="34" charset="0"/>
                <a:ea typeface="Calibri" pitchFamily="34" charset="-122"/>
                <a:cs typeface="Calibri" pitchFamily="34" charset="-120"/>
              </a:rPr>
              <a:t>Establish the problem</a:t>
            </a:r>
            <a:endParaRPr lang="en-US" sz="1150" dirty="0"/>
          </a:p>
        </p:txBody>
      </p:sp>
      <p:sp>
        <p:nvSpPr>
          <p:cNvPr id="24" name="Text 21"/>
          <p:cNvSpPr txBox="1"/>
          <p:nvPr/>
        </p:nvSpPr>
        <p:spPr>
          <a:xfrm>
            <a:off x="3609594" y="3383280"/>
            <a:ext cx="2109978" cy="640080"/>
          </a:xfrm>
          <a:prstGeom prst="rect">
            <a:avLst/>
          </a:prstGeom>
          <a:noFill/>
          <a:ln/>
        </p:spPr>
        <p:txBody>
          <a:bodyPr wrap="square" lIns="0" tIns="0" rIns="0" bIns="0" rtlCol="0" anchor="t"/>
          <a:lstStyle/>
          <a:p>
            <a:pPr indent="0" marL="0">
              <a:lnSpc>
                <a:spcPct val="105000"/>
              </a:lnSpc>
              <a:buNone/>
            </a:pPr>
            <a:r>
              <a:rPr lang="en-US" sz="1000" dirty="0">
                <a:solidFill>
                  <a:srgbClr val="232833"/>
                </a:solidFill>
                <a:latin typeface="Calibri" pitchFamily="34" charset="0"/>
                <a:ea typeface="Calibri" pitchFamily="34" charset="-122"/>
                <a:cs typeface="Calibri" pitchFamily="34" charset="-120"/>
              </a:rPr>
              <a:t>The engineer states the real issue and the outcome the customer needs.</a:t>
            </a:r>
            <a:endParaRPr lang="en-US" sz="1000" dirty="0"/>
          </a:p>
        </p:txBody>
      </p:sp>
      <p:sp>
        <p:nvSpPr>
          <p:cNvPr id="25" name="Text 22"/>
          <p:cNvSpPr txBox="1"/>
          <p:nvPr/>
        </p:nvSpPr>
        <p:spPr>
          <a:xfrm>
            <a:off x="5920740" y="3035808"/>
            <a:ext cx="347472" cy="1060704"/>
          </a:xfrm>
          <a:prstGeom prst="rect">
            <a:avLst/>
          </a:prstGeom>
          <a:noFill/>
          <a:ln/>
        </p:spPr>
        <p:txBody>
          <a:bodyPr wrap="square" lIns="0" tIns="0" rIns="0" bIns="0" rtlCol="0" anchor="ctr"/>
          <a:lstStyle/>
          <a:p>
            <a:pPr algn="ctr" indent="0" marL="0">
              <a:buNone/>
            </a:pPr>
            <a:r>
              <a:rPr lang="en-US" sz="1900" b="1" dirty="0">
                <a:solidFill>
                  <a:srgbClr val="A8AEBB"/>
                </a:solidFill>
                <a:latin typeface="Calibri" pitchFamily="34" charset="0"/>
                <a:ea typeface="Calibri" pitchFamily="34" charset="-122"/>
                <a:cs typeface="Calibri" pitchFamily="34" charset="-120"/>
              </a:rPr>
              <a:t>›</a:t>
            </a:r>
            <a:endParaRPr lang="en-US" sz="1900" dirty="0"/>
          </a:p>
        </p:txBody>
      </p:sp>
      <p:sp>
        <p:nvSpPr>
          <p:cNvPr id="26" name="Shape 23"/>
          <p:cNvSpPr/>
          <p:nvPr/>
        </p:nvSpPr>
        <p:spPr>
          <a:xfrm>
            <a:off x="6268212" y="3035808"/>
            <a:ext cx="2512314" cy="1060704"/>
          </a:xfrm>
          <a:prstGeom prst="roundRect">
            <a:avLst>
              <a:gd name="adj" fmla="val 5172"/>
            </a:avLst>
          </a:prstGeom>
          <a:solidFill>
            <a:srgbClr val="F2F2EF"/>
          </a:solidFill>
          <a:ln w="12700">
            <a:solidFill>
              <a:srgbClr val="F2F2EF"/>
            </a:solidFill>
            <a:prstDash val="solid"/>
          </a:ln>
        </p:spPr>
      </p:sp>
      <p:sp>
        <p:nvSpPr>
          <p:cNvPr id="27" name="Text 24"/>
          <p:cNvSpPr txBox="1"/>
          <p:nvPr/>
        </p:nvSpPr>
        <p:spPr>
          <a:xfrm>
            <a:off x="6469380" y="3108960"/>
            <a:ext cx="2109978" cy="256032"/>
          </a:xfrm>
          <a:prstGeom prst="rect">
            <a:avLst/>
          </a:prstGeom>
          <a:noFill/>
          <a:ln/>
        </p:spPr>
        <p:txBody>
          <a:bodyPr wrap="square" lIns="0" tIns="0" rIns="0" bIns="0" rtlCol="0" anchor="ctr"/>
          <a:lstStyle/>
          <a:p>
            <a:pPr indent="0" marL="0">
              <a:buNone/>
            </a:pPr>
            <a:r>
              <a:rPr lang="en-US" sz="1150" b="1" dirty="0">
                <a:solidFill>
                  <a:srgbClr val="1F6F6B"/>
                </a:solidFill>
                <a:latin typeface="Calibri" pitchFamily="34" charset="0"/>
                <a:ea typeface="Calibri" pitchFamily="34" charset="-122"/>
                <a:cs typeface="Calibri" pitchFamily="34" charset="-120"/>
              </a:rPr>
              <a:t>Verify against docs</a:t>
            </a:r>
            <a:endParaRPr lang="en-US" sz="1150" dirty="0"/>
          </a:p>
        </p:txBody>
      </p:sp>
      <p:sp>
        <p:nvSpPr>
          <p:cNvPr id="28" name="Text 25"/>
          <p:cNvSpPr txBox="1"/>
          <p:nvPr/>
        </p:nvSpPr>
        <p:spPr>
          <a:xfrm>
            <a:off x="6469380" y="3383280"/>
            <a:ext cx="2109978" cy="640080"/>
          </a:xfrm>
          <a:prstGeom prst="rect">
            <a:avLst/>
          </a:prstGeom>
          <a:noFill/>
          <a:ln/>
        </p:spPr>
        <p:txBody>
          <a:bodyPr wrap="square" lIns="0" tIns="0" rIns="0" bIns="0" rtlCol="0" anchor="t"/>
          <a:lstStyle/>
          <a:p>
            <a:pPr indent="0" marL="0">
              <a:lnSpc>
                <a:spcPct val="105000"/>
              </a:lnSpc>
              <a:buNone/>
            </a:pPr>
            <a:r>
              <a:rPr lang="en-US" sz="1000" dirty="0">
                <a:solidFill>
                  <a:srgbClr val="232833"/>
                </a:solidFill>
                <a:latin typeface="Calibri" pitchFamily="34" charset="0"/>
                <a:ea typeface="Calibri" pitchFamily="34" charset="-122"/>
                <a:cs typeface="Calibri" pitchFamily="34" charset="-120"/>
              </a:rPr>
              <a:t>Every hypothesis is checked against the knowledge base and official documentation.</a:t>
            </a:r>
            <a:endParaRPr lang="en-US" sz="1000" dirty="0"/>
          </a:p>
        </p:txBody>
      </p:sp>
      <p:sp>
        <p:nvSpPr>
          <p:cNvPr id="29" name="Text 26"/>
          <p:cNvSpPr txBox="1"/>
          <p:nvPr/>
        </p:nvSpPr>
        <p:spPr>
          <a:xfrm>
            <a:off x="8780526" y="3035808"/>
            <a:ext cx="347472" cy="1060704"/>
          </a:xfrm>
          <a:prstGeom prst="rect">
            <a:avLst/>
          </a:prstGeom>
          <a:noFill/>
          <a:ln/>
        </p:spPr>
        <p:txBody>
          <a:bodyPr wrap="square" lIns="0" tIns="0" rIns="0" bIns="0" rtlCol="0" anchor="ctr"/>
          <a:lstStyle/>
          <a:p>
            <a:pPr algn="ctr" indent="0" marL="0">
              <a:buNone/>
            </a:pPr>
            <a:r>
              <a:rPr lang="en-US" sz="1900" b="1" dirty="0">
                <a:solidFill>
                  <a:srgbClr val="A8AEBB"/>
                </a:solidFill>
                <a:latin typeface="Calibri" pitchFamily="34" charset="0"/>
                <a:ea typeface="Calibri" pitchFamily="34" charset="-122"/>
                <a:cs typeface="Calibri" pitchFamily="34" charset="-120"/>
              </a:rPr>
              <a:t>›</a:t>
            </a:r>
            <a:endParaRPr lang="en-US" sz="1900" dirty="0"/>
          </a:p>
        </p:txBody>
      </p:sp>
      <p:sp>
        <p:nvSpPr>
          <p:cNvPr id="30" name="Shape 27"/>
          <p:cNvSpPr/>
          <p:nvPr/>
        </p:nvSpPr>
        <p:spPr>
          <a:xfrm>
            <a:off x="9127998" y="3035808"/>
            <a:ext cx="2512314" cy="1060704"/>
          </a:xfrm>
          <a:prstGeom prst="roundRect">
            <a:avLst>
              <a:gd name="adj" fmla="val 5172"/>
            </a:avLst>
          </a:prstGeom>
          <a:solidFill>
            <a:srgbClr val="F2F2EF"/>
          </a:solidFill>
          <a:ln w="12700">
            <a:solidFill>
              <a:srgbClr val="F2F2EF"/>
            </a:solidFill>
            <a:prstDash val="solid"/>
          </a:ln>
        </p:spPr>
      </p:sp>
      <p:sp>
        <p:nvSpPr>
          <p:cNvPr id="31" name="Text 28"/>
          <p:cNvSpPr txBox="1"/>
          <p:nvPr/>
        </p:nvSpPr>
        <p:spPr>
          <a:xfrm>
            <a:off x="9329166" y="3108960"/>
            <a:ext cx="2109978" cy="256032"/>
          </a:xfrm>
          <a:prstGeom prst="rect">
            <a:avLst/>
          </a:prstGeom>
          <a:noFill/>
          <a:ln/>
        </p:spPr>
        <p:txBody>
          <a:bodyPr wrap="square" lIns="0" tIns="0" rIns="0" bIns="0" rtlCol="0" anchor="ctr"/>
          <a:lstStyle/>
          <a:p>
            <a:pPr indent="0" marL="0">
              <a:buNone/>
            </a:pPr>
            <a:r>
              <a:rPr lang="en-US" sz="1150" b="1" dirty="0">
                <a:solidFill>
                  <a:srgbClr val="1F6F6B"/>
                </a:solidFill>
                <a:latin typeface="Calibri" pitchFamily="34" charset="0"/>
                <a:ea typeface="Calibri" pitchFamily="34" charset="-122"/>
                <a:cs typeface="Calibri" pitchFamily="34" charset="-120"/>
              </a:rPr>
              <a:t>Reproduce it</a:t>
            </a:r>
            <a:endParaRPr lang="en-US" sz="1150" dirty="0"/>
          </a:p>
        </p:txBody>
      </p:sp>
      <p:sp>
        <p:nvSpPr>
          <p:cNvPr id="32" name="Text 29"/>
          <p:cNvSpPr txBox="1"/>
          <p:nvPr/>
        </p:nvSpPr>
        <p:spPr>
          <a:xfrm>
            <a:off x="9329166" y="3383280"/>
            <a:ext cx="2109978" cy="640080"/>
          </a:xfrm>
          <a:prstGeom prst="rect">
            <a:avLst/>
          </a:prstGeom>
          <a:noFill/>
          <a:ln/>
        </p:spPr>
        <p:txBody>
          <a:bodyPr wrap="square" lIns="0" tIns="0" rIns="0" bIns="0" rtlCol="0" anchor="t"/>
          <a:lstStyle/>
          <a:p>
            <a:pPr indent="0" marL="0">
              <a:lnSpc>
                <a:spcPct val="105000"/>
              </a:lnSpc>
              <a:buNone/>
            </a:pPr>
            <a:r>
              <a:rPr lang="en-US" sz="1000" dirty="0">
                <a:solidFill>
                  <a:srgbClr val="232833"/>
                </a:solidFill>
                <a:latin typeface="Calibri" pitchFamily="34" charset="0"/>
                <a:ea typeface="Calibri" pitchFamily="34" charset="-122"/>
                <a:cs typeface="Calibri" pitchFamily="34" charset="-120"/>
              </a:rPr>
              <a:t>Where feasible, the fix is reproduced in a controlled environment before it ships.</a:t>
            </a:r>
            <a:endParaRPr lang="en-US" sz="1000" dirty="0"/>
          </a:p>
        </p:txBody>
      </p:sp>
      <p:sp>
        <p:nvSpPr>
          <p:cNvPr id="33" name="Text 30"/>
          <p:cNvSpPr txBox="1"/>
          <p:nvPr/>
        </p:nvSpPr>
        <p:spPr>
          <a:xfrm>
            <a:off x="548640" y="4279392"/>
            <a:ext cx="5486400" cy="201168"/>
          </a:xfrm>
          <a:prstGeom prst="rect">
            <a:avLst/>
          </a:prstGeom>
          <a:noFill/>
          <a:ln/>
        </p:spPr>
        <p:txBody>
          <a:bodyPr wrap="square" lIns="0" tIns="0" rIns="0" bIns="0" rtlCol="0" anchor="ctr"/>
          <a:lstStyle/>
          <a:p>
            <a:pPr indent="0" marL="0">
              <a:buNone/>
            </a:pPr>
            <a:r>
              <a:rPr lang="en-US" sz="950" b="1" spc="200" kern="0" dirty="0">
                <a:solidFill>
                  <a:srgbClr val="8E3350"/>
                </a:solidFill>
                <a:latin typeface="Calibri" pitchFamily="34" charset="0"/>
                <a:ea typeface="Calibri" pitchFamily="34" charset="-122"/>
                <a:cs typeface="Calibri" pitchFamily="34" charset="-120"/>
              </a:rPr>
              <a:t>SHIP</a:t>
            </a:r>
            <a:endParaRPr lang="en-US" sz="950" dirty="0"/>
          </a:p>
        </p:txBody>
      </p:sp>
      <p:sp>
        <p:nvSpPr>
          <p:cNvPr id="34" name="Shape 31"/>
          <p:cNvSpPr/>
          <p:nvPr/>
        </p:nvSpPr>
        <p:spPr>
          <a:xfrm>
            <a:off x="548640" y="4517136"/>
            <a:ext cx="5372100" cy="1060704"/>
          </a:xfrm>
          <a:prstGeom prst="roundRect">
            <a:avLst>
              <a:gd name="adj" fmla="val 5172"/>
            </a:avLst>
          </a:prstGeom>
          <a:solidFill>
            <a:srgbClr val="F2F2EF"/>
          </a:solidFill>
          <a:ln w="12700">
            <a:solidFill>
              <a:srgbClr val="F2F2EF"/>
            </a:solidFill>
            <a:prstDash val="solid"/>
          </a:ln>
        </p:spPr>
      </p:sp>
      <p:sp>
        <p:nvSpPr>
          <p:cNvPr id="35" name="Text 32"/>
          <p:cNvSpPr txBox="1"/>
          <p:nvPr/>
        </p:nvSpPr>
        <p:spPr>
          <a:xfrm>
            <a:off x="749808" y="4590288"/>
            <a:ext cx="4969764" cy="256032"/>
          </a:xfrm>
          <a:prstGeom prst="rect">
            <a:avLst/>
          </a:prstGeom>
          <a:noFill/>
          <a:ln/>
        </p:spPr>
        <p:txBody>
          <a:bodyPr wrap="square" lIns="0" tIns="0" rIns="0" bIns="0" rtlCol="0" anchor="ctr"/>
          <a:lstStyle/>
          <a:p>
            <a:pPr indent="0" marL="0">
              <a:buNone/>
            </a:pPr>
            <a:r>
              <a:rPr lang="en-US" sz="1150" b="1" dirty="0">
                <a:solidFill>
                  <a:srgbClr val="8E3350"/>
                </a:solidFill>
                <a:latin typeface="Calibri" pitchFamily="34" charset="0"/>
                <a:ea typeface="Calibri" pitchFamily="34" charset="-122"/>
                <a:cs typeface="Calibri" pitchFamily="34" charset="-120"/>
              </a:rPr>
              <a:t>Engineer reviews</a:t>
            </a:r>
            <a:endParaRPr lang="en-US" sz="1150" dirty="0"/>
          </a:p>
        </p:txBody>
      </p:sp>
      <p:sp>
        <p:nvSpPr>
          <p:cNvPr id="36" name="Text 33"/>
          <p:cNvSpPr txBox="1"/>
          <p:nvPr/>
        </p:nvSpPr>
        <p:spPr>
          <a:xfrm>
            <a:off x="749808" y="4864608"/>
            <a:ext cx="4969764" cy="640080"/>
          </a:xfrm>
          <a:prstGeom prst="rect">
            <a:avLst/>
          </a:prstGeom>
          <a:noFill/>
          <a:ln/>
        </p:spPr>
        <p:txBody>
          <a:bodyPr wrap="square" lIns="0" tIns="0" rIns="0" bIns="0" rtlCol="0" anchor="t"/>
          <a:lstStyle/>
          <a:p>
            <a:pPr indent="0" marL="0">
              <a:lnSpc>
                <a:spcPct val="105000"/>
              </a:lnSpc>
              <a:buNone/>
            </a:pPr>
            <a:r>
              <a:rPr lang="en-US" sz="1000" dirty="0">
                <a:solidFill>
                  <a:srgbClr val="232833"/>
                </a:solidFill>
                <a:latin typeface="Calibri" pitchFamily="34" charset="0"/>
                <a:ea typeface="Calibri" pitchFamily="34" charset="-122"/>
                <a:cs typeface="Calibri" pitchFamily="34" charset="-120"/>
              </a:rPr>
              <a:t>Every response is reviewed, validated and refined by a named person.</a:t>
            </a:r>
            <a:endParaRPr lang="en-US" sz="1000" dirty="0"/>
          </a:p>
        </p:txBody>
      </p:sp>
      <p:sp>
        <p:nvSpPr>
          <p:cNvPr id="37" name="Text 34"/>
          <p:cNvSpPr txBox="1"/>
          <p:nvPr/>
        </p:nvSpPr>
        <p:spPr>
          <a:xfrm>
            <a:off x="5920740" y="4517136"/>
            <a:ext cx="347472" cy="1060704"/>
          </a:xfrm>
          <a:prstGeom prst="rect">
            <a:avLst/>
          </a:prstGeom>
          <a:noFill/>
          <a:ln/>
        </p:spPr>
        <p:txBody>
          <a:bodyPr wrap="square" lIns="0" tIns="0" rIns="0" bIns="0" rtlCol="0" anchor="ctr"/>
          <a:lstStyle/>
          <a:p>
            <a:pPr algn="ctr" indent="0" marL="0">
              <a:buNone/>
            </a:pPr>
            <a:r>
              <a:rPr lang="en-US" sz="1900" b="1" dirty="0">
                <a:solidFill>
                  <a:srgbClr val="A8AEBB"/>
                </a:solidFill>
                <a:latin typeface="Calibri" pitchFamily="34" charset="0"/>
                <a:ea typeface="Calibri" pitchFamily="34" charset="-122"/>
                <a:cs typeface="Calibri" pitchFamily="34" charset="-120"/>
              </a:rPr>
              <a:t>›</a:t>
            </a:r>
            <a:endParaRPr lang="en-US" sz="1900" dirty="0"/>
          </a:p>
        </p:txBody>
      </p:sp>
      <p:sp>
        <p:nvSpPr>
          <p:cNvPr id="38" name="Shape 35"/>
          <p:cNvSpPr/>
          <p:nvPr/>
        </p:nvSpPr>
        <p:spPr>
          <a:xfrm>
            <a:off x="6268212" y="4517136"/>
            <a:ext cx="5372100" cy="1060704"/>
          </a:xfrm>
          <a:prstGeom prst="roundRect">
            <a:avLst>
              <a:gd name="adj" fmla="val 5172"/>
            </a:avLst>
          </a:prstGeom>
          <a:solidFill>
            <a:srgbClr val="F2F2EF"/>
          </a:solidFill>
          <a:ln w="12700">
            <a:solidFill>
              <a:srgbClr val="F2F2EF"/>
            </a:solidFill>
            <a:prstDash val="solid"/>
          </a:ln>
        </p:spPr>
      </p:sp>
      <p:sp>
        <p:nvSpPr>
          <p:cNvPr id="39" name="Text 36"/>
          <p:cNvSpPr txBox="1"/>
          <p:nvPr/>
        </p:nvSpPr>
        <p:spPr>
          <a:xfrm>
            <a:off x="6469380" y="4590288"/>
            <a:ext cx="4969764" cy="256032"/>
          </a:xfrm>
          <a:prstGeom prst="rect">
            <a:avLst/>
          </a:prstGeom>
          <a:noFill/>
          <a:ln/>
        </p:spPr>
        <p:txBody>
          <a:bodyPr wrap="square" lIns="0" tIns="0" rIns="0" bIns="0" rtlCol="0" anchor="ctr"/>
          <a:lstStyle/>
          <a:p>
            <a:pPr indent="0" marL="0">
              <a:buNone/>
            </a:pPr>
            <a:r>
              <a:rPr lang="en-US" sz="1150" b="1" dirty="0">
                <a:solidFill>
                  <a:srgbClr val="8E3350"/>
                </a:solidFill>
                <a:latin typeface="Calibri" pitchFamily="34" charset="0"/>
                <a:ea typeface="Calibri" pitchFamily="34" charset="-122"/>
                <a:cs typeface="Calibri" pitchFamily="34" charset="-120"/>
              </a:rPr>
              <a:t>Customer receives</a:t>
            </a:r>
            <a:endParaRPr lang="en-US" sz="1150" dirty="0"/>
          </a:p>
        </p:txBody>
      </p:sp>
      <p:sp>
        <p:nvSpPr>
          <p:cNvPr id="40" name="Text 37"/>
          <p:cNvSpPr txBox="1"/>
          <p:nvPr/>
        </p:nvSpPr>
        <p:spPr>
          <a:xfrm>
            <a:off x="6469380" y="4864608"/>
            <a:ext cx="4969764" cy="640080"/>
          </a:xfrm>
          <a:prstGeom prst="rect">
            <a:avLst/>
          </a:prstGeom>
          <a:noFill/>
          <a:ln/>
        </p:spPr>
        <p:txBody>
          <a:bodyPr wrap="square" lIns="0" tIns="0" rIns="0" bIns="0" rtlCol="0" anchor="t"/>
          <a:lstStyle/>
          <a:p>
            <a:pPr indent="0" marL="0">
              <a:lnSpc>
                <a:spcPct val="105000"/>
              </a:lnSpc>
              <a:buNone/>
            </a:pPr>
            <a:r>
              <a:rPr lang="en-US" sz="1000" dirty="0">
                <a:solidFill>
                  <a:srgbClr val="232833"/>
                </a:solidFill>
                <a:latin typeface="Calibri" pitchFamily="34" charset="0"/>
                <a:ea typeface="Calibri" pitchFamily="34" charset="-122"/>
                <a:cs typeface="Calibri" pitchFamily="34" charset="-120"/>
              </a:rPr>
              <a:t>What arrives has been through the gate; the AI never speaks to the customer.</a:t>
            </a:r>
            <a:endParaRPr lang="en-US" sz="1000" dirty="0"/>
          </a:p>
        </p:txBody>
      </p:sp>
      <p:sp>
        <p:nvSpPr>
          <p:cNvPr id="41" name="Text 38"/>
          <p:cNvSpPr txBox="1"/>
          <p:nvPr/>
        </p:nvSpPr>
        <p:spPr>
          <a:xfrm>
            <a:off x="548640" y="5870448"/>
            <a:ext cx="11091672" cy="603504"/>
          </a:xfrm>
          <a:prstGeom prst="rect">
            <a:avLst/>
          </a:prstGeom>
          <a:noFill/>
          <a:ln/>
        </p:spPr>
        <p:txBody>
          <a:bodyPr wrap="square" lIns="0" tIns="0" rIns="0" bIns="0" rtlCol="0" anchor="t"/>
          <a:lstStyle/>
          <a:p>
            <a:pPr indent="0" marL="0">
              <a:lnSpc>
                <a:spcPct val="112000"/>
              </a:lnSpc>
              <a:buNone/>
            </a:pPr>
            <a:r>
              <a:rPr lang="en-US" sz="1050" i="1" dirty="0">
                <a:solidFill>
                  <a:srgbClr val="6E7480"/>
                </a:solidFill>
                <a:latin typeface="Calibri" pitchFamily="34" charset="0"/>
                <a:ea typeface="Calibri" pitchFamily="34" charset="-122"/>
                <a:cs typeface="Calibri" pitchFamily="34" charset="-120"/>
              </a:rPr>
              <a:t>Elastic publishes no adoption numbers, which makes this the one company in the set offering a governance model rather than a scale story. The gate is not a lack of confidence in the model. It is that accountability cannot be delegated to one.</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29184"/>
            <a:ext cx="420624" cy="420624"/>
          </a:xfrm>
          <a:prstGeom prst="roundRect">
            <a:avLst>
              <a:gd name="adj" fmla="val 17391"/>
            </a:avLst>
          </a:prstGeom>
          <a:solidFill>
            <a:srgbClr val="FFFFFF"/>
          </a:solidFill>
          <a:ln w="15875">
            <a:solidFill>
              <a:srgbClr val="15181E"/>
            </a:solidFill>
            <a:prstDash val="solid"/>
          </a:ln>
        </p:spPr>
      </p:sp>
      <p:sp>
        <p:nvSpPr>
          <p:cNvPr id="3" name="Text 1"/>
          <p:cNvSpPr txBox="1"/>
          <p:nvPr/>
        </p:nvSpPr>
        <p:spPr>
          <a:xfrm>
            <a:off x="548640" y="329184"/>
            <a:ext cx="420624" cy="420624"/>
          </a:xfrm>
          <a:prstGeom prst="rect">
            <a:avLst/>
          </a:prstGeom>
          <a:noFill/>
          <a:ln/>
        </p:spPr>
        <p:txBody>
          <a:bodyPr wrap="square" lIns="0" tIns="0" rIns="0" bIns="0" rtlCol="0" anchor="ctr"/>
          <a:lstStyle/>
          <a:p>
            <a:pPr algn="ctr" indent="0" marL="0">
              <a:buNone/>
            </a:pPr>
            <a:r>
              <a:rPr lang="en-US" sz="1300" b="1" spc="40" kern="0" dirty="0">
                <a:solidFill>
                  <a:srgbClr val="15181E"/>
                </a:solidFill>
                <a:latin typeface="Cambria" pitchFamily="34" charset="0"/>
                <a:ea typeface="Cambria" pitchFamily="34" charset="-122"/>
                <a:cs typeface="Cambria" pitchFamily="34" charset="-120"/>
              </a:rPr>
              <a:t>MS</a:t>
            </a:r>
            <a:endParaRPr lang="en-US" sz="1300" dirty="0"/>
          </a:p>
        </p:txBody>
      </p:sp>
      <p:sp>
        <p:nvSpPr>
          <p:cNvPr id="4" name="Text 2"/>
          <p:cNvSpPr txBox="1"/>
          <p:nvPr/>
        </p:nvSpPr>
        <p:spPr>
          <a:xfrm>
            <a:off x="1188720" y="256032"/>
            <a:ext cx="7132320" cy="548640"/>
          </a:xfrm>
          <a:prstGeom prst="rect">
            <a:avLst/>
          </a:prstGeom>
          <a:noFill/>
          <a:ln/>
        </p:spPr>
        <p:txBody>
          <a:bodyPr wrap="square" lIns="0" tIns="0" rIns="0" bIns="0" rtlCol="0" anchor="ctr"/>
          <a:lstStyle/>
          <a:p>
            <a:pPr indent="0" marL="0">
              <a:buNone/>
            </a:pPr>
            <a:r>
              <a:rPr lang="en-US" sz="3000" b="1" dirty="0">
                <a:solidFill>
                  <a:srgbClr val="15181E"/>
                </a:solidFill>
                <a:latin typeface="Cambria" pitchFamily="34" charset="0"/>
                <a:ea typeface="Cambria" pitchFamily="34" charset="-122"/>
                <a:cs typeface="Cambria" pitchFamily="34" charset="-120"/>
              </a:rPr>
              <a:t>Morgan Stanley</a:t>
            </a:r>
            <a:endParaRPr lang="en-US" sz="3000" dirty="0"/>
          </a:p>
        </p:txBody>
      </p:sp>
      <p:sp>
        <p:nvSpPr>
          <p:cNvPr id="5" name="Shape 3"/>
          <p:cNvSpPr/>
          <p:nvPr/>
        </p:nvSpPr>
        <p:spPr>
          <a:xfrm>
            <a:off x="8439912" y="384048"/>
            <a:ext cx="3200400" cy="274320"/>
          </a:xfrm>
          <a:prstGeom prst="roundRect">
            <a:avLst>
              <a:gd name="adj" fmla="val 50000"/>
            </a:avLst>
          </a:prstGeom>
          <a:solidFill>
            <a:srgbClr val="C0761A"/>
          </a:solidFill>
          <a:ln/>
        </p:spPr>
      </p:sp>
      <p:sp>
        <p:nvSpPr>
          <p:cNvPr id="6" name="Text 4"/>
          <p:cNvSpPr txBox="1"/>
          <p:nvPr/>
        </p:nvSpPr>
        <p:spPr>
          <a:xfrm>
            <a:off x="8439912" y="384048"/>
            <a:ext cx="3200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FIRST-PARTY PR</a:t>
            </a:r>
            <a:endParaRPr lang="en-US" sz="850" dirty="0"/>
          </a:p>
        </p:txBody>
      </p:sp>
      <p:sp>
        <p:nvSpPr>
          <p:cNvPr id="7" name="Text 5"/>
          <p:cNvSpPr txBox="1"/>
          <p:nvPr/>
        </p:nvSpPr>
        <p:spPr>
          <a:xfrm>
            <a:off x="548640" y="896112"/>
            <a:ext cx="10881360" cy="457200"/>
          </a:xfrm>
          <a:prstGeom prst="rect">
            <a:avLst/>
          </a:prstGeom>
          <a:noFill/>
          <a:ln/>
        </p:spPr>
        <p:txBody>
          <a:bodyPr wrap="square" lIns="0" tIns="0" rIns="0" bIns="0" rtlCol="0" anchor="t"/>
          <a:lstStyle/>
          <a:p>
            <a:pPr indent="0" marL="0">
              <a:lnSpc>
                <a:spcPct val="105000"/>
              </a:lnSpc>
              <a:buNone/>
            </a:pPr>
            <a:r>
              <a:rPr lang="en-US" sz="1550" b="1" dirty="0">
                <a:solidFill>
                  <a:srgbClr val="15181E"/>
                </a:solidFill>
                <a:latin typeface="Calibri" pitchFamily="34" charset="0"/>
                <a:ea typeface="Calibri" pitchFamily="34" charset="-122"/>
                <a:cs typeface="Calibri" pitchFamily="34" charset="-120"/>
              </a:rPr>
              <a:t>Assistant and AskResearchGPT. </a:t>
            </a:r>
            <a:r>
              <a:rPr lang="en-US" sz="1550" b="0" dirty="0">
                <a:solidFill>
                  <a:srgbClr val="232833"/>
                </a:solidFill>
                <a:latin typeface="Calibri" pitchFamily="34" charset="0"/>
                <a:ea typeface="Calibri" pitchFamily="34" charset="-122"/>
                <a:cs typeface="Calibri" pitchFamily="34" charset="-120"/>
              </a:rPr>
              <a:t>One vetted corpus, and a person who edits before the client sees anything.</a:t>
            </a:r>
            <a:pPr indent="0" marL="0">
              <a:lnSpc>
                <a:spcPct val="105000"/>
              </a:lnSpc>
              <a:buNone/>
            </a:pPr>
            <a:endParaRPr lang="en-US" sz="1550" dirty="0"/>
          </a:p>
        </p:txBody>
      </p:sp>
      <p:sp>
        <p:nvSpPr>
          <p:cNvPr id="8" name="Shape 6"/>
          <p:cNvSpPr/>
          <p:nvPr/>
        </p:nvSpPr>
        <p:spPr>
          <a:xfrm>
            <a:off x="548640" y="1463040"/>
            <a:ext cx="5399532" cy="2139696"/>
          </a:xfrm>
          <a:prstGeom prst="roundRect">
            <a:avLst>
              <a:gd name="adj" fmla="val 2564"/>
            </a:avLst>
          </a:prstGeom>
          <a:solidFill>
            <a:srgbClr val="F2F2EF"/>
          </a:solidFill>
          <a:ln w="12700">
            <a:solidFill>
              <a:srgbClr val="F2F2EF"/>
            </a:solidFill>
            <a:prstDash val="solid"/>
          </a:ln>
        </p:spPr>
      </p:sp>
      <p:sp>
        <p:nvSpPr>
          <p:cNvPr id="9" name="Shape 7"/>
          <p:cNvSpPr/>
          <p:nvPr/>
        </p:nvSpPr>
        <p:spPr>
          <a:xfrm>
            <a:off x="786384" y="1627632"/>
            <a:ext cx="292608" cy="292608"/>
          </a:xfrm>
          <a:prstGeom prst="ellipse">
            <a:avLst/>
          </a:prstGeom>
          <a:solidFill>
            <a:srgbClr val="C0761A"/>
          </a:solidFill>
          <a:ln/>
        </p:spPr>
      </p:sp>
      <p:sp>
        <p:nvSpPr>
          <p:cNvPr id="10" name="Text 8"/>
          <p:cNvSpPr txBox="1"/>
          <p:nvPr/>
        </p:nvSpPr>
        <p:spPr>
          <a:xfrm>
            <a:off x="786384" y="1627632"/>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mbria" pitchFamily="34" charset="0"/>
                <a:ea typeface="Cambria" pitchFamily="34" charset="-122"/>
                <a:cs typeface="Cambria" pitchFamily="34" charset="-120"/>
              </a:rPr>
              <a:t>I</a:t>
            </a:r>
            <a:endParaRPr lang="en-US" sz="1150" dirty="0"/>
          </a:p>
        </p:txBody>
      </p:sp>
      <p:sp>
        <p:nvSpPr>
          <p:cNvPr id="11" name="Text 9"/>
          <p:cNvSpPr txBox="1"/>
          <p:nvPr/>
        </p:nvSpPr>
        <p:spPr>
          <a:xfrm>
            <a:off x="1188720" y="1627632"/>
            <a:ext cx="4530852" cy="292608"/>
          </a:xfrm>
          <a:prstGeom prst="rect">
            <a:avLst/>
          </a:prstGeom>
          <a:noFill/>
          <a:ln/>
        </p:spPr>
        <p:txBody>
          <a:bodyPr wrap="square" lIns="0" tIns="0" rIns="0" bIns="0" rtlCol="0" anchor="ctr"/>
          <a:lstStyle/>
          <a:p>
            <a:pPr indent="0" marL="0">
              <a:buNone/>
            </a:pPr>
            <a:r>
              <a:rPr lang="en-US" sz="1150" b="1" spc="60" kern="0" dirty="0">
                <a:solidFill>
                  <a:srgbClr val="C0761A"/>
                </a:solidFill>
                <a:latin typeface="Calibri" pitchFamily="34" charset="0"/>
                <a:ea typeface="Calibri" pitchFamily="34" charset="-122"/>
                <a:cs typeface="Calibri" pitchFamily="34" charset="-120"/>
              </a:rPr>
              <a:t>Implementation</a:t>
            </a:r>
            <a:endParaRPr lang="en-US" sz="1150" dirty="0"/>
          </a:p>
        </p:txBody>
      </p:sp>
      <p:sp>
        <p:nvSpPr>
          <p:cNvPr id="12" name="Text 10"/>
          <p:cNvSpPr txBox="1"/>
          <p:nvPr/>
        </p:nvSpPr>
        <p:spPr>
          <a:xfrm>
            <a:off x="822960" y="2011680"/>
            <a:ext cx="4850892" cy="1463040"/>
          </a:xfrm>
          <a:prstGeom prst="rect">
            <a:avLst/>
          </a:prstGeom>
          <a:noFill/>
          <a:ln/>
        </p:spPr>
        <p:txBody>
          <a:bodyPr wrap="square" lIns="0" tIns="0" rIns="0" bIns="0" rtlCol="0" anchor="t"/>
          <a:lstStyle/>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GPT-4 answers exclusively from internal Morgan Stanley content, never the open web, and they say plainly they are not using ChatGPT.</a:t>
            </a:r>
            <a:endParaRPr lang="en-US" sz="1100" dirty="0"/>
          </a:p>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Two systems: the Assistant for Wealth Management, and AskResearchGPT across 70,000+ research reports a year for Institutional Securities.</a:t>
            </a:r>
            <a:endParaRPr lang="en-US" sz="1100" dirty="0"/>
          </a:p>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A workflow patented by the firm moves findings into an email draft in a single click, carrying links back to the source documents.</a:t>
            </a:r>
            <a:endParaRPr lang="en-US" sz="1100" dirty="0"/>
          </a:p>
        </p:txBody>
      </p:sp>
      <p:sp>
        <p:nvSpPr>
          <p:cNvPr id="13" name="Shape 11"/>
          <p:cNvSpPr/>
          <p:nvPr/>
        </p:nvSpPr>
        <p:spPr>
          <a:xfrm>
            <a:off x="6240780" y="1463040"/>
            <a:ext cx="5399532" cy="2139696"/>
          </a:xfrm>
          <a:prstGeom prst="roundRect">
            <a:avLst>
              <a:gd name="adj" fmla="val 2564"/>
            </a:avLst>
          </a:prstGeom>
          <a:solidFill>
            <a:srgbClr val="F2F2EF"/>
          </a:solidFill>
          <a:ln w="12700">
            <a:solidFill>
              <a:srgbClr val="F2F2EF"/>
            </a:solidFill>
            <a:prstDash val="solid"/>
          </a:ln>
        </p:spPr>
      </p:sp>
      <p:sp>
        <p:nvSpPr>
          <p:cNvPr id="14" name="Shape 12"/>
          <p:cNvSpPr/>
          <p:nvPr/>
        </p:nvSpPr>
        <p:spPr>
          <a:xfrm>
            <a:off x="6478524" y="1627632"/>
            <a:ext cx="292608" cy="292608"/>
          </a:xfrm>
          <a:prstGeom prst="ellipse">
            <a:avLst/>
          </a:prstGeom>
          <a:solidFill>
            <a:srgbClr val="1F6F6B"/>
          </a:solidFill>
          <a:ln/>
        </p:spPr>
      </p:sp>
      <p:sp>
        <p:nvSpPr>
          <p:cNvPr id="15" name="Text 13"/>
          <p:cNvSpPr txBox="1"/>
          <p:nvPr/>
        </p:nvSpPr>
        <p:spPr>
          <a:xfrm>
            <a:off x="6478524" y="1627632"/>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mbria" pitchFamily="34" charset="0"/>
                <a:ea typeface="Cambria" pitchFamily="34" charset="-122"/>
                <a:cs typeface="Cambria" pitchFamily="34" charset="-120"/>
              </a:rPr>
              <a:t>P</a:t>
            </a:r>
            <a:endParaRPr lang="en-US" sz="1150" dirty="0"/>
          </a:p>
        </p:txBody>
      </p:sp>
      <p:sp>
        <p:nvSpPr>
          <p:cNvPr id="16" name="Text 14"/>
          <p:cNvSpPr txBox="1"/>
          <p:nvPr/>
        </p:nvSpPr>
        <p:spPr>
          <a:xfrm>
            <a:off x="6880860" y="1627632"/>
            <a:ext cx="4530852" cy="292608"/>
          </a:xfrm>
          <a:prstGeom prst="rect">
            <a:avLst/>
          </a:prstGeom>
          <a:noFill/>
          <a:ln/>
        </p:spPr>
        <p:txBody>
          <a:bodyPr wrap="square" lIns="0" tIns="0" rIns="0" bIns="0" rtlCol="0" anchor="ctr"/>
          <a:lstStyle/>
          <a:p>
            <a:pPr indent="0" marL="0">
              <a:buNone/>
            </a:pPr>
            <a:r>
              <a:rPr lang="en-US" sz="1150" b="1" spc="60" kern="0" dirty="0">
                <a:solidFill>
                  <a:srgbClr val="1F6F6B"/>
                </a:solidFill>
                <a:latin typeface="Calibri" pitchFamily="34" charset="0"/>
                <a:ea typeface="Calibri" pitchFamily="34" charset="-122"/>
                <a:cs typeface="Calibri" pitchFamily="34" charset="-120"/>
              </a:rPr>
              <a:t>Philosophy</a:t>
            </a:r>
            <a:endParaRPr lang="en-US" sz="1150" dirty="0"/>
          </a:p>
        </p:txBody>
      </p:sp>
      <p:sp>
        <p:nvSpPr>
          <p:cNvPr id="17" name="Text 15"/>
          <p:cNvSpPr txBox="1"/>
          <p:nvPr/>
        </p:nvSpPr>
        <p:spPr>
          <a:xfrm>
            <a:off x="6515100" y="2011680"/>
            <a:ext cx="4850892" cy="1463040"/>
          </a:xfrm>
          <a:prstGeom prst="rect">
            <a:avLst/>
          </a:prstGeom>
          <a:noFill/>
          <a:ln/>
        </p:spPr>
        <p:txBody>
          <a:bodyPr wrap="square" lIns="0" tIns="0" rIns="0" bIns="0" rtlCol="0" anchor="t"/>
          <a:lstStyle/>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The curated, pre-vetted corpus is the control, which is a very different guardrail from prompt engineering or model choice.</a:t>
            </a:r>
            <a:endParaRPr lang="en-US" sz="1100" dirty="0"/>
          </a:p>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Their Co-President states it directly: the Financial Advisor and their teams remain the centre of the wealth management universe.</a:t>
            </a:r>
            <a:endParaRPr lang="en-US" sz="1100" dirty="0"/>
          </a:p>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Every answer carries links back to the underlying research, so the reader can verify a claim before repeating it.</a:t>
            </a:r>
            <a:endParaRPr lang="en-US" sz="1100" dirty="0"/>
          </a:p>
        </p:txBody>
      </p:sp>
      <p:sp>
        <p:nvSpPr>
          <p:cNvPr id="18" name="Shape 16"/>
          <p:cNvSpPr/>
          <p:nvPr/>
        </p:nvSpPr>
        <p:spPr>
          <a:xfrm>
            <a:off x="548640" y="3730752"/>
            <a:ext cx="5399532" cy="2139696"/>
          </a:xfrm>
          <a:prstGeom prst="roundRect">
            <a:avLst>
              <a:gd name="adj" fmla="val 2564"/>
            </a:avLst>
          </a:prstGeom>
          <a:solidFill>
            <a:srgbClr val="F2F2EF"/>
          </a:solidFill>
          <a:ln w="12700">
            <a:solidFill>
              <a:srgbClr val="F2F2EF"/>
            </a:solidFill>
            <a:prstDash val="solid"/>
          </a:ln>
        </p:spPr>
      </p:sp>
      <p:sp>
        <p:nvSpPr>
          <p:cNvPr id="19" name="Shape 17"/>
          <p:cNvSpPr/>
          <p:nvPr/>
        </p:nvSpPr>
        <p:spPr>
          <a:xfrm>
            <a:off x="786384" y="3895344"/>
            <a:ext cx="292608" cy="292608"/>
          </a:xfrm>
          <a:prstGeom prst="ellipse">
            <a:avLst/>
          </a:prstGeom>
          <a:solidFill>
            <a:srgbClr val="8E3350"/>
          </a:solidFill>
          <a:ln/>
        </p:spPr>
      </p:sp>
      <p:sp>
        <p:nvSpPr>
          <p:cNvPr id="20" name="Text 18"/>
          <p:cNvSpPr txBox="1"/>
          <p:nvPr/>
        </p:nvSpPr>
        <p:spPr>
          <a:xfrm>
            <a:off x="786384" y="3895344"/>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mbria" pitchFamily="34" charset="0"/>
                <a:ea typeface="Cambria" pitchFamily="34" charset="-122"/>
                <a:cs typeface="Cambria" pitchFamily="34" charset="-120"/>
              </a:rPr>
              <a:t>U</a:t>
            </a:r>
            <a:endParaRPr lang="en-US" sz="1150" dirty="0"/>
          </a:p>
        </p:txBody>
      </p:sp>
      <p:sp>
        <p:nvSpPr>
          <p:cNvPr id="21" name="Text 19"/>
          <p:cNvSpPr txBox="1"/>
          <p:nvPr/>
        </p:nvSpPr>
        <p:spPr>
          <a:xfrm>
            <a:off x="1188720" y="3895344"/>
            <a:ext cx="4530852" cy="292608"/>
          </a:xfrm>
          <a:prstGeom prst="rect">
            <a:avLst/>
          </a:prstGeom>
          <a:noFill/>
          <a:ln/>
        </p:spPr>
        <p:txBody>
          <a:bodyPr wrap="square" lIns="0" tIns="0" rIns="0" bIns="0" rtlCol="0" anchor="ctr"/>
          <a:lstStyle/>
          <a:p>
            <a:pPr indent="0" marL="0">
              <a:buNone/>
            </a:pPr>
            <a:r>
              <a:rPr lang="en-US" sz="1150" b="1" spc="60" kern="0" dirty="0">
                <a:solidFill>
                  <a:srgbClr val="8E3350"/>
                </a:solidFill>
                <a:latin typeface="Calibri" pitchFamily="34" charset="0"/>
                <a:ea typeface="Calibri" pitchFamily="34" charset="-122"/>
                <a:cs typeface="Calibri" pitchFamily="34" charset="-120"/>
              </a:rPr>
              <a:t>How it's used</a:t>
            </a:r>
            <a:endParaRPr lang="en-US" sz="1150" dirty="0"/>
          </a:p>
        </p:txBody>
      </p:sp>
      <p:sp>
        <p:nvSpPr>
          <p:cNvPr id="22" name="Text 20"/>
          <p:cNvSpPr txBox="1"/>
          <p:nvPr/>
        </p:nvSpPr>
        <p:spPr>
          <a:xfrm>
            <a:off x="822960" y="4279392"/>
            <a:ext cx="4850892" cy="1463040"/>
          </a:xfrm>
          <a:prstGeom prst="rect">
            <a:avLst/>
          </a:prstGeom>
          <a:noFill/>
          <a:ln/>
        </p:spPr>
        <p:txBody>
          <a:bodyPr wrap="square" lIns="0" tIns="0" rIns="0" bIns="0" rtlCol="0" anchor="t"/>
          <a:lstStyle/>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Announced March 2023; the Assistant rolled out to wealth-management advisors, AskResearchGPT to Institutional Securities in October 2024.</a:t>
            </a:r>
            <a:endParaRPr lang="en-US" sz="1100" dirty="0"/>
          </a:p>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Over 98% of advisor teams use the Assistant daily, and document access has risen from 20% to 80%.</a:t>
            </a:r>
            <a:endParaRPr lang="en-US" sz="1100" dirty="0"/>
          </a:p>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Three times the questions of the old tool, and a tenth of the time per client query, are CNBC interview figures rather than disclosure.</a:t>
            </a:r>
            <a:endParaRPr lang="en-US" sz="1100" dirty="0"/>
          </a:p>
        </p:txBody>
      </p:sp>
      <p:sp>
        <p:nvSpPr>
          <p:cNvPr id="23" name="Shape 21"/>
          <p:cNvSpPr/>
          <p:nvPr/>
        </p:nvSpPr>
        <p:spPr>
          <a:xfrm>
            <a:off x="6240780" y="3730752"/>
            <a:ext cx="5399532" cy="2139696"/>
          </a:xfrm>
          <a:prstGeom prst="roundRect">
            <a:avLst>
              <a:gd name="adj" fmla="val 2564"/>
            </a:avLst>
          </a:prstGeom>
          <a:solidFill>
            <a:srgbClr val="F2F2EF"/>
          </a:solidFill>
          <a:ln w="12700">
            <a:solidFill>
              <a:srgbClr val="F2F2EF"/>
            </a:solidFill>
            <a:prstDash val="solid"/>
          </a:ln>
        </p:spPr>
      </p:sp>
      <p:sp>
        <p:nvSpPr>
          <p:cNvPr id="24" name="Shape 22"/>
          <p:cNvSpPr/>
          <p:nvPr/>
        </p:nvSpPr>
        <p:spPr>
          <a:xfrm>
            <a:off x="6478524" y="3895344"/>
            <a:ext cx="292608" cy="292608"/>
          </a:xfrm>
          <a:prstGeom prst="ellipse">
            <a:avLst/>
          </a:prstGeom>
          <a:solidFill>
            <a:srgbClr val="3C4759"/>
          </a:solidFill>
          <a:ln/>
        </p:spPr>
      </p:sp>
      <p:sp>
        <p:nvSpPr>
          <p:cNvPr id="25" name="Text 23"/>
          <p:cNvSpPr txBox="1"/>
          <p:nvPr/>
        </p:nvSpPr>
        <p:spPr>
          <a:xfrm>
            <a:off x="6478524" y="3895344"/>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mbria" pitchFamily="34" charset="0"/>
                <a:ea typeface="Cambria" pitchFamily="34" charset="-122"/>
                <a:cs typeface="Cambria" pitchFamily="34" charset="-120"/>
              </a:rPr>
              <a:t>M</a:t>
            </a:r>
            <a:endParaRPr lang="en-US" sz="1150" dirty="0"/>
          </a:p>
        </p:txBody>
      </p:sp>
      <p:sp>
        <p:nvSpPr>
          <p:cNvPr id="26" name="Text 24"/>
          <p:cNvSpPr txBox="1"/>
          <p:nvPr/>
        </p:nvSpPr>
        <p:spPr>
          <a:xfrm>
            <a:off x="6880860" y="3895344"/>
            <a:ext cx="4530852" cy="292608"/>
          </a:xfrm>
          <a:prstGeom prst="rect">
            <a:avLst/>
          </a:prstGeom>
          <a:noFill/>
          <a:ln/>
        </p:spPr>
        <p:txBody>
          <a:bodyPr wrap="square" lIns="0" tIns="0" rIns="0" bIns="0" rtlCol="0" anchor="ctr"/>
          <a:lstStyle/>
          <a:p>
            <a:pPr indent="0" marL="0">
              <a:buNone/>
            </a:pPr>
            <a:r>
              <a:rPr lang="en-US" sz="1150" b="1" spc="60" kern="0" dirty="0">
                <a:solidFill>
                  <a:srgbClr val="3C4759"/>
                </a:solidFill>
                <a:latin typeface="Calibri" pitchFamily="34" charset="0"/>
                <a:ea typeface="Calibri" pitchFamily="34" charset="-122"/>
                <a:cs typeface="Calibri" pitchFamily="34" charset="-120"/>
              </a:rPr>
              <a:t>Maintenance</a:t>
            </a:r>
            <a:endParaRPr lang="en-US" sz="1150" dirty="0"/>
          </a:p>
        </p:txBody>
      </p:sp>
      <p:sp>
        <p:nvSpPr>
          <p:cNvPr id="27" name="Text 25"/>
          <p:cNvSpPr txBox="1"/>
          <p:nvPr/>
        </p:nvSpPr>
        <p:spPr>
          <a:xfrm>
            <a:off x="6515100" y="4279392"/>
            <a:ext cx="4850892" cy="1463040"/>
          </a:xfrm>
          <a:prstGeom prst="rect">
            <a:avLst/>
          </a:prstGeom>
          <a:noFill/>
          <a:ln/>
        </p:spPr>
        <p:txBody>
          <a:bodyPr wrap="square" lIns="0" tIns="0" rIns="0" bIns="0" rtlCol="0" anchor="t"/>
          <a:lstStyle/>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The corpus is the firm's own research pipeline, already curated and edited for publication before the model ever sees it.</a:t>
            </a:r>
            <a:endParaRPr lang="en-US" sz="1100" dirty="0"/>
          </a:p>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Every use case is evaluated before deployment: summarization evals graded by advisors, then translation evals for multilingual clients.</a:t>
            </a:r>
            <a:endParaRPr lang="en-US" sz="1100" dirty="0"/>
          </a:p>
          <a:p>
            <a:pPr marL="342900" indent="-342900">
              <a:lnSpc>
                <a:spcPct val="100000"/>
              </a:lnSpc>
              <a:spcAft>
                <a:spcPts val="600"/>
              </a:spcAft>
              <a:buSzPct val="100000"/>
              <a:buChar char="•"/>
            </a:pPr>
            <a:r>
              <a:rPr lang="en-US" sz="1100" dirty="0">
                <a:solidFill>
                  <a:srgbClr val="232833"/>
                </a:solidFill>
                <a:latin typeface="Calibri" pitchFamily="34" charset="0"/>
                <a:ea typeface="Calibri" pitchFamily="34" charset="-122"/>
                <a:cs typeface="Calibri" pitchFamily="34" charset="-120"/>
              </a:rPr>
              <a:t>A daily regression suite of sample questions runs as standing QA, and retrieval methods are tuned with OpenAI against the results.</a:t>
            </a:r>
            <a:endParaRPr lang="en-US" sz="1100" dirty="0"/>
          </a:p>
        </p:txBody>
      </p:sp>
      <p:sp>
        <p:nvSpPr>
          <p:cNvPr id="28" name="Text 26"/>
          <p:cNvSpPr txBox="1"/>
          <p:nvPr/>
        </p:nvSpPr>
        <p:spPr>
          <a:xfrm>
            <a:off x="548640" y="5943600"/>
            <a:ext cx="2544318" cy="310896"/>
          </a:xfrm>
          <a:prstGeom prst="rect">
            <a:avLst/>
          </a:prstGeom>
          <a:noFill/>
          <a:ln/>
        </p:spPr>
        <p:txBody>
          <a:bodyPr wrap="square" lIns="0" tIns="0" rIns="0" bIns="0" rtlCol="0" anchor="b"/>
          <a:lstStyle/>
          <a:p>
            <a:pPr indent="0" marL="0">
              <a:buNone/>
            </a:pPr>
            <a:r>
              <a:rPr lang="en-US" sz="1900" b="1" dirty="0">
                <a:solidFill>
                  <a:srgbClr val="15181E"/>
                </a:solidFill>
                <a:latin typeface="Cambria" pitchFamily="34" charset="0"/>
                <a:ea typeface="Cambria" pitchFamily="34" charset="-122"/>
                <a:cs typeface="Cambria" pitchFamily="34" charset="-120"/>
              </a:rPr>
              <a:t>70,000+</a:t>
            </a:r>
            <a:endParaRPr lang="en-US" sz="1900" dirty="0"/>
          </a:p>
        </p:txBody>
      </p:sp>
      <p:sp>
        <p:nvSpPr>
          <p:cNvPr id="29" name="Text 27"/>
          <p:cNvSpPr txBox="1"/>
          <p:nvPr/>
        </p:nvSpPr>
        <p:spPr>
          <a:xfrm>
            <a:off x="548640" y="6272784"/>
            <a:ext cx="2544318" cy="475488"/>
          </a:xfrm>
          <a:prstGeom prst="rect">
            <a:avLst/>
          </a:prstGeom>
          <a:noFill/>
          <a:ln/>
        </p:spPr>
        <p:txBody>
          <a:bodyPr wrap="square" lIns="0" tIns="0" rIns="0" bIns="0" rtlCol="0" anchor="t"/>
          <a:lstStyle/>
          <a:p>
            <a:pPr indent="0" marL="0">
              <a:lnSpc>
                <a:spcPct val="106000"/>
              </a:lnSpc>
              <a:buNone/>
            </a:pPr>
            <a:r>
              <a:rPr lang="en-US" sz="950" dirty="0">
                <a:solidFill>
                  <a:srgbClr val="6E7480"/>
                </a:solidFill>
                <a:latin typeface="Calibri" pitchFamily="34" charset="0"/>
                <a:ea typeface="Calibri" pitchFamily="34" charset="-122"/>
                <a:cs typeface="Calibri" pitchFamily="34" charset="-120"/>
              </a:rPr>
              <a:t>research reports a year in the corpus</a:t>
            </a:r>
            <a:endParaRPr lang="en-US" sz="950" dirty="0"/>
          </a:p>
        </p:txBody>
      </p:sp>
      <p:sp>
        <p:nvSpPr>
          <p:cNvPr id="30" name="Text 28"/>
          <p:cNvSpPr txBox="1"/>
          <p:nvPr/>
        </p:nvSpPr>
        <p:spPr>
          <a:xfrm>
            <a:off x="3321558" y="5943600"/>
            <a:ext cx="2544318" cy="310896"/>
          </a:xfrm>
          <a:prstGeom prst="rect">
            <a:avLst/>
          </a:prstGeom>
          <a:noFill/>
          <a:ln/>
        </p:spPr>
        <p:txBody>
          <a:bodyPr wrap="square" lIns="0" tIns="0" rIns="0" bIns="0" rtlCol="0" anchor="b"/>
          <a:lstStyle/>
          <a:p>
            <a:pPr indent="0" marL="0">
              <a:buNone/>
            </a:pPr>
            <a:r>
              <a:rPr lang="en-US" sz="1900" b="1" dirty="0">
                <a:solidFill>
                  <a:srgbClr val="15181E"/>
                </a:solidFill>
                <a:latin typeface="Cambria" pitchFamily="34" charset="0"/>
                <a:ea typeface="Cambria" pitchFamily="34" charset="-122"/>
                <a:cs typeface="Cambria" pitchFamily="34" charset="-120"/>
              </a:rPr>
              <a:t>80%</a:t>
            </a:r>
            <a:endParaRPr lang="en-US" sz="1900" dirty="0"/>
          </a:p>
        </p:txBody>
      </p:sp>
      <p:sp>
        <p:nvSpPr>
          <p:cNvPr id="31" name="Text 29"/>
          <p:cNvSpPr txBox="1"/>
          <p:nvPr/>
        </p:nvSpPr>
        <p:spPr>
          <a:xfrm>
            <a:off x="3321558" y="6272784"/>
            <a:ext cx="2544318" cy="475488"/>
          </a:xfrm>
          <a:prstGeom prst="rect">
            <a:avLst/>
          </a:prstGeom>
          <a:noFill/>
          <a:ln/>
        </p:spPr>
        <p:txBody>
          <a:bodyPr wrap="square" lIns="0" tIns="0" rIns="0" bIns="0" rtlCol="0" anchor="t"/>
          <a:lstStyle/>
          <a:p>
            <a:pPr indent="0" marL="0">
              <a:lnSpc>
                <a:spcPct val="106000"/>
              </a:lnSpc>
              <a:buNone/>
            </a:pPr>
            <a:r>
              <a:rPr lang="en-US" sz="950" dirty="0">
                <a:solidFill>
                  <a:srgbClr val="6E7480"/>
                </a:solidFill>
                <a:latin typeface="Calibri" pitchFamily="34" charset="0"/>
                <a:ea typeface="Calibri" pitchFamily="34" charset="-122"/>
                <a:cs typeface="Calibri" pitchFamily="34" charset="-120"/>
              </a:rPr>
              <a:t>of documents reachable, up from 20%</a:t>
            </a:r>
            <a:endParaRPr lang="en-US" sz="950" dirty="0"/>
          </a:p>
        </p:txBody>
      </p:sp>
      <p:sp>
        <p:nvSpPr>
          <p:cNvPr id="32" name="Text 30"/>
          <p:cNvSpPr txBox="1"/>
          <p:nvPr/>
        </p:nvSpPr>
        <p:spPr>
          <a:xfrm>
            <a:off x="6094476" y="5943600"/>
            <a:ext cx="2544318" cy="310896"/>
          </a:xfrm>
          <a:prstGeom prst="rect">
            <a:avLst/>
          </a:prstGeom>
          <a:noFill/>
          <a:ln/>
        </p:spPr>
        <p:txBody>
          <a:bodyPr wrap="square" lIns="0" tIns="0" rIns="0" bIns="0" rtlCol="0" anchor="b"/>
          <a:lstStyle/>
          <a:p>
            <a:pPr indent="0" marL="0">
              <a:buNone/>
            </a:pPr>
            <a:r>
              <a:rPr lang="en-US" sz="1900" b="1" dirty="0">
                <a:solidFill>
                  <a:srgbClr val="15181E"/>
                </a:solidFill>
                <a:latin typeface="Cambria" pitchFamily="34" charset="0"/>
                <a:ea typeface="Cambria" pitchFamily="34" charset="-122"/>
                <a:cs typeface="Cambria" pitchFamily="34" charset="-120"/>
              </a:rPr>
              <a:t>daily</a:t>
            </a:r>
            <a:endParaRPr lang="en-US" sz="1900" dirty="0"/>
          </a:p>
        </p:txBody>
      </p:sp>
      <p:sp>
        <p:nvSpPr>
          <p:cNvPr id="33" name="Text 31"/>
          <p:cNvSpPr txBox="1"/>
          <p:nvPr/>
        </p:nvSpPr>
        <p:spPr>
          <a:xfrm>
            <a:off x="6094476" y="6272784"/>
            <a:ext cx="2544318" cy="475488"/>
          </a:xfrm>
          <a:prstGeom prst="rect">
            <a:avLst/>
          </a:prstGeom>
          <a:noFill/>
          <a:ln/>
        </p:spPr>
        <p:txBody>
          <a:bodyPr wrap="square" lIns="0" tIns="0" rIns="0" bIns="0" rtlCol="0" anchor="t"/>
          <a:lstStyle/>
          <a:p>
            <a:pPr indent="0" marL="0">
              <a:lnSpc>
                <a:spcPct val="106000"/>
              </a:lnSpc>
              <a:buNone/>
            </a:pPr>
            <a:r>
              <a:rPr lang="en-US" sz="950" dirty="0">
                <a:solidFill>
                  <a:srgbClr val="6E7480"/>
                </a:solidFill>
                <a:latin typeface="Calibri" pitchFamily="34" charset="0"/>
                <a:ea typeface="Calibri" pitchFamily="34" charset="-122"/>
                <a:cs typeface="Calibri" pitchFamily="34" charset="-120"/>
              </a:rPr>
              <a:t>regression suite of sample questions</a:t>
            </a:r>
            <a:endParaRPr lang="en-US" sz="950" dirty="0"/>
          </a:p>
        </p:txBody>
      </p:sp>
      <p:sp>
        <p:nvSpPr>
          <p:cNvPr id="34" name="Text 32"/>
          <p:cNvSpPr txBox="1"/>
          <p:nvPr/>
        </p:nvSpPr>
        <p:spPr>
          <a:xfrm>
            <a:off x="8867394" y="5943600"/>
            <a:ext cx="2544318" cy="310896"/>
          </a:xfrm>
          <a:prstGeom prst="rect">
            <a:avLst/>
          </a:prstGeom>
          <a:noFill/>
          <a:ln/>
        </p:spPr>
        <p:txBody>
          <a:bodyPr wrap="square" lIns="0" tIns="0" rIns="0" bIns="0" rtlCol="0" anchor="b"/>
          <a:lstStyle/>
          <a:p>
            <a:pPr indent="0" marL="0">
              <a:buNone/>
            </a:pPr>
            <a:r>
              <a:rPr lang="en-US" sz="1900" b="1" dirty="0">
                <a:solidFill>
                  <a:srgbClr val="15181E"/>
                </a:solidFill>
                <a:latin typeface="Cambria" pitchFamily="34" charset="0"/>
                <a:ea typeface="Cambria" pitchFamily="34" charset="-122"/>
                <a:cs typeface="Cambria" pitchFamily="34" charset="-120"/>
              </a:rPr>
              <a:t>&gt;98%</a:t>
            </a:r>
            <a:endParaRPr lang="en-US" sz="1900" dirty="0"/>
          </a:p>
        </p:txBody>
      </p:sp>
      <p:sp>
        <p:nvSpPr>
          <p:cNvPr id="35" name="Text 33"/>
          <p:cNvSpPr txBox="1"/>
          <p:nvPr/>
        </p:nvSpPr>
        <p:spPr>
          <a:xfrm>
            <a:off x="8867394" y="6272784"/>
            <a:ext cx="2544318" cy="475488"/>
          </a:xfrm>
          <a:prstGeom prst="rect">
            <a:avLst/>
          </a:prstGeom>
          <a:noFill/>
          <a:ln/>
        </p:spPr>
        <p:txBody>
          <a:bodyPr wrap="square" lIns="0" tIns="0" rIns="0" bIns="0" rtlCol="0" anchor="t"/>
          <a:lstStyle/>
          <a:p>
            <a:pPr indent="0" marL="0">
              <a:lnSpc>
                <a:spcPct val="106000"/>
              </a:lnSpc>
              <a:buNone/>
            </a:pPr>
            <a:r>
              <a:rPr lang="en-US" sz="950" dirty="0">
                <a:solidFill>
                  <a:srgbClr val="6E7480"/>
                </a:solidFill>
                <a:latin typeface="Calibri" pitchFamily="34" charset="0"/>
                <a:ea typeface="Calibri" pitchFamily="34" charset="-122"/>
                <a:cs typeface="Calibri" pitchFamily="34" charset="-120"/>
              </a:rPr>
              <a:t>of advisor teams use the Assistant daily</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10896"/>
            <a:ext cx="365760" cy="365760"/>
          </a:xfrm>
          <a:prstGeom prst="roundRect">
            <a:avLst>
              <a:gd name="adj" fmla="val 20000"/>
            </a:avLst>
          </a:prstGeom>
          <a:solidFill>
            <a:srgbClr val="FFFFFF"/>
          </a:solidFill>
          <a:ln w="15875">
            <a:solidFill>
              <a:srgbClr val="15181E"/>
            </a:solidFill>
            <a:prstDash val="solid"/>
          </a:ln>
        </p:spPr>
      </p:sp>
      <p:sp>
        <p:nvSpPr>
          <p:cNvPr id="3" name="Text 1"/>
          <p:cNvSpPr txBox="1"/>
          <p:nvPr/>
        </p:nvSpPr>
        <p:spPr>
          <a:xfrm>
            <a:off x="548640" y="310896"/>
            <a:ext cx="365760" cy="365760"/>
          </a:xfrm>
          <a:prstGeom prst="rect">
            <a:avLst/>
          </a:prstGeom>
          <a:noFill/>
          <a:ln/>
        </p:spPr>
        <p:txBody>
          <a:bodyPr wrap="square" lIns="0" tIns="0" rIns="0" bIns="0" rtlCol="0" anchor="ctr"/>
          <a:lstStyle/>
          <a:p>
            <a:pPr algn="ctr" indent="0" marL="0">
              <a:buNone/>
            </a:pPr>
            <a:r>
              <a:rPr lang="en-US" sz="1300" b="1" spc="40" kern="0" dirty="0">
                <a:solidFill>
                  <a:srgbClr val="15181E"/>
                </a:solidFill>
                <a:latin typeface="Cambria" pitchFamily="34" charset="0"/>
                <a:ea typeface="Cambria" pitchFamily="34" charset="-122"/>
                <a:cs typeface="Cambria" pitchFamily="34" charset="-120"/>
              </a:rPr>
              <a:t>MS</a:t>
            </a:r>
            <a:endParaRPr lang="en-US" sz="1300" dirty="0"/>
          </a:p>
        </p:txBody>
      </p:sp>
      <p:sp>
        <p:nvSpPr>
          <p:cNvPr id="4" name="Text 2"/>
          <p:cNvSpPr txBox="1"/>
          <p:nvPr/>
        </p:nvSpPr>
        <p:spPr>
          <a:xfrm>
            <a:off x="1133856" y="237744"/>
            <a:ext cx="7132320" cy="548640"/>
          </a:xfrm>
          <a:prstGeom prst="rect">
            <a:avLst/>
          </a:prstGeom>
          <a:noFill/>
          <a:ln/>
        </p:spPr>
        <p:txBody>
          <a:bodyPr wrap="square" lIns="0" tIns="0" rIns="0" bIns="0" rtlCol="0" anchor="ctr"/>
          <a:lstStyle/>
          <a:p>
            <a:pPr indent="0" marL="0">
              <a:buNone/>
            </a:pPr>
            <a:r>
              <a:rPr lang="en-US" sz="2400" b="1" dirty="0">
                <a:solidFill>
                  <a:srgbClr val="15181E"/>
                </a:solidFill>
                <a:latin typeface="Cambria" pitchFamily="34" charset="0"/>
                <a:ea typeface="Cambria" pitchFamily="34" charset="-122"/>
                <a:cs typeface="Cambria" pitchFamily="34" charset="-120"/>
              </a:rPr>
              <a:t>Morgan Stanley</a:t>
            </a:r>
            <a:endParaRPr lang="en-US" sz="2400" dirty="0"/>
          </a:p>
        </p:txBody>
      </p:sp>
      <p:sp>
        <p:nvSpPr>
          <p:cNvPr id="5" name="Shape 3"/>
          <p:cNvSpPr/>
          <p:nvPr/>
        </p:nvSpPr>
        <p:spPr>
          <a:xfrm>
            <a:off x="8439912" y="347472"/>
            <a:ext cx="3200400" cy="274320"/>
          </a:xfrm>
          <a:prstGeom prst="roundRect">
            <a:avLst>
              <a:gd name="adj" fmla="val 50000"/>
            </a:avLst>
          </a:prstGeom>
          <a:solidFill>
            <a:srgbClr val="C0761A"/>
          </a:solidFill>
          <a:ln/>
        </p:spPr>
      </p:sp>
      <p:sp>
        <p:nvSpPr>
          <p:cNvPr id="6" name="Text 4"/>
          <p:cNvSpPr txBox="1"/>
          <p:nvPr/>
        </p:nvSpPr>
        <p:spPr>
          <a:xfrm>
            <a:off x="8439912" y="347472"/>
            <a:ext cx="3200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FIRST-PARTY PR</a:t>
            </a:r>
            <a:endParaRPr lang="en-US" sz="850" dirty="0"/>
          </a:p>
        </p:txBody>
      </p:sp>
      <p:sp>
        <p:nvSpPr>
          <p:cNvPr id="7" name="Text 5"/>
          <p:cNvSpPr txBox="1"/>
          <p:nvPr/>
        </p:nvSpPr>
        <p:spPr>
          <a:xfrm>
            <a:off x="548640" y="786384"/>
            <a:ext cx="10881360" cy="402336"/>
          </a:xfrm>
          <a:prstGeom prst="rect">
            <a:avLst/>
          </a:prstGeom>
          <a:noFill/>
          <a:ln/>
        </p:spPr>
        <p:txBody>
          <a:bodyPr wrap="square" lIns="0" tIns="0" rIns="0" bIns="0" rtlCol="0" anchor="t"/>
          <a:lstStyle/>
          <a:p>
            <a:pPr indent="0" marL="0">
              <a:lnSpc>
                <a:spcPct val="106000"/>
              </a:lnSpc>
              <a:buNone/>
            </a:pPr>
            <a:r>
              <a:rPr lang="en-US" sz="1450" dirty="0">
                <a:solidFill>
                  <a:srgbClr val="232833"/>
                </a:solidFill>
                <a:latin typeface="Calibri" pitchFamily="34" charset="0"/>
                <a:ea typeface="Calibri" pitchFamily="34" charset="-122"/>
                <a:cs typeface="Calibri" pitchFamily="34" charset="-120"/>
              </a:rPr>
              <a:t>The shortest pipeline in the set, and the only one where a person is a required node rather than an escape hatch.</a:t>
            </a:r>
            <a:endParaRPr lang="en-US" sz="1450" dirty="0"/>
          </a:p>
        </p:txBody>
      </p:sp>
      <p:sp>
        <p:nvSpPr>
          <p:cNvPr id="8" name="Text 6"/>
          <p:cNvSpPr txBox="1"/>
          <p:nvPr/>
        </p:nvSpPr>
        <p:spPr>
          <a:xfrm>
            <a:off x="548640" y="1316736"/>
            <a:ext cx="5486400" cy="201168"/>
          </a:xfrm>
          <a:prstGeom prst="rect">
            <a:avLst/>
          </a:prstGeom>
          <a:noFill/>
          <a:ln/>
        </p:spPr>
        <p:txBody>
          <a:bodyPr wrap="square" lIns="0" tIns="0" rIns="0" bIns="0" rtlCol="0" anchor="ctr"/>
          <a:lstStyle/>
          <a:p>
            <a:pPr indent="0" marL="0">
              <a:buNone/>
            </a:pPr>
            <a:r>
              <a:rPr lang="en-US" sz="950" b="1" spc="200" kern="0" dirty="0">
                <a:solidFill>
                  <a:srgbClr val="C0761A"/>
                </a:solidFill>
                <a:latin typeface="Calibri" pitchFamily="34" charset="0"/>
                <a:ea typeface="Calibri" pitchFamily="34" charset="-122"/>
                <a:cs typeface="Calibri" pitchFamily="34" charset="-120"/>
              </a:rPr>
              <a:t>CORPUS</a:t>
            </a:r>
            <a:endParaRPr lang="en-US" sz="950" dirty="0"/>
          </a:p>
        </p:txBody>
      </p:sp>
      <p:sp>
        <p:nvSpPr>
          <p:cNvPr id="9" name="Shape 7"/>
          <p:cNvSpPr/>
          <p:nvPr/>
        </p:nvSpPr>
        <p:spPr>
          <a:xfrm>
            <a:off x="548640" y="1554480"/>
            <a:ext cx="3465576" cy="1060704"/>
          </a:xfrm>
          <a:prstGeom prst="roundRect">
            <a:avLst>
              <a:gd name="adj" fmla="val 5172"/>
            </a:avLst>
          </a:prstGeom>
          <a:solidFill>
            <a:srgbClr val="F2F2EF"/>
          </a:solidFill>
          <a:ln w="12700">
            <a:solidFill>
              <a:srgbClr val="F2F2EF"/>
            </a:solidFill>
            <a:prstDash val="solid"/>
          </a:ln>
        </p:spPr>
      </p:sp>
      <p:sp>
        <p:nvSpPr>
          <p:cNvPr id="10" name="Text 8"/>
          <p:cNvSpPr txBox="1"/>
          <p:nvPr/>
        </p:nvSpPr>
        <p:spPr>
          <a:xfrm>
            <a:off x="749808" y="1627632"/>
            <a:ext cx="3063240" cy="256032"/>
          </a:xfrm>
          <a:prstGeom prst="rect">
            <a:avLst/>
          </a:prstGeom>
          <a:noFill/>
          <a:ln/>
        </p:spPr>
        <p:txBody>
          <a:bodyPr wrap="square" lIns="0" tIns="0" rIns="0" bIns="0" rtlCol="0" anchor="ctr"/>
          <a:lstStyle/>
          <a:p>
            <a:pPr indent="0" marL="0">
              <a:buNone/>
            </a:pPr>
            <a:r>
              <a:rPr lang="en-US" sz="1150" b="1" dirty="0">
                <a:solidFill>
                  <a:srgbClr val="C0761A"/>
                </a:solidFill>
                <a:latin typeface="Calibri" pitchFamily="34" charset="0"/>
                <a:ea typeface="Calibri" pitchFamily="34" charset="-122"/>
                <a:cs typeface="Calibri" pitchFamily="34" charset="-120"/>
              </a:rPr>
              <a:t>70,000+ reports a year</a:t>
            </a:r>
            <a:endParaRPr lang="en-US" sz="1150" dirty="0"/>
          </a:p>
        </p:txBody>
      </p:sp>
      <p:sp>
        <p:nvSpPr>
          <p:cNvPr id="11" name="Text 9"/>
          <p:cNvSpPr txBox="1"/>
          <p:nvPr/>
        </p:nvSpPr>
        <p:spPr>
          <a:xfrm>
            <a:off x="749808" y="1901952"/>
            <a:ext cx="3063240" cy="640080"/>
          </a:xfrm>
          <a:prstGeom prst="rect">
            <a:avLst/>
          </a:prstGeom>
          <a:noFill/>
          <a:ln/>
        </p:spPr>
        <p:txBody>
          <a:bodyPr wrap="square" lIns="0" tIns="0" rIns="0" bIns="0" rtlCol="0" anchor="t"/>
          <a:lstStyle/>
          <a:p>
            <a:pPr indent="0" marL="0">
              <a:lnSpc>
                <a:spcPct val="105000"/>
              </a:lnSpc>
              <a:buNone/>
            </a:pPr>
            <a:r>
              <a:rPr lang="en-US" sz="1000" dirty="0">
                <a:solidFill>
                  <a:srgbClr val="232833"/>
                </a:solidFill>
                <a:latin typeface="Calibri" pitchFamily="34" charset="0"/>
                <a:ea typeface="Calibri" pitchFamily="34" charset="-122"/>
                <a:cs typeface="Calibri" pitchFamily="34" charset="-120"/>
              </a:rPr>
              <a:t>Research reports, PDF strategy guides and market commentary.</a:t>
            </a:r>
            <a:endParaRPr lang="en-US" sz="1000" dirty="0"/>
          </a:p>
        </p:txBody>
      </p:sp>
      <p:sp>
        <p:nvSpPr>
          <p:cNvPr id="12" name="Shape 10"/>
          <p:cNvSpPr/>
          <p:nvPr/>
        </p:nvSpPr>
        <p:spPr>
          <a:xfrm>
            <a:off x="4361688" y="1554480"/>
            <a:ext cx="3465576" cy="1060704"/>
          </a:xfrm>
          <a:prstGeom prst="roundRect">
            <a:avLst>
              <a:gd name="adj" fmla="val 5172"/>
            </a:avLst>
          </a:prstGeom>
          <a:solidFill>
            <a:srgbClr val="F2F2EF"/>
          </a:solidFill>
          <a:ln w="12700">
            <a:solidFill>
              <a:srgbClr val="F2F2EF"/>
            </a:solidFill>
            <a:prstDash val="solid"/>
          </a:ln>
        </p:spPr>
      </p:sp>
      <p:sp>
        <p:nvSpPr>
          <p:cNvPr id="13" name="Text 11"/>
          <p:cNvSpPr txBox="1"/>
          <p:nvPr/>
        </p:nvSpPr>
        <p:spPr>
          <a:xfrm>
            <a:off x="4562856" y="1627632"/>
            <a:ext cx="3063240" cy="256032"/>
          </a:xfrm>
          <a:prstGeom prst="rect">
            <a:avLst/>
          </a:prstGeom>
          <a:noFill/>
          <a:ln/>
        </p:spPr>
        <p:txBody>
          <a:bodyPr wrap="square" lIns="0" tIns="0" rIns="0" bIns="0" rtlCol="0" anchor="ctr"/>
          <a:lstStyle/>
          <a:p>
            <a:pPr indent="0" marL="0">
              <a:buNone/>
            </a:pPr>
            <a:r>
              <a:rPr lang="en-US" sz="1150" b="1" dirty="0">
                <a:solidFill>
                  <a:srgbClr val="C0761A"/>
                </a:solidFill>
                <a:latin typeface="Calibri" pitchFamily="34" charset="0"/>
                <a:ea typeface="Calibri" pitchFamily="34" charset="-122"/>
                <a:cs typeface="Calibri" pitchFamily="34" charset="-120"/>
              </a:rPr>
              <a:t>Curated before indexing</a:t>
            </a:r>
            <a:endParaRPr lang="en-US" sz="1150" dirty="0"/>
          </a:p>
        </p:txBody>
      </p:sp>
      <p:sp>
        <p:nvSpPr>
          <p:cNvPr id="14" name="Text 12"/>
          <p:cNvSpPr txBox="1"/>
          <p:nvPr/>
        </p:nvSpPr>
        <p:spPr>
          <a:xfrm>
            <a:off x="4562856" y="1901952"/>
            <a:ext cx="3063240" cy="640080"/>
          </a:xfrm>
          <a:prstGeom prst="rect">
            <a:avLst/>
          </a:prstGeom>
          <a:noFill/>
          <a:ln/>
        </p:spPr>
        <p:txBody>
          <a:bodyPr wrap="square" lIns="0" tIns="0" rIns="0" bIns="0" rtlCol="0" anchor="t"/>
          <a:lstStyle/>
          <a:p>
            <a:pPr indent="0" marL="0">
              <a:lnSpc>
                <a:spcPct val="105000"/>
              </a:lnSpc>
              <a:buNone/>
            </a:pPr>
            <a:r>
              <a:rPr lang="en-US" sz="1000" dirty="0">
                <a:solidFill>
                  <a:srgbClr val="232833"/>
                </a:solidFill>
                <a:latin typeface="Calibri" pitchFamily="34" charset="0"/>
                <a:ea typeface="Calibri" pitchFamily="34" charset="-122"/>
                <a:cs typeface="Calibri" pitchFamily="34" charset="-120"/>
              </a:rPr>
              <a:t>Already edited for publication, so vetting happens upstream of the model.</a:t>
            </a:r>
            <a:endParaRPr lang="en-US" sz="1000" dirty="0"/>
          </a:p>
        </p:txBody>
      </p:sp>
      <p:sp>
        <p:nvSpPr>
          <p:cNvPr id="15" name="Shape 13"/>
          <p:cNvSpPr/>
          <p:nvPr/>
        </p:nvSpPr>
        <p:spPr>
          <a:xfrm>
            <a:off x="8174736" y="1554480"/>
            <a:ext cx="3465576" cy="1060704"/>
          </a:xfrm>
          <a:prstGeom prst="roundRect">
            <a:avLst>
              <a:gd name="adj" fmla="val 5172"/>
            </a:avLst>
          </a:prstGeom>
          <a:solidFill>
            <a:srgbClr val="F2F2EF"/>
          </a:solidFill>
          <a:ln w="12700">
            <a:solidFill>
              <a:srgbClr val="F2F2EF"/>
            </a:solidFill>
            <a:prstDash val="solid"/>
          </a:ln>
        </p:spPr>
      </p:sp>
      <p:sp>
        <p:nvSpPr>
          <p:cNvPr id="16" name="Text 14"/>
          <p:cNvSpPr txBox="1"/>
          <p:nvPr/>
        </p:nvSpPr>
        <p:spPr>
          <a:xfrm>
            <a:off x="8375904" y="1627632"/>
            <a:ext cx="3063240" cy="256032"/>
          </a:xfrm>
          <a:prstGeom prst="rect">
            <a:avLst/>
          </a:prstGeom>
          <a:noFill/>
          <a:ln/>
        </p:spPr>
        <p:txBody>
          <a:bodyPr wrap="square" lIns="0" tIns="0" rIns="0" bIns="0" rtlCol="0" anchor="ctr"/>
          <a:lstStyle/>
          <a:p>
            <a:pPr indent="0" marL="0">
              <a:buNone/>
            </a:pPr>
            <a:r>
              <a:rPr lang="en-US" sz="1150" b="1" dirty="0">
                <a:solidFill>
                  <a:srgbClr val="C0761A"/>
                </a:solidFill>
                <a:latin typeface="Calibri" pitchFamily="34" charset="0"/>
                <a:ea typeface="Calibri" pitchFamily="34" charset="-122"/>
                <a:cs typeface="Calibri" pitchFamily="34" charset="-120"/>
              </a:rPr>
              <a:t>Closed to the open web</a:t>
            </a:r>
            <a:endParaRPr lang="en-US" sz="1150" dirty="0"/>
          </a:p>
        </p:txBody>
      </p:sp>
      <p:sp>
        <p:nvSpPr>
          <p:cNvPr id="17" name="Text 15"/>
          <p:cNvSpPr txBox="1"/>
          <p:nvPr/>
        </p:nvSpPr>
        <p:spPr>
          <a:xfrm>
            <a:off x="8375904" y="1901952"/>
            <a:ext cx="3063240" cy="640080"/>
          </a:xfrm>
          <a:prstGeom prst="rect">
            <a:avLst/>
          </a:prstGeom>
          <a:noFill/>
          <a:ln/>
        </p:spPr>
        <p:txBody>
          <a:bodyPr wrap="square" lIns="0" tIns="0" rIns="0" bIns="0" rtlCol="0" anchor="t"/>
          <a:lstStyle/>
          <a:p>
            <a:pPr indent="0" marL="0">
              <a:lnSpc>
                <a:spcPct val="105000"/>
              </a:lnSpc>
              <a:buNone/>
            </a:pPr>
            <a:r>
              <a:rPr lang="en-US" sz="1000" dirty="0">
                <a:solidFill>
                  <a:srgbClr val="232833"/>
                </a:solidFill>
                <a:latin typeface="Calibri" pitchFamily="34" charset="0"/>
                <a:ea typeface="Calibri" pitchFamily="34" charset="-122"/>
                <a:cs typeface="Calibri" pitchFamily="34" charset="-120"/>
              </a:rPr>
              <a:t>Retrieval is bounded to this collection and reaches nothing outside it.</a:t>
            </a:r>
            <a:endParaRPr lang="en-US" sz="1000" dirty="0"/>
          </a:p>
        </p:txBody>
      </p:sp>
      <p:sp>
        <p:nvSpPr>
          <p:cNvPr id="18" name="Text 16"/>
          <p:cNvSpPr txBox="1"/>
          <p:nvPr/>
        </p:nvSpPr>
        <p:spPr>
          <a:xfrm>
            <a:off x="548640" y="2798064"/>
            <a:ext cx="5486400" cy="201168"/>
          </a:xfrm>
          <a:prstGeom prst="rect">
            <a:avLst/>
          </a:prstGeom>
          <a:noFill/>
          <a:ln/>
        </p:spPr>
        <p:txBody>
          <a:bodyPr wrap="square" lIns="0" tIns="0" rIns="0" bIns="0" rtlCol="0" anchor="ctr"/>
          <a:lstStyle/>
          <a:p>
            <a:pPr indent="0" marL="0">
              <a:buNone/>
            </a:pPr>
            <a:r>
              <a:rPr lang="en-US" sz="950" b="1" spc="200" kern="0" dirty="0">
                <a:solidFill>
                  <a:srgbClr val="1F6F6B"/>
                </a:solidFill>
                <a:latin typeface="Calibri" pitchFamily="34" charset="0"/>
                <a:ea typeface="Calibri" pitchFamily="34" charset="-122"/>
                <a:cs typeface="Calibri" pitchFamily="34" charset="-120"/>
              </a:rPr>
              <a:t>RETRIEVE</a:t>
            </a:r>
            <a:endParaRPr lang="en-US" sz="950" dirty="0"/>
          </a:p>
        </p:txBody>
      </p:sp>
      <p:sp>
        <p:nvSpPr>
          <p:cNvPr id="19" name="Shape 17"/>
          <p:cNvSpPr/>
          <p:nvPr/>
        </p:nvSpPr>
        <p:spPr>
          <a:xfrm>
            <a:off x="548640" y="3035808"/>
            <a:ext cx="3465576" cy="1060704"/>
          </a:xfrm>
          <a:prstGeom prst="roundRect">
            <a:avLst>
              <a:gd name="adj" fmla="val 5172"/>
            </a:avLst>
          </a:prstGeom>
          <a:solidFill>
            <a:srgbClr val="F2F2EF"/>
          </a:solidFill>
          <a:ln w="12700">
            <a:solidFill>
              <a:srgbClr val="F2F2EF"/>
            </a:solidFill>
            <a:prstDash val="solid"/>
          </a:ln>
        </p:spPr>
      </p:sp>
      <p:sp>
        <p:nvSpPr>
          <p:cNvPr id="20" name="Text 18"/>
          <p:cNvSpPr txBox="1"/>
          <p:nvPr/>
        </p:nvSpPr>
        <p:spPr>
          <a:xfrm>
            <a:off x="749808" y="3108960"/>
            <a:ext cx="3063240" cy="256032"/>
          </a:xfrm>
          <a:prstGeom prst="rect">
            <a:avLst/>
          </a:prstGeom>
          <a:noFill/>
          <a:ln/>
        </p:spPr>
        <p:txBody>
          <a:bodyPr wrap="square" lIns="0" tIns="0" rIns="0" bIns="0" rtlCol="0" anchor="ctr"/>
          <a:lstStyle/>
          <a:p>
            <a:pPr indent="0" marL="0">
              <a:buNone/>
            </a:pPr>
            <a:r>
              <a:rPr lang="en-US" sz="1150" b="1" dirty="0">
                <a:solidFill>
                  <a:srgbClr val="1F6F6B"/>
                </a:solidFill>
                <a:latin typeface="Calibri" pitchFamily="34" charset="0"/>
                <a:ea typeface="Calibri" pitchFamily="34" charset="-122"/>
                <a:cs typeface="Calibri" pitchFamily="34" charset="-120"/>
              </a:rPr>
              <a:t>GPT-4 over the library</a:t>
            </a:r>
            <a:endParaRPr lang="en-US" sz="1150" dirty="0"/>
          </a:p>
        </p:txBody>
      </p:sp>
      <p:sp>
        <p:nvSpPr>
          <p:cNvPr id="21" name="Text 19"/>
          <p:cNvSpPr txBox="1"/>
          <p:nvPr/>
        </p:nvSpPr>
        <p:spPr>
          <a:xfrm>
            <a:off x="749808" y="3383280"/>
            <a:ext cx="3063240" cy="640080"/>
          </a:xfrm>
          <a:prstGeom prst="rect">
            <a:avLst/>
          </a:prstGeom>
          <a:noFill/>
          <a:ln/>
        </p:spPr>
        <p:txBody>
          <a:bodyPr wrap="square" lIns="0" tIns="0" rIns="0" bIns="0" rtlCol="0" anchor="t"/>
          <a:lstStyle/>
          <a:p>
            <a:pPr indent="0" marL="0">
              <a:lnSpc>
                <a:spcPct val="105000"/>
              </a:lnSpc>
              <a:buNone/>
            </a:pPr>
            <a:r>
              <a:rPr lang="en-US" sz="1000" dirty="0">
                <a:solidFill>
                  <a:srgbClr val="232833"/>
                </a:solidFill>
                <a:latin typeface="Calibri" pitchFamily="34" charset="0"/>
                <a:ea typeface="Calibri" pitchFamily="34" charset="-122"/>
                <a:cs typeface="Calibri" pitchFamily="34" charset="-120"/>
              </a:rPr>
              <a:t>Synthesises across multiple research products to answer one question.</a:t>
            </a:r>
            <a:endParaRPr lang="en-US" sz="1000" dirty="0"/>
          </a:p>
        </p:txBody>
      </p:sp>
      <p:sp>
        <p:nvSpPr>
          <p:cNvPr id="22" name="Text 20"/>
          <p:cNvSpPr txBox="1"/>
          <p:nvPr/>
        </p:nvSpPr>
        <p:spPr>
          <a:xfrm>
            <a:off x="4014216" y="3035808"/>
            <a:ext cx="347472" cy="1060704"/>
          </a:xfrm>
          <a:prstGeom prst="rect">
            <a:avLst/>
          </a:prstGeom>
          <a:noFill/>
          <a:ln/>
        </p:spPr>
        <p:txBody>
          <a:bodyPr wrap="square" lIns="0" tIns="0" rIns="0" bIns="0" rtlCol="0" anchor="ctr"/>
          <a:lstStyle/>
          <a:p>
            <a:pPr algn="ctr" indent="0" marL="0">
              <a:buNone/>
            </a:pPr>
            <a:r>
              <a:rPr lang="en-US" sz="1900" b="1" dirty="0">
                <a:solidFill>
                  <a:srgbClr val="A8AEBB"/>
                </a:solidFill>
                <a:latin typeface="Calibri" pitchFamily="34" charset="0"/>
                <a:ea typeface="Calibri" pitchFamily="34" charset="-122"/>
                <a:cs typeface="Calibri" pitchFamily="34" charset="-120"/>
              </a:rPr>
              <a:t>›</a:t>
            </a:r>
            <a:endParaRPr lang="en-US" sz="1900" dirty="0"/>
          </a:p>
        </p:txBody>
      </p:sp>
      <p:sp>
        <p:nvSpPr>
          <p:cNvPr id="23" name="Shape 21"/>
          <p:cNvSpPr/>
          <p:nvPr/>
        </p:nvSpPr>
        <p:spPr>
          <a:xfrm>
            <a:off x="4361688" y="3035808"/>
            <a:ext cx="3465576" cy="1060704"/>
          </a:xfrm>
          <a:prstGeom prst="roundRect">
            <a:avLst>
              <a:gd name="adj" fmla="val 5172"/>
            </a:avLst>
          </a:prstGeom>
          <a:solidFill>
            <a:srgbClr val="F2F2EF"/>
          </a:solidFill>
          <a:ln w="12700">
            <a:solidFill>
              <a:srgbClr val="F2F2EF"/>
            </a:solidFill>
            <a:prstDash val="solid"/>
          </a:ln>
        </p:spPr>
      </p:sp>
      <p:sp>
        <p:nvSpPr>
          <p:cNvPr id="24" name="Text 22"/>
          <p:cNvSpPr txBox="1"/>
          <p:nvPr/>
        </p:nvSpPr>
        <p:spPr>
          <a:xfrm>
            <a:off x="4562856" y="3108960"/>
            <a:ext cx="3063240" cy="256032"/>
          </a:xfrm>
          <a:prstGeom prst="rect">
            <a:avLst/>
          </a:prstGeom>
          <a:noFill/>
          <a:ln/>
        </p:spPr>
        <p:txBody>
          <a:bodyPr wrap="square" lIns="0" tIns="0" rIns="0" bIns="0" rtlCol="0" anchor="ctr"/>
          <a:lstStyle/>
          <a:p>
            <a:pPr indent="0" marL="0">
              <a:buNone/>
            </a:pPr>
            <a:r>
              <a:rPr lang="en-US" sz="1150" b="1" dirty="0">
                <a:solidFill>
                  <a:srgbClr val="1F6F6B"/>
                </a:solidFill>
                <a:latin typeface="Calibri" pitchFamily="34" charset="0"/>
                <a:ea typeface="Calibri" pitchFamily="34" charset="-122"/>
                <a:cs typeface="Calibri" pitchFamily="34" charset="-120"/>
              </a:rPr>
              <a:t>Answer with source links</a:t>
            </a:r>
            <a:endParaRPr lang="en-US" sz="1150" dirty="0"/>
          </a:p>
        </p:txBody>
      </p:sp>
      <p:sp>
        <p:nvSpPr>
          <p:cNvPr id="25" name="Text 23"/>
          <p:cNvSpPr txBox="1"/>
          <p:nvPr/>
        </p:nvSpPr>
        <p:spPr>
          <a:xfrm>
            <a:off x="4562856" y="3383280"/>
            <a:ext cx="3063240" cy="640080"/>
          </a:xfrm>
          <a:prstGeom prst="rect">
            <a:avLst/>
          </a:prstGeom>
          <a:noFill/>
          <a:ln/>
        </p:spPr>
        <p:txBody>
          <a:bodyPr wrap="square" lIns="0" tIns="0" rIns="0" bIns="0" rtlCol="0" anchor="t"/>
          <a:lstStyle/>
          <a:p>
            <a:pPr indent="0" marL="0">
              <a:lnSpc>
                <a:spcPct val="105000"/>
              </a:lnSpc>
              <a:buNone/>
            </a:pPr>
            <a:r>
              <a:rPr lang="en-US" sz="1000" dirty="0">
                <a:solidFill>
                  <a:srgbClr val="232833"/>
                </a:solidFill>
                <a:latin typeface="Calibri" pitchFamily="34" charset="0"/>
                <a:ea typeface="Calibri" pitchFamily="34" charset="-122"/>
                <a:cs typeface="Calibri" pitchFamily="34" charset="-120"/>
              </a:rPr>
              <a:t>Every claim carries a link back to the report it came from.</a:t>
            </a:r>
            <a:endParaRPr lang="en-US" sz="1000" dirty="0"/>
          </a:p>
        </p:txBody>
      </p:sp>
      <p:sp>
        <p:nvSpPr>
          <p:cNvPr id="26" name="Text 24"/>
          <p:cNvSpPr txBox="1"/>
          <p:nvPr/>
        </p:nvSpPr>
        <p:spPr>
          <a:xfrm>
            <a:off x="7827264" y="3035808"/>
            <a:ext cx="347472" cy="1060704"/>
          </a:xfrm>
          <a:prstGeom prst="rect">
            <a:avLst/>
          </a:prstGeom>
          <a:noFill/>
          <a:ln/>
        </p:spPr>
        <p:txBody>
          <a:bodyPr wrap="square" lIns="0" tIns="0" rIns="0" bIns="0" rtlCol="0" anchor="ctr"/>
          <a:lstStyle/>
          <a:p>
            <a:pPr algn="ctr" indent="0" marL="0">
              <a:buNone/>
            </a:pPr>
            <a:r>
              <a:rPr lang="en-US" sz="1900" b="1" dirty="0">
                <a:solidFill>
                  <a:srgbClr val="A8AEBB"/>
                </a:solidFill>
                <a:latin typeface="Calibri" pitchFamily="34" charset="0"/>
                <a:ea typeface="Calibri" pitchFamily="34" charset="-122"/>
                <a:cs typeface="Calibri" pitchFamily="34" charset="-120"/>
              </a:rPr>
              <a:t>›</a:t>
            </a:r>
            <a:endParaRPr lang="en-US" sz="1900" dirty="0"/>
          </a:p>
        </p:txBody>
      </p:sp>
      <p:sp>
        <p:nvSpPr>
          <p:cNvPr id="27" name="Shape 25"/>
          <p:cNvSpPr/>
          <p:nvPr/>
        </p:nvSpPr>
        <p:spPr>
          <a:xfrm>
            <a:off x="8174736" y="3035808"/>
            <a:ext cx="3465576" cy="1060704"/>
          </a:xfrm>
          <a:prstGeom prst="roundRect">
            <a:avLst>
              <a:gd name="adj" fmla="val 5172"/>
            </a:avLst>
          </a:prstGeom>
          <a:solidFill>
            <a:srgbClr val="F2F2EF"/>
          </a:solidFill>
          <a:ln w="12700">
            <a:solidFill>
              <a:srgbClr val="F2F2EF"/>
            </a:solidFill>
            <a:prstDash val="solid"/>
          </a:ln>
        </p:spPr>
      </p:sp>
      <p:sp>
        <p:nvSpPr>
          <p:cNvPr id="28" name="Text 26"/>
          <p:cNvSpPr txBox="1"/>
          <p:nvPr/>
        </p:nvSpPr>
        <p:spPr>
          <a:xfrm>
            <a:off x="8375904" y="3108960"/>
            <a:ext cx="3063240" cy="256032"/>
          </a:xfrm>
          <a:prstGeom prst="rect">
            <a:avLst/>
          </a:prstGeom>
          <a:noFill/>
          <a:ln/>
        </p:spPr>
        <p:txBody>
          <a:bodyPr wrap="square" lIns="0" tIns="0" rIns="0" bIns="0" rtlCol="0" anchor="ctr"/>
          <a:lstStyle/>
          <a:p>
            <a:pPr indent="0" marL="0">
              <a:buNone/>
            </a:pPr>
            <a:r>
              <a:rPr lang="en-US" sz="1150" b="1" dirty="0">
                <a:solidFill>
                  <a:srgbClr val="1F6F6B"/>
                </a:solidFill>
                <a:latin typeface="Calibri" pitchFamily="34" charset="0"/>
                <a:ea typeface="Calibri" pitchFamily="34" charset="-122"/>
                <a:cs typeface="Calibri" pitchFamily="34" charset="-120"/>
              </a:rPr>
              <a:t>Delivered in-workflow</a:t>
            </a:r>
            <a:endParaRPr lang="en-US" sz="1150" dirty="0"/>
          </a:p>
        </p:txBody>
      </p:sp>
      <p:sp>
        <p:nvSpPr>
          <p:cNvPr id="29" name="Text 27"/>
          <p:cNvSpPr txBox="1"/>
          <p:nvPr/>
        </p:nvSpPr>
        <p:spPr>
          <a:xfrm>
            <a:off x="8375904" y="3383280"/>
            <a:ext cx="3063240" cy="640080"/>
          </a:xfrm>
          <a:prstGeom prst="rect">
            <a:avLst/>
          </a:prstGeom>
          <a:noFill/>
          <a:ln/>
        </p:spPr>
        <p:txBody>
          <a:bodyPr wrap="square" lIns="0" tIns="0" rIns="0" bIns="0" rtlCol="0" anchor="t"/>
          <a:lstStyle/>
          <a:p>
            <a:pPr indent="0" marL="0">
              <a:lnSpc>
                <a:spcPct val="105000"/>
              </a:lnSpc>
              <a:buNone/>
            </a:pPr>
            <a:r>
              <a:rPr lang="en-US" sz="1000" dirty="0">
                <a:solidFill>
                  <a:srgbClr val="232833"/>
                </a:solidFill>
                <a:latin typeface="Calibri" pitchFamily="34" charset="0"/>
                <a:ea typeface="Calibri" pitchFamily="34" charset="-122"/>
                <a:cs typeface="Calibri" pitchFamily="34" charset="-120"/>
              </a:rPr>
              <a:t>Reached through the productivity tools staff already have open.</a:t>
            </a:r>
            <a:endParaRPr lang="en-US" sz="1000" dirty="0"/>
          </a:p>
        </p:txBody>
      </p:sp>
      <p:sp>
        <p:nvSpPr>
          <p:cNvPr id="30" name="Text 28"/>
          <p:cNvSpPr txBox="1"/>
          <p:nvPr/>
        </p:nvSpPr>
        <p:spPr>
          <a:xfrm>
            <a:off x="548640" y="4279392"/>
            <a:ext cx="5486400" cy="201168"/>
          </a:xfrm>
          <a:prstGeom prst="rect">
            <a:avLst/>
          </a:prstGeom>
          <a:noFill/>
          <a:ln/>
        </p:spPr>
        <p:txBody>
          <a:bodyPr wrap="square" lIns="0" tIns="0" rIns="0" bIns="0" rtlCol="0" anchor="ctr"/>
          <a:lstStyle/>
          <a:p>
            <a:pPr indent="0" marL="0">
              <a:buNone/>
            </a:pPr>
            <a:r>
              <a:rPr lang="en-US" sz="950" b="1" spc="200" kern="0" dirty="0">
                <a:solidFill>
                  <a:srgbClr val="8E3350"/>
                </a:solidFill>
                <a:latin typeface="Calibri" pitchFamily="34" charset="0"/>
                <a:ea typeface="Calibri" pitchFamily="34" charset="-122"/>
                <a:cs typeface="Calibri" pitchFamily="34" charset="-120"/>
              </a:rPr>
              <a:t>HUMAN</a:t>
            </a:r>
            <a:endParaRPr lang="en-US" sz="950" dirty="0"/>
          </a:p>
        </p:txBody>
      </p:sp>
      <p:sp>
        <p:nvSpPr>
          <p:cNvPr id="31" name="Shape 29"/>
          <p:cNvSpPr/>
          <p:nvPr/>
        </p:nvSpPr>
        <p:spPr>
          <a:xfrm>
            <a:off x="548640" y="4517136"/>
            <a:ext cx="3465576" cy="1060704"/>
          </a:xfrm>
          <a:prstGeom prst="roundRect">
            <a:avLst>
              <a:gd name="adj" fmla="val 5172"/>
            </a:avLst>
          </a:prstGeom>
          <a:solidFill>
            <a:srgbClr val="F2F2EF"/>
          </a:solidFill>
          <a:ln w="12700">
            <a:solidFill>
              <a:srgbClr val="F2F2EF"/>
            </a:solidFill>
            <a:prstDash val="solid"/>
          </a:ln>
        </p:spPr>
      </p:sp>
      <p:sp>
        <p:nvSpPr>
          <p:cNvPr id="32" name="Text 30"/>
          <p:cNvSpPr txBox="1"/>
          <p:nvPr/>
        </p:nvSpPr>
        <p:spPr>
          <a:xfrm>
            <a:off x="749808" y="4590288"/>
            <a:ext cx="3063240" cy="256032"/>
          </a:xfrm>
          <a:prstGeom prst="rect">
            <a:avLst/>
          </a:prstGeom>
          <a:noFill/>
          <a:ln/>
        </p:spPr>
        <p:txBody>
          <a:bodyPr wrap="square" lIns="0" tIns="0" rIns="0" bIns="0" rtlCol="0" anchor="ctr"/>
          <a:lstStyle/>
          <a:p>
            <a:pPr indent="0" marL="0">
              <a:buNone/>
            </a:pPr>
            <a:r>
              <a:rPr lang="en-US" sz="1150" b="1" dirty="0">
                <a:solidFill>
                  <a:srgbClr val="8E3350"/>
                </a:solidFill>
                <a:latin typeface="Calibri" pitchFamily="34" charset="0"/>
                <a:ea typeface="Calibri" pitchFamily="34" charset="-122"/>
                <a:cs typeface="Calibri" pitchFamily="34" charset="-120"/>
              </a:rPr>
              <a:t>Staff read and edit</a:t>
            </a:r>
            <a:endParaRPr lang="en-US" sz="1150" dirty="0"/>
          </a:p>
        </p:txBody>
      </p:sp>
      <p:sp>
        <p:nvSpPr>
          <p:cNvPr id="33" name="Text 31"/>
          <p:cNvSpPr txBox="1"/>
          <p:nvPr/>
        </p:nvSpPr>
        <p:spPr>
          <a:xfrm>
            <a:off x="749808" y="4864608"/>
            <a:ext cx="3063240" cy="640080"/>
          </a:xfrm>
          <a:prstGeom prst="rect">
            <a:avLst/>
          </a:prstGeom>
          <a:noFill/>
          <a:ln/>
        </p:spPr>
        <p:txBody>
          <a:bodyPr wrap="square" lIns="0" tIns="0" rIns="0" bIns="0" rtlCol="0" anchor="t"/>
          <a:lstStyle/>
          <a:p>
            <a:pPr indent="0" marL="0">
              <a:lnSpc>
                <a:spcPct val="105000"/>
              </a:lnSpc>
              <a:buNone/>
            </a:pPr>
            <a:r>
              <a:rPr lang="en-US" sz="1000" dirty="0">
                <a:solidFill>
                  <a:srgbClr val="232833"/>
                </a:solidFill>
                <a:latin typeface="Calibri" pitchFamily="34" charset="0"/>
                <a:ea typeface="Calibri" pitchFamily="34" charset="-122"/>
                <a:cs typeface="Calibri" pitchFamily="34" charset="-120"/>
              </a:rPr>
              <a:t>A person integrates the finding rather than forwarding it verbatim.</a:t>
            </a:r>
            <a:endParaRPr lang="en-US" sz="1000" dirty="0"/>
          </a:p>
        </p:txBody>
      </p:sp>
      <p:sp>
        <p:nvSpPr>
          <p:cNvPr id="34" name="Text 32"/>
          <p:cNvSpPr txBox="1"/>
          <p:nvPr/>
        </p:nvSpPr>
        <p:spPr>
          <a:xfrm>
            <a:off x="4014216" y="4517136"/>
            <a:ext cx="347472" cy="1060704"/>
          </a:xfrm>
          <a:prstGeom prst="rect">
            <a:avLst/>
          </a:prstGeom>
          <a:noFill/>
          <a:ln/>
        </p:spPr>
        <p:txBody>
          <a:bodyPr wrap="square" lIns="0" tIns="0" rIns="0" bIns="0" rtlCol="0" anchor="ctr"/>
          <a:lstStyle/>
          <a:p>
            <a:pPr algn="ctr" indent="0" marL="0">
              <a:buNone/>
            </a:pPr>
            <a:r>
              <a:rPr lang="en-US" sz="1900" b="1" dirty="0">
                <a:solidFill>
                  <a:srgbClr val="A8AEBB"/>
                </a:solidFill>
                <a:latin typeface="Calibri" pitchFamily="34" charset="0"/>
                <a:ea typeface="Calibri" pitchFamily="34" charset="-122"/>
                <a:cs typeface="Calibri" pitchFamily="34" charset="-120"/>
              </a:rPr>
              <a:t>›</a:t>
            </a:r>
            <a:endParaRPr lang="en-US" sz="1900" dirty="0"/>
          </a:p>
        </p:txBody>
      </p:sp>
      <p:sp>
        <p:nvSpPr>
          <p:cNvPr id="35" name="Shape 33"/>
          <p:cNvSpPr/>
          <p:nvPr/>
        </p:nvSpPr>
        <p:spPr>
          <a:xfrm>
            <a:off x="4361688" y="4517136"/>
            <a:ext cx="3465576" cy="1060704"/>
          </a:xfrm>
          <a:prstGeom prst="roundRect">
            <a:avLst>
              <a:gd name="adj" fmla="val 5172"/>
            </a:avLst>
          </a:prstGeom>
          <a:solidFill>
            <a:srgbClr val="F2F2EF"/>
          </a:solidFill>
          <a:ln w="12700">
            <a:solidFill>
              <a:srgbClr val="F2F2EF"/>
            </a:solidFill>
            <a:prstDash val="solid"/>
          </a:ln>
        </p:spPr>
      </p:sp>
      <p:sp>
        <p:nvSpPr>
          <p:cNvPr id="36" name="Text 34"/>
          <p:cNvSpPr txBox="1"/>
          <p:nvPr/>
        </p:nvSpPr>
        <p:spPr>
          <a:xfrm>
            <a:off x="4562856" y="4590288"/>
            <a:ext cx="3063240" cy="256032"/>
          </a:xfrm>
          <a:prstGeom prst="rect">
            <a:avLst/>
          </a:prstGeom>
          <a:noFill/>
          <a:ln/>
        </p:spPr>
        <p:txBody>
          <a:bodyPr wrap="square" lIns="0" tIns="0" rIns="0" bIns="0" rtlCol="0" anchor="ctr"/>
          <a:lstStyle/>
          <a:p>
            <a:pPr indent="0" marL="0">
              <a:buNone/>
            </a:pPr>
            <a:r>
              <a:rPr lang="en-US" sz="1150" b="1" dirty="0">
                <a:solidFill>
                  <a:srgbClr val="8E3350"/>
                </a:solidFill>
                <a:latin typeface="Calibri" pitchFamily="34" charset="0"/>
                <a:ea typeface="Calibri" pitchFamily="34" charset="-122"/>
                <a:cs typeface="Calibri" pitchFamily="34" charset="-120"/>
              </a:rPr>
              <a:t>One click to draft</a:t>
            </a:r>
            <a:endParaRPr lang="en-US" sz="1150" dirty="0"/>
          </a:p>
        </p:txBody>
      </p:sp>
      <p:sp>
        <p:nvSpPr>
          <p:cNvPr id="37" name="Text 35"/>
          <p:cNvSpPr txBox="1"/>
          <p:nvPr/>
        </p:nvSpPr>
        <p:spPr>
          <a:xfrm>
            <a:off x="4562856" y="4864608"/>
            <a:ext cx="3063240" cy="640080"/>
          </a:xfrm>
          <a:prstGeom prst="rect">
            <a:avLst/>
          </a:prstGeom>
          <a:noFill/>
          <a:ln/>
        </p:spPr>
        <p:txBody>
          <a:bodyPr wrap="square" lIns="0" tIns="0" rIns="0" bIns="0" rtlCol="0" anchor="t"/>
          <a:lstStyle/>
          <a:p>
            <a:pPr indent="0" marL="0">
              <a:lnSpc>
                <a:spcPct val="105000"/>
              </a:lnSpc>
              <a:buNone/>
            </a:pPr>
            <a:r>
              <a:rPr lang="en-US" sz="1000" dirty="0">
                <a:solidFill>
                  <a:srgbClr val="232833"/>
                </a:solidFill>
                <a:latin typeface="Calibri" pitchFamily="34" charset="0"/>
                <a:ea typeface="Calibri" pitchFamily="34" charset="-122"/>
                <a:cs typeface="Calibri" pitchFamily="34" charset="-120"/>
              </a:rPr>
              <a:t>A patented workflow moves the edited finding into an email draft.</a:t>
            </a:r>
            <a:endParaRPr lang="en-US" sz="1000" dirty="0"/>
          </a:p>
        </p:txBody>
      </p:sp>
      <p:sp>
        <p:nvSpPr>
          <p:cNvPr id="38" name="Text 36"/>
          <p:cNvSpPr txBox="1"/>
          <p:nvPr/>
        </p:nvSpPr>
        <p:spPr>
          <a:xfrm>
            <a:off x="7827264" y="4517136"/>
            <a:ext cx="347472" cy="1060704"/>
          </a:xfrm>
          <a:prstGeom prst="rect">
            <a:avLst/>
          </a:prstGeom>
          <a:noFill/>
          <a:ln/>
        </p:spPr>
        <p:txBody>
          <a:bodyPr wrap="square" lIns="0" tIns="0" rIns="0" bIns="0" rtlCol="0" anchor="ctr"/>
          <a:lstStyle/>
          <a:p>
            <a:pPr algn="ctr" indent="0" marL="0">
              <a:buNone/>
            </a:pPr>
            <a:r>
              <a:rPr lang="en-US" sz="1900" b="1" dirty="0">
                <a:solidFill>
                  <a:srgbClr val="A8AEBB"/>
                </a:solidFill>
                <a:latin typeface="Calibri" pitchFamily="34" charset="0"/>
                <a:ea typeface="Calibri" pitchFamily="34" charset="-122"/>
                <a:cs typeface="Calibri" pitchFamily="34" charset="-120"/>
              </a:rPr>
              <a:t>›</a:t>
            </a:r>
            <a:endParaRPr lang="en-US" sz="1900" dirty="0"/>
          </a:p>
        </p:txBody>
      </p:sp>
      <p:sp>
        <p:nvSpPr>
          <p:cNvPr id="39" name="Shape 37"/>
          <p:cNvSpPr/>
          <p:nvPr/>
        </p:nvSpPr>
        <p:spPr>
          <a:xfrm>
            <a:off x="8174736" y="4517136"/>
            <a:ext cx="3465576" cy="1060704"/>
          </a:xfrm>
          <a:prstGeom prst="roundRect">
            <a:avLst>
              <a:gd name="adj" fmla="val 5172"/>
            </a:avLst>
          </a:prstGeom>
          <a:solidFill>
            <a:srgbClr val="F2F2EF"/>
          </a:solidFill>
          <a:ln w="12700">
            <a:solidFill>
              <a:srgbClr val="F2F2EF"/>
            </a:solidFill>
            <a:prstDash val="solid"/>
          </a:ln>
        </p:spPr>
      </p:sp>
      <p:sp>
        <p:nvSpPr>
          <p:cNvPr id="40" name="Text 38"/>
          <p:cNvSpPr txBox="1"/>
          <p:nvPr/>
        </p:nvSpPr>
        <p:spPr>
          <a:xfrm>
            <a:off x="8375904" y="4590288"/>
            <a:ext cx="3063240" cy="256032"/>
          </a:xfrm>
          <a:prstGeom prst="rect">
            <a:avLst/>
          </a:prstGeom>
          <a:noFill/>
          <a:ln/>
        </p:spPr>
        <p:txBody>
          <a:bodyPr wrap="square" lIns="0" tIns="0" rIns="0" bIns="0" rtlCol="0" anchor="ctr"/>
          <a:lstStyle/>
          <a:p>
            <a:pPr indent="0" marL="0">
              <a:buNone/>
            </a:pPr>
            <a:r>
              <a:rPr lang="en-US" sz="1150" b="1" dirty="0">
                <a:solidFill>
                  <a:srgbClr val="8E3350"/>
                </a:solidFill>
                <a:latin typeface="Calibri" pitchFamily="34" charset="0"/>
                <a:ea typeface="Calibri" pitchFamily="34" charset="-122"/>
                <a:cs typeface="Calibri" pitchFamily="34" charset="-120"/>
              </a:rPr>
              <a:t>Client receives</a:t>
            </a:r>
            <a:endParaRPr lang="en-US" sz="1150" dirty="0"/>
          </a:p>
        </p:txBody>
      </p:sp>
      <p:sp>
        <p:nvSpPr>
          <p:cNvPr id="41" name="Text 39"/>
          <p:cNvSpPr txBox="1"/>
          <p:nvPr/>
        </p:nvSpPr>
        <p:spPr>
          <a:xfrm>
            <a:off x="8375904" y="4864608"/>
            <a:ext cx="3063240" cy="640080"/>
          </a:xfrm>
          <a:prstGeom prst="rect">
            <a:avLst/>
          </a:prstGeom>
          <a:noFill/>
          <a:ln/>
        </p:spPr>
        <p:txBody>
          <a:bodyPr wrap="square" lIns="0" tIns="0" rIns="0" bIns="0" rtlCol="0" anchor="t"/>
          <a:lstStyle/>
          <a:p>
            <a:pPr indent="0" marL="0">
              <a:lnSpc>
                <a:spcPct val="105000"/>
              </a:lnSpc>
              <a:buNone/>
            </a:pPr>
            <a:r>
              <a:rPr lang="en-US" sz="1000" dirty="0">
                <a:solidFill>
                  <a:srgbClr val="232833"/>
                </a:solidFill>
                <a:latin typeface="Calibri" pitchFamily="34" charset="0"/>
                <a:ea typeface="Calibri" pitchFamily="34" charset="-122"/>
                <a:cs typeface="Calibri" pitchFamily="34" charset="-120"/>
              </a:rPr>
              <a:t>What arrives has been through a named person at the firm.</a:t>
            </a:r>
            <a:endParaRPr lang="en-US" sz="1000" dirty="0"/>
          </a:p>
        </p:txBody>
      </p:sp>
      <p:sp>
        <p:nvSpPr>
          <p:cNvPr id="42" name="Text 40"/>
          <p:cNvSpPr txBox="1"/>
          <p:nvPr/>
        </p:nvSpPr>
        <p:spPr>
          <a:xfrm>
            <a:off x="548640" y="5870448"/>
            <a:ext cx="11091672" cy="603504"/>
          </a:xfrm>
          <a:prstGeom prst="rect">
            <a:avLst/>
          </a:prstGeom>
          <a:noFill/>
          <a:ln/>
        </p:spPr>
        <p:txBody>
          <a:bodyPr wrap="square" lIns="0" tIns="0" rIns="0" bIns="0" rtlCol="0" anchor="t"/>
          <a:lstStyle/>
          <a:p>
            <a:pPr indent="0" marL="0">
              <a:lnSpc>
                <a:spcPct val="112000"/>
              </a:lnSpc>
              <a:buNone/>
            </a:pPr>
            <a:r>
              <a:rPr lang="en-US" sz="1050" i="1" dirty="0">
                <a:solidFill>
                  <a:srgbClr val="6E7480"/>
                </a:solidFill>
                <a:latin typeface="Calibri" pitchFamily="34" charset="0"/>
                <a:ea typeface="Calibri" pitchFamily="34" charset="-122"/>
                <a:cs typeface="Calibri" pitchFamily="34" charset="-120"/>
              </a:rPr>
              <a:t>Source note: both press releases and the OpenAI case study were read in full on 3 September 2026. The corpus, the retrieval boundary, the patented workflow and the eval framework behind it are all first-party; the internal mechanics between these boxes are still unpublished and are not guessed at here.</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29184"/>
            <a:ext cx="420624" cy="420624"/>
          </a:xfrm>
          <a:prstGeom prst="roundRect">
            <a:avLst>
              <a:gd name="adj" fmla="val 17391"/>
            </a:avLst>
          </a:prstGeom>
          <a:solidFill>
            <a:srgbClr val="FFFFFF"/>
          </a:solidFill>
          <a:ln w="15875">
            <a:solidFill>
              <a:srgbClr val="15181E"/>
            </a:solidFill>
            <a:prstDash val="solid"/>
          </a:ln>
        </p:spPr>
      </p:sp>
      <p:sp>
        <p:nvSpPr>
          <p:cNvPr id="3" name="Text 1"/>
          <p:cNvSpPr txBox="1"/>
          <p:nvPr/>
        </p:nvSpPr>
        <p:spPr>
          <a:xfrm>
            <a:off x="548640" y="329184"/>
            <a:ext cx="420624" cy="420624"/>
          </a:xfrm>
          <a:prstGeom prst="rect">
            <a:avLst/>
          </a:prstGeom>
          <a:noFill/>
          <a:ln/>
        </p:spPr>
        <p:txBody>
          <a:bodyPr wrap="square" lIns="0" tIns="0" rIns="0" bIns="0" rtlCol="0" anchor="ctr"/>
          <a:lstStyle/>
          <a:p>
            <a:pPr algn="ctr" indent="0" marL="0">
              <a:buNone/>
            </a:pPr>
            <a:r>
              <a:rPr lang="en-US" sz="1300" b="1" spc="40" kern="0" dirty="0">
                <a:solidFill>
                  <a:srgbClr val="15181E"/>
                </a:solidFill>
                <a:latin typeface="Cambria" pitchFamily="34" charset="0"/>
                <a:ea typeface="Cambria" pitchFamily="34" charset="-122"/>
                <a:cs typeface="Cambria" pitchFamily="34" charset="-120"/>
              </a:rPr>
              <a:t>JP</a:t>
            </a:r>
            <a:endParaRPr lang="en-US" sz="1300" dirty="0"/>
          </a:p>
        </p:txBody>
      </p:sp>
      <p:sp>
        <p:nvSpPr>
          <p:cNvPr id="4" name="Text 2"/>
          <p:cNvSpPr txBox="1"/>
          <p:nvPr/>
        </p:nvSpPr>
        <p:spPr>
          <a:xfrm>
            <a:off x="1188720" y="256032"/>
            <a:ext cx="7680960" cy="548640"/>
          </a:xfrm>
          <a:prstGeom prst="rect">
            <a:avLst/>
          </a:prstGeom>
          <a:noFill/>
          <a:ln/>
        </p:spPr>
        <p:txBody>
          <a:bodyPr wrap="square" lIns="0" tIns="0" rIns="0" bIns="0" rtlCol="0" anchor="ctr"/>
          <a:lstStyle/>
          <a:p>
            <a:pPr indent="0" marL="0">
              <a:buNone/>
            </a:pPr>
            <a:r>
              <a:rPr lang="en-US" sz="2800" b="1" dirty="0">
                <a:solidFill>
                  <a:srgbClr val="15181E"/>
                </a:solidFill>
                <a:latin typeface="Cambria" pitchFamily="34" charset="0"/>
                <a:ea typeface="Cambria" pitchFamily="34" charset="-122"/>
                <a:cs typeface="Cambria" pitchFamily="34" charset="-120"/>
              </a:rPr>
              <a:t>JPMorgan Chase, and scale in context</a:t>
            </a:r>
            <a:endParaRPr lang="en-US" sz="2800" dirty="0"/>
          </a:p>
        </p:txBody>
      </p:sp>
      <p:sp>
        <p:nvSpPr>
          <p:cNvPr id="5" name="Shape 3"/>
          <p:cNvSpPr/>
          <p:nvPr/>
        </p:nvSpPr>
        <p:spPr>
          <a:xfrm>
            <a:off x="8439912" y="384048"/>
            <a:ext cx="3200400" cy="274320"/>
          </a:xfrm>
          <a:prstGeom prst="roundRect">
            <a:avLst>
              <a:gd name="adj" fmla="val 50000"/>
            </a:avLst>
          </a:prstGeom>
          <a:solidFill>
            <a:srgbClr val="8E3350"/>
          </a:solidFill>
          <a:ln/>
        </p:spPr>
      </p:sp>
      <p:sp>
        <p:nvSpPr>
          <p:cNvPr id="6" name="Text 4"/>
          <p:cNvSpPr txBox="1"/>
          <p:nvPr/>
        </p:nvSpPr>
        <p:spPr>
          <a:xfrm>
            <a:off x="8439912" y="384048"/>
            <a:ext cx="3200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SECONDARY, DIRECTIONAL ONLY</a:t>
            </a:r>
            <a:endParaRPr lang="en-US" sz="850" dirty="0"/>
          </a:p>
        </p:txBody>
      </p:sp>
      <p:sp>
        <p:nvSpPr>
          <p:cNvPr id="7" name="Text 5"/>
          <p:cNvSpPr txBox="1"/>
          <p:nvPr/>
        </p:nvSpPr>
        <p:spPr>
          <a:xfrm>
            <a:off x="548640" y="896112"/>
            <a:ext cx="10881360" cy="457200"/>
          </a:xfrm>
          <a:prstGeom prst="rect">
            <a:avLst/>
          </a:prstGeom>
          <a:noFill/>
          <a:ln/>
        </p:spPr>
        <p:txBody>
          <a:bodyPr wrap="square" lIns="0" tIns="0" rIns="0" bIns="0" rtlCol="0" anchor="t"/>
          <a:lstStyle/>
          <a:p>
            <a:pPr indent="0" marL="0">
              <a:lnSpc>
                <a:spcPct val="108000"/>
              </a:lnSpc>
              <a:buNone/>
            </a:pPr>
            <a:r>
              <a:rPr lang="en-US" sz="1400" dirty="0">
                <a:solidFill>
                  <a:srgbClr val="232833"/>
                </a:solidFill>
                <a:latin typeface="Calibri" pitchFamily="34" charset="0"/>
                <a:ea typeface="Calibri" pitchFamily="34" charset="-122"/>
                <a:cs typeface="Calibri" pitchFamily="34" charset="-120"/>
              </a:rPr>
              <a:t>JPMorgan gets no diagram because it published no architecture. Everything below is trade press, and no two of these companies publish the same metric, so this is not a ranking.</a:t>
            </a:r>
            <a:endParaRPr lang="en-US" sz="1400" dirty="0"/>
          </a:p>
        </p:txBody>
      </p:sp>
      <p:sp>
        <p:nvSpPr>
          <p:cNvPr id="8" name="Shape 6"/>
          <p:cNvSpPr/>
          <p:nvPr/>
        </p:nvSpPr>
        <p:spPr>
          <a:xfrm>
            <a:off x="548640" y="1572768"/>
            <a:ext cx="5029200" cy="3840480"/>
          </a:xfrm>
          <a:prstGeom prst="roundRect">
            <a:avLst>
              <a:gd name="adj" fmla="val 1429"/>
            </a:avLst>
          </a:prstGeom>
          <a:solidFill>
            <a:srgbClr val="F2F2EF"/>
          </a:solidFill>
          <a:ln w="12700">
            <a:solidFill>
              <a:srgbClr val="F2F2EF"/>
            </a:solidFill>
            <a:prstDash val="solid"/>
          </a:ln>
        </p:spPr>
      </p:sp>
      <p:sp>
        <p:nvSpPr>
          <p:cNvPr id="9" name="Text 7"/>
          <p:cNvSpPr txBox="1"/>
          <p:nvPr/>
        </p:nvSpPr>
        <p:spPr>
          <a:xfrm>
            <a:off x="859536" y="1792224"/>
            <a:ext cx="4480560" cy="365760"/>
          </a:xfrm>
          <a:prstGeom prst="rect">
            <a:avLst/>
          </a:prstGeom>
          <a:noFill/>
          <a:ln/>
        </p:spPr>
        <p:txBody>
          <a:bodyPr wrap="square" lIns="0" tIns="0" rIns="0" bIns="0" rtlCol="0" anchor="ctr"/>
          <a:lstStyle/>
          <a:p>
            <a:pPr indent="0" marL="0">
              <a:buNone/>
            </a:pPr>
            <a:r>
              <a:rPr lang="en-US" sz="1700" b="1" dirty="0">
                <a:solidFill>
                  <a:srgbClr val="15181E"/>
                </a:solidFill>
                <a:latin typeface="Cambria" pitchFamily="34" charset="0"/>
                <a:ea typeface="Cambria" pitchFamily="34" charset="-122"/>
                <a:cs typeface="Cambria" pitchFamily="34" charset="-120"/>
              </a:rPr>
              <a:t>LLM Suite, as far as anyone reports</a:t>
            </a:r>
            <a:endParaRPr lang="en-US" sz="1700" dirty="0"/>
          </a:p>
        </p:txBody>
      </p:sp>
      <p:sp>
        <p:nvSpPr>
          <p:cNvPr id="10" name="Text 8"/>
          <p:cNvSpPr txBox="1"/>
          <p:nvPr/>
        </p:nvSpPr>
        <p:spPr>
          <a:xfrm>
            <a:off x="859536" y="2286000"/>
            <a:ext cx="4407408" cy="2926080"/>
          </a:xfrm>
          <a:prstGeom prst="rect">
            <a:avLst/>
          </a:prstGeom>
          <a:noFill/>
          <a:ln/>
        </p:spPr>
        <p:txBody>
          <a:bodyPr wrap="square" lIns="0" tIns="0" rIns="0" bIns="0" rtlCol="0" anchor="t"/>
          <a:lstStyle/>
          <a:p>
            <a:pPr marL="342900" indent="-342900">
              <a:spcAft>
                <a:spcPts val="800"/>
              </a:spcAft>
              <a:buSzPct val="100000"/>
              <a:buChar char="•"/>
            </a:pPr>
            <a:r>
              <a:rPr lang="en-US" sz="1150" dirty="0">
                <a:solidFill>
                  <a:srgbClr val="232833"/>
                </a:solidFill>
                <a:latin typeface="Calibri" pitchFamily="34" charset="0"/>
                <a:ea typeface="Calibri" pitchFamily="34" charset="-122"/>
                <a:cs typeface="Calibri" pitchFamily="34" charset="-120"/>
              </a:rPr>
              <a:t>A firm-wide generative AI toolset launched in 2024, scaling from around 60,000 users in mid-2024 to more than 140,000.</a:t>
            </a:r>
            <a:endParaRPr lang="en-US" sz="1150" dirty="0"/>
          </a:p>
          <a:p>
            <a:pPr marL="342900" indent="-342900">
              <a:spcAft>
                <a:spcPts val="800"/>
              </a:spcAft>
              <a:buSzPct val="100000"/>
              <a:buChar char="•"/>
            </a:pPr>
            <a:r>
              <a:rPr lang="en-US" sz="1150" dirty="0">
                <a:solidFill>
                  <a:srgbClr val="232833"/>
                </a:solidFill>
                <a:latin typeface="Calibri" pitchFamily="34" charset="0"/>
                <a:ea typeface="Calibri" pitchFamily="34" charset="-122"/>
                <a:cs typeface="Calibri" pitchFamily="34" charset="-120"/>
              </a:rPr>
              <a:t>Reportedly 200,000 people use it daily across 450+ production use cases, though that figure is trade press rather than disclosure.</a:t>
            </a:r>
            <a:endParaRPr lang="en-US" sz="1150" dirty="0"/>
          </a:p>
          <a:p>
            <a:pPr marL="342900" indent="-342900">
              <a:spcAft>
                <a:spcPts val="800"/>
              </a:spcAft>
              <a:buSzPct val="100000"/>
              <a:buChar char="•"/>
            </a:pPr>
            <a:r>
              <a:rPr lang="en-US" sz="1150" dirty="0">
                <a:solidFill>
                  <a:srgbClr val="232833"/>
                </a:solidFill>
                <a:latin typeface="Calibri" pitchFamily="34" charset="0"/>
                <a:ea typeface="Calibri" pitchFamily="34" charset="-122"/>
                <a:cs typeface="Calibri" pitchFamily="34" charset="-120"/>
              </a:rPr>
              <a:t>Model-agnostic, with both OpenAI and Anthropic models selectable by the user.</a:t>
            </a:r>
            <a:endParaRPr lang="en-US" sz="1150" dirty="0"/>
          </a:p>
          <a:p>
            <a:pPr marL="342900" indent="-342900">
              <a:spcAft>
                <a:spcPts val="800"/>
              </a:spcAft>
              <a:buSzPct val="100000"/>
              <a:buChar char="•"/>
            </a:pPr>
            <a:r>
              <a:rPr lang="en-US" sz="1150" dirty="0">
                <a:solidFill>
                  <a:srgbClr val="232833"/>
                </a:solidFill>
                <a:latin typeface="Calibri" pitchFamily="34" charset="0"/>
                <a:ea typeface="Calibri" pitchFamily="34" charset="-122"/>
                <a:cs typeface="Calibri" pitchFamily="34" charset="-120"/>
              </a:rPr>
              <a:t>Wired into document stores, call records and knowledge graphs through secure internal APIs.</a:t>
            </a:r>
            <a:endParaRPr lang="en-US" sz="1150" dirty="0"/>
          </a:p>
          <a:p>
            <a:pPr marL="342900" indent="-342900">
              <a:spcAft>
                <a:spcPts val="800"/>
              </a:spcAft>
              <a:buSzPct val="100000"/>
              <a:buChar char="•"/>
            </a:pPr>
            <a:r>
              <a:rPr lang="en-US" sz="1150" dirty="0">
                <a:solidFill>
                  <a:srgbClr val="232833"/>
                </a:solidFill>
                <a:latin typeface="Calibri" pitchFamily="34" charset="0"/>
                <a:ea typeface="Calibri" pitchFamily="34" charset="-122"/>
                <a:cs typeface="Calibri" pitchFamily="34" charset="-120"/>
              </a:rPr>
              <a:t>A reported saving of three to six hours per user per week, internally modelled rather than measured.</a:t>
            </a:r>
            <a:endParaRPr lang="en-US" sz="1150" dirty="0"/>
          </a:p>
        </p:txBody>
      </p:sp>
      <p:sp>
        <p:nvSpPr>
          <p:cNvPr id="11" name="Shape 9"/>
          <p:cNvSpPr/>
          <p:nvPr/>
        </p:nvSpPr>
        <p:spPr>
          <a:xfrm>
            <a:off x="5943600" y="1801368"/>
            <a:ext cx="146304" cy="146304"/>
          </a:xfrm>
          <a:prstGeom prst="ellipse">
            <a:avLst/>
          </a:prstGeom>
          <a:solidFill>
            <a:srgbClr val="1F6F6B"/>
          </a:solidFill>
          <a:ln/>
        </p:spPr>
      </p:sp>
      <p:sp>
        <p:nvSpPr>
          <p:cNvPr id="12" name="Text 10"/>
          <p:cNvSpPr txBox="1"/>
          <p:nvPr/>
        </p:nvSpPr>
        <p:spPr>
          <a:xfrm>
            <a:off x="6236208" y="1682496"/>
            <a:ext cx="2286000" cy="365760"/>
          </a:xfrm>
          <a:prstGeom prst="rect">
            <a:avLst/>
          </a:prstGeom>
          <a:noFill/>
          <a:ln/>
        </p:spPr>
        <p:txBody>
          <a:bodyPr wrap="square" lIns="0" tIns="0" rIns="0" bIns="0" rtlCol="0" anchor="ctr"/>
          <a:lstStyle/>
          <a:p>
            <a:pPr indent="0" marL="0">
              <a:buNone/>
            </a:pPr>
            <a:r>
              <a:rPr lang="en-US" sz="1250" b="1" dirty="0">
                <a:solidFill>
                  <a:srgbClr val="15181E"/>
                </a:solidFill>
                <a:latin typeface="Calibri" pitchFamily="34" charset="0"/>
                <a:ea typeface="Calibri" pitchFamily="34" charset="-122"/>
                <a:cs typeface="Calibri" pitchFamily="34" charset="-120"/>
              </a:rPr>
              <a:t>Cerebras</a:t>
            </a:r>
            <a:endParaRPr lang="en-US" sz="1250" dirty="0"/>
          </a:p>
        </p:txBody>
      </p:sp>
      <p:sp>
        <p:nvSpPr>
          <p:cNvPr id="13" name="Text 11"/>
          <p:cNvSpPr txBox="1"/>
          <p:nvPr/>
        </p:nvSpPr>
        <p:spPr>
          <a:xfrm>
            <a:off x="8595360" y="1682496"/>
            <a:ext cx="3044952" cy="365760"/>
          </a:xfrm>
          <a:prstGeom prst="rect">
            <a:avLst/>
          </a:prstGeom>
          <a:noFill/>
          <a:ln/>
        </p:spPr>
        <p:txBody>
          <a:bodyPr wrap="square" lIns="0" tIns="0" rIns="0" bIns="0" rtlCol="0" anchor="ctr"/>
          <a:lstStyle/>
          <a:p>
            <a:pPr indent="0" marL="0">
              <a:buNone/>
            </a:pPr>
            <a:r>
              <a:rPr lang="en-US" sz="1200" dirty="0">
                <a:solidFill>
                  <a:srgbClr val="6E7480"/>
                </a:solidFill>
                <a:latin typeface="Calibri" pitchFamily="34" charset="0"/>
                <a:ea typeface="Calibri" pitchFamily="34" charset="-122"/>
                <a:cs typeface="Calibri" pitchFamily="34" charset="-120"/>
              </a:rPr>
              <a:t>15,000 questions answered per day</a:t>
            </a:r>
            <a:endParaRPr lang="en-US" sz="1200" dirty="0"/>
          </a:p>
        </p:txBody>
      </p:sp>
      <p:sp>
        <p:nvSpPr>
          <p:cNvPr id="14" name="Shape 12"/>
          <p:cNvSpPr/>
          <p:nvPr/>
        </p:nvSpPr>
        <p:spPr>
          <a:xfrm>
            <a:off x="5943600" y="2276856"/>
            <a:ext cx="146304" cy="146304"/>
          </a:xfrm>
          <a:prstGeom prst="ellipse">
            <a:avLst/>
          </a:prstGeom>
          <a:solidFill>
            <a:srgbClr val="1F6F6B"/>
          </a:solidFill>
          <a:ln/>
        </p:spPr>
      </p:sp>
      <p:sp>
        <p:nvSpPr>
          <p:cNvPr id="15" name="Text 13"/>
          <p:cNvSpPr txBox="1"/>
          <p:nvPr/>
        </p:nvSpPr>
        <p:spPr>
          <a:xfrm>
            <a:off x="6236208" y="2157984"/>
            <a:ext cx="2286000" cy="365760"/>
          </a:xfrm>
          <a:prstGeom prst="rect">
            <a:avLst/>
          </a:prstGeom>
          <a:noFill/>
          <a:ln/>
        </p:spPr>
        <p:txBody>
          <a:bodyPr wrap="square" lIns="0" tIns="0" rIns="0" bIns="0" rtlCol="0" anchor="ctr"/>
          <a:lstStyle/>
          <a:p>
            <a:pPr indent="0" marL="0">
              <a:buNone/>
            </a:pPr>
            <a:r>
              <a:rPr lang="en-US" sz="1250" b="1" dirty="0">
                <a:solidFill>
                  <a:srgbClr val="15181E"/>
                </a:solidFill>
                <a:latin typeface="Calibri" pitchFamily="34" charset="0"/>
                <a:ea typeface="Calibri" pitchFamily="34" charset="-122"/>
                <a:cs typeface="Calibri" pitchFamily="34" charset="-120"/>
              </a:rPr>
              <a:t>Stripe</a:t>
            </a:r>
            <a:endParaRPr lang="en-US" sz="1250" dirty="0"/>
          </a:p>
        </p:txBody>
      </p:sp>
      <p:sp>
        <p:nvSpPr>
          <p:cNvPr id="16" name="Text 14"/>
          <p:cNvSpPr txBox="1"/>
          <p:nvPr/>
        </p:nvSpPr>
        <p:spPr>
          <a:xfrm>
            <a:off x="8595360" y="2157984"/>
            <a:ext cx="3044952" cy="365760"/>
          </a:xfrm>
          <a:prstGeom prst="rect">
            <a:avLst/>
          </a:prstGeom>
          <a:noFill/>
          <a:ln/>
        </p:spPr>
        <p:txBody>
          <a:bodyPr wrap="square" lIns="0" tIns="0" rIns="0" bIns="0" rtlCol="0" anchor="ctr"/>
          <a:lstStyle/>
          <a:p>
            <a:pPr indent="0" marL="0">
              <a:buNone/>
            </a:pPr>
            <a:r>
              <a:rPr lang="en-US" sz="1200" dirty="0">
                <a:solidFill>
                  <a:srgbClr val="6E7480"/>
                </a:solidFill>
                <a:latin typeface="Calibri" pitchFamily="34" charset="0"/>
                <a:ea typeface="Calibri" pitchFamily="34" charset="-122"/>
                <a:cs typeface="Calibri" pitchFamily="34" charset="-120"/>
              </a:rPr>
              <a:t>83% of the company active every week</a:t>
            </a:r>
            <a:endParaRPr lang="en-US" sz="1200" dirty="0"/>
          </a:p>
        </p:txBody>
      </p:sp>
      <p:sp>
        <p:nvSpPr>
          <p:cNvPr id="17" name="Shape 15"/>
          <p:cNvSpPr/>
          <p:nvPr/>
        </p:nvSpPr>
        <p:spPr>
          <a:xfrm>
            <a:off x="5943600" y="2752344"/>
            <a:ext cx="146304" cy="146304"/>
          </a:xfrm>
          <a:prstGeom prst="ellipse">
            <a:avLst/>
          </a:prstGeom>
          <a:solidFill>
            <a:srgbClr val="1F6F6B"/>
          </a:solidFill>
          <a:ln/>
        </p:spPr>
      </p:sp>
      <p:sp>
        <p:nvSpPr>
          <p:cNvPr id="18" name="Text 16"/>
          <p:cNvSpPr txBox="1"/>
          <p:nvPr/>
        </p:nvSpPr>
        <p:spPr>
          <a:xfrm>
            <a:off x="6236208" y="2633472"/>
            <a:ext cx="2286000" cy="365760"/>
          </a:xfrm>
          <a:prstGeom prst="rect">
            <a:avLst/>
          </a:prstGeom>
          <a:noFill/>
          <a:ln/>
        </p:spPr>
        <p:txBody>
          <a:bodyPr wrap="square" lIns="0" tIns="0" rIns="0" bIns="0" rtlCol="0" anchor="ctr"/>
          <a:lstStyle/>
          <a:p>
            <a:pPr indent="0" marL="0">
              <a:buNone/>
            </a:pPr>
            <a:r>
              <a:rPr lang="en-US" sz="1250" b="1" dirty="0">
                <a:solidFill>
                  <a:srgbClr val="15181E"/>
                </a:solidFill>
                <a:latin typeface="Calibri" pitchFamily="34" charset="0"/>
                <a:ea typeface="Calibri" pitchFamily="34" charset="-122"/>
                <a:cs typeface="Calibri" pitchFamily="34" charset="-120"/>
              </a:rPr>
              <a:t>Uber</a:t>
            </a:r>
            <a:endParaRPr lang="en-US" sz="1250" dirty="0"/>
          </a:p>
        </p:txBody>
      </p:sp>
      <p:sp>
        <p:nvSpPr>
          <p:cNvPr id="19" name="Text 17"/>
          <p:cNvSpPr txBox="1"/>
          <p:nvPr/>
        </p:nvSpPr>
        <p:spPr>
          <a:xfrm>
            <a:off x="8595360" y="2633472"/>
            <a:ext cx="3044952" cy="365760"/>
          </a:xfrm>
          <a:prstGeom prst="rect">
            <a:avLst/>
          </a:prstGeom>
          <a:noFill/>
          <a:ln/>
        </p:spPr>
        <p:txBody>
          <a:bodyPr wrap="square" lIns="0" tIns="0" rIns="0" bIns="0" rtlCol="0" anchor="ctr"/>
          <a:lstStyle/>
          <a:p>
            <a:pPr indent="0" marL="0">
              <a:buNone/>
            </a:pPr>
            <a:r>
              <a:rPr lang="en-US" sz="1200" dirty="0">
                <a:solidFill>
                  <a:srgbClr val="6E7480"/>
                </a:solidFill>
                <a:latin typeface="Calibri" pitchFamily="34" charset="0"/>
                <a:ea typeface="Calibri" pitchFamily="34" charset="-122"/>
                <a:cs typeface="Calibri" pitchFamily="34" charset="-120"/>
              </a:rPr>
              <a:t>70,000+ questions across 154 channels</a:t>
            </a:r>
            <a:endParaRPr lang="en-US" sz="1200" dirty="0"/>
          </a:p>
        </p:txBody>
      </p:sp>
      <p:sp>
        <p:nvSpPr>
          <p:cNvPr id="20" name="Shape 18"/>
          <p:cNvSpPr/>
          <p:nvPr/>
        </p:nvSpPr>
        <p:spPr>
          <a:xfrm>
            <a:off x="5943600" y="3227832"/>
            <a:ext cx="146304" cy="146304"/>
          </a:xfrm>
          <a:prstGeom prst="ellipse">
            <a:avLst/>
          </a:prstGeom>
          <a:solidFill>
            <a:srgbClr val="1F6F6B"/>
          </a:solidFill>
          <a:ln/>
        </p:spPr>
      </p:sp>
      <p:sp>
        <p:nvSpPr>
          <p:cNvPr id="21" name="Text 19"/>
          <p:cNvSpPr txBox="1"/>
          <p:nvPr/>
        </p:nvSpPr>
        <p:spPr>
          <a:xfrm>
            <a:off x="6236208" y="3108960"/>
            <a:ext cx="2286000" cy="365760"/>
          </a:xfrm>
          <a:prstGeom prst="rect">
            <a:avLst/>
          </a:prstGeom>
          <a:noFill/>
          <a:ln/>
        </p:spPr>
        <p:txBody>
          <a:bodyPr wrap="square" lIns="0" tIns="0" rIns="0" bIns="0" rtlCol="0" anchor="ctr"/>
          <a:lstStyle/>
          <a:p>
            <a:pPr indent="0" marL="0">
              <a:buNone/>
            </a:pPr>
            <a:r>
              <a:rPr lang="en-US" sz="1250" b="1" dirty="0">
                <a:solidFill>
                  <a:srgbClr val="15181E"/>
                </a:solidFill>
                <a:latin typeface="Calibri" pitchFamily="34" charset="0"/>
                <a:ea typeface="Calibri" pitchFamily="34" charset="-122"/>
                <a:cs typeface="Calibri" pitchFamily="34" charset="-120"/>
              </a:rPr>
              <a:t>Slack</a:t>
            </a:r>
            <a:endParaRPr lang="en-US" sz="1250" dirty="0"/>
          </a:p>
        </p:txBody>
      </p:sp>
      <p:sp>
        <p:nvSpPr>
          <p:cNvPr id="22" name="Text 20"/>
          <p:cNvSpPr txBox="1"/>
          <p:nvPr/>
        </p:nvSpPr>
        <p:spPr>
          <a:xfrm>
            <a:off x="8595360" y="3108960"/>
            <a:ext cx="3044952" cy="365760"/>
          </a:xfrm>
          <a:prstGeom prst="rect">
            <a:avLst/>
          </a:prstGeom>
          <a:noFill/>
          <a:ln/>
        </p:spPr>
        <p:txBody>
          <a:bodyPr wrap="square" lIns="0" tIns="0" rIns="0" bIns="0" rtlCol="0" anchor="ctr"/>
          <a:lstStyle/>
          <a:p>
            <a:pPr indent="0" marL="0">
              <a:buNone/>
            </a:pPr>
            <a:r>
              <a:rPr lang="en-US" sz="1200" dirty="0">
                <a:solidFill>
                  <a:srgbClr val="6E7480"/>
                </a:solidFill>
                <a:latin typeface="Calibri" pitchFamily="34" charset="0"/>
                <a:ea typeface="Calibri" pitchFamily="34" charset="-122"/>
                <a:cs typeface="Calibri" pitchFamily="34" charset="-120"/>
              </a:rPr>
              <a:t>4,000+ chat-turns every month</a:t>
            </a:r>
            <a:endParaRPr lang="en-US" sz="1200" dirty="0"/>
          </a:p>
        </p:txBody>
      </p:sp>
      <p:sp>
        <p:nvSpPr>
          <p:cNvPr id="23" name="Shape 21"/>
          <p:cNvSpPr/>
          <p:nvPr/>
        </p:nvSpPr>
        <p:spPr>
          <a:xfrm>
            <a:off x="5943600" y="3703320"/>
            <a:ext cx="146304" cy="146304"/>
          </a:xfrm>
          <a:prstGeom prst="ellipse">
            <a:avLst/>
          </a:prstGeom>
          <a:solidFill>
            <a:srgbClr val="1F6F6B"/>
          </a:solidFill>
          <a:ln/>
        </p:spPr>
      </p:sp>
      <p:sp>
        <p:nvSpPr>
          <p:cNvPr id="24" name="Text 22"/>
          <p:cNvSpPr txBox="1"/>
          <p:nvPr/>
        </p:nvSpPr>
        <p:spPr>
          <a:xfrm>
            <a:off x="6236208" y="3584448"/>
            <a:ext cx="2286000" cy="365760"/>
          </a:xfrm>
          <a:prstGeom prst="rect">
            <a:avLst/>
          </a:prstGeom>
          <a:noFill/>
          <a:ln/>
        </p:spPr>
        <p:txBody>
          <a:bodyPr wrap="square" lIns="0" tIns="0" rIns="0" bIns="0" rtlCol="0" anchor="ctr"/>
          <a:lstStyle/>
          <a:p>
            <a:pPr indent="0" marL="0">
              <a:buNone/>
            </a:pPr>
            <a:r>
              <a:rPr lang="en-US" sz="1250" b="1" dirty="0">
                <a:solidFill>
                  <a:srgbClr val="15181E"/>
                </a:solidFill>
                <a:latin typeface="Calibri" pitchFamily="34" charset="0"/>
                <a:ea typeface="Calibri" pitchFamily="34" charset="-122"/>
                <a:cs typeface="Calibri" pitchFamily="34" charset="-120"/>
              </a:rPr>
              <a:t>Dropbox</a:t>
            </a:r>
            <a:endParaRPr lang="en-US" sz="1250" dirty="0"/>
          </a:p>
        </p:txBody>
      </p:sp>
      <p:sp>
        <p:nvSpPr>
          <p:cNvPr id="25" name="Text 23"/>
          <p:cNvSpPr txBox="1"/>
          <p:nvPr/>
        </p:nvSpPr>
        <p:spPr>
          <a:xfrm>
            <a:off x="8595360" y="3584448"/>
            <a:ext cx="3044952" cy="365760"/>
          </a:xfrm>
          <a:prstGeom prst="rect">
            <a:avLst/>
          </a:prstGeom>
          <a:noFill/>
          <a:ln/>
        </p:spPr>
        <p:txBody>
          <a:bodyPr wrap="square" lIns="0" tIns="0" rIns="0" bIns="0" rtlCol="0" anchor="ctr"/>
          <a:lstStyle/>
          <a:p>
            <a:pPr indent="0" marL="0">
              <a:buNone/>
            </a:pPr>
            <a:r>
              <a:rPr lang="en-US" sz="1200" dirty="0">
                <a:solidFill>
                  <a:srgbClr val="6E7480"/>
                </a:solidFill>
                <a:latin typeface="Calibri" pitchFamily="34" charset="0"/>
                <a:ea typeface="Calibri" pitchFamily="34" charset="-122"/>
                <a:cs typeface="Calibri" pitchFamily="34" charset="-120"/>
              </a:rPr>
              <a:t>95%+ of queries answered under 2 seconds</a:t>
            </a:r>
            <a:endParaRPr lang="en-US" sz="1200" dirty="0"/>
          </a:p>
        </p:txBody>
      </p:sp>
      <p:sp>
        <p:nvSpPr>
          <p:cNvPr id="26" name="Shape 24"/>
          <p:cNvSpPr/>
          <p:nvPr/>
        </p:nvSpPr>
        <p:spPr>
          <a:xfrm>
            <a:off x="5943600" y="4178808"/>
            <a:ext cx="146304" cy="146304"/>
          </a:xfrm>
          <a:prstGeom prst="ellipse">
            <a:avLst/>
          </a:prstGeom>
          <a:solidFill>
            <a:srgbClr val="1F6F6B"/>
          </a:solidFill>
          <a:ln/>
        </p:spPr>
      </p:sp>
      <p:sp>
        <p:nvSpPr>
          <p:cNvPr id="27" name="Text 25"/>
          <p:cNvSpPr txBox="1"/>
          <p:nvPr/>
        </p:nvSpPr>
        <p:spPr>
          <a:xfrm>
            <a:off x="6236208" y="4059936"/>
            <a:ext cx="2286000" cy="365760"/>
          </a:xfrm>
          <a:prstGeom prst="rect">
            <a:avLst/>
          </a:prstGeom>
          <a:noFill/>
          <a:ln/>
        </p:spPr>
        <p:txBody>
          <a:bodyPr wrap="square" lIns="0" tIns="0" rIns="0" bIns="0" rtlCol="0" anchor="ctr"/>
          <a:lstStyle/>
          <a:p>
            <a:pPr indent="0" marL="0">
              <a:buNone/>
            </a:pPr>
            <a:r>
              <a:rPr lang="en-US" sz="1250" b="1" dirty="0">
                <a:solidFill>
                  <a:srgbClr val="15181E"/>
                </a:solidFill>
                <a:latin typeface="Calibri" pitchFamily="34" charset="0"/>
                <a:ea typeface="Calibri" pitchFamily="34" charset="-122"/>
                <a:cs typeface="Calibri" pitchFamily="34" charset="-120"/>
              </a:rPr>
              <a:t>Elastic</a:t>
            </a:r>
            <a:endParaRPr lang="en-US" sz="1250" dirty="0"/>
          </a:p>
        </p:txBody>
      </p:sp>
      <p:sp>
        <p:nvSpPr>
          <p:cNvPr id="28" name="Text 26"/>
          <p:cNvSpPr txBox="1"/>
          <p:nvPr/>
        </p:nvSpPr>
        <p:spPr>
          <a:xfrm>
            <a:off x="8595360" y="4059936"/>
            <a:ext cx="3044952" cy="365760"/>
          </a:xfrm>
          <a:prstGeom prst="rect">
            <a:avLst/>
          </a:prstGeom>
          <a:noFill/>
          <a:ln/>
        </p:spPr>
        <p:txBody>
          <a:bodyPr wrap="square" lIns="0" tIns="0" rIns="0" bIns="0" rtlCol="0" anchor="ctr"/>
          <a:lstStyle/>
          <a:p>
            <a:pPr indent="0" marL="0">
              <a:buNone/>
            </a:pPr>
            <a:r>
              <a:rPr lang="en-US" sz="1200" dirty="0">
                <a:solidFill>
                  <a:srgbClr val="6E7480"/>
                </a:solidFill>
                <a:latin typeface="Calibri" pitchFamily="34" charset="0"/>
                <a:ea typeface="Calibri" pitchFamily="34" charset="-122"/>
                <a:cs typeface="Calibri" pitchFamily="34" charset="-120"/>
              </a:rPr>
              <a:t>no adoption figures published at all</a:t>
            </a:r>
            <a:endParaRPr lang="en-US" sz="1200" dirty="0"/>
          </a:p>
        </p:txBody>
      </p:sp>
      <p:sp>
        <p:nvSpPr>
          <p:cNvPr id="29" name="Shape 27"/>
          <p:cNvSpPr/>
          <p:nvPr/>
        </p:nvSpPr>
        <p:spPr>
          <a:xfrm>
            <a:off x="5943600" y="4654296"/>
            <a:ext cx="146304" cy="146304"/>
          </a:xfrm>
          <a:prstGeom prst="ellipse">
            <a:avLst/>
          </a:prstGeom>
          <a:solidFill>
            <a:srgbClr val="C0761A"/>
          </a:solidFill>
          <a:ln/>
        </p:spPr>
      </p:sp>
      <p:sp>
        <p:nvSpPr>
          <p:cNvPr id="30" name="Text 28"/>
          <p:cNvSpPr txBox="1"/>
          <p:nvPr/>
        </p:nvSpPr>
        <p:spPr>
          <a:xfrm>
            <a:off x="6236208" y="4535424"/>
            <a:ext cx="2286000" cy="365760"/>
          </a:xfrm>
          <a:prstGeom prst="rect">
            <a:avLst/>
          </a:prstGeom>
          <a:noFill/>
          <a:ln/>
        </p:spPr>
        <p:txBody>
          <a:bodyPr wrap="square" lIns="0" tIns="0" rIns="0" bIns="0" rtlCol="0" anchor="ctr"/>
          <a:lstStyle/>
          <a:p>
            <a:pPr indent="0" marL="0">
              <a:buNone/>
            </a:pPr>
            <a:r>
              <a:rPr lang="en-US" sz="1250" b="1" dirty="0">
                <a:solidFill>
                  <a:srgbClr val="15181E"/>
                </a:solidFill>
                <a:latin typeface="Calibri" pitchFamily="34" charset="0"/>
                <a:ea typeface="Calibri" pitchFamily="34" charset="-122"/>
                <a:cs typeface="Calibri" pitchFamily="34" charset="-120"/>
              </a:rPr>
              <a:t>Morgan Stanley</a:t>
            </a:r>
            <a:endParaRPr lang="en-US" sz="1250" dirty="0"/>
          </a:p>
        </p:txBody>
      </p:sp>
      <p:sp>
        <p:nvSpPr>
          <p:cNvPr id="31" name="Text 29"/>
          <p:cNvSpPr txBox="1"/>
          <p:nvPr/>
        </p:nvSpPr>
        <p:spPr>
          <a:xfrm>
            <a:off x="8595360" y="4535424"/>
            <a:ext cx="3044952" cy="365760"/>
          </a:xfrm>
          <a:prstGeom prst="rect">
            <a:avLst/>
          </a:prstGeom>
          <a:noFill/>
          <a:ln/>
        </p:spPr>
        <p:txBody>
          <a:bodyPr wrap="square" lIns="0" tIns="0" rIns="0" bIns="0" rtlCol="0" anchor="ctr"/>
          <a:lstStyle/>
          <a:p>
            <a:pPr indent="0" marL="0">
              <a:buNone/>
            </a:pPr>
            <a:r>
              <a:rPr lang="en-US" sz="1200" dirty="0">
                <a:solidFill>
                  <a:srgbClr val="6E7480"/>
                </a:solidFill>
                <a:latin typeface="Calibri" pitchFamily="34" charset="0"/>
                <a:ea typeface="Calibri" pitchFamily="34" charset="-122"/>
                <a:cs typeface="Calibri" pitchFamily="34" charset="-120"/>
              </a:rPr>
              <a:t>&gt;98% of advisor teams active (Assistant)</a:t>
            </a:r>
            <a:endParaRPr lang="en-US" sz="1200" dirty="0"/>
          </a:p>
        </p:txBody>
      </p:sp>
      <p:sp>
        <p:nvSpPr>
          <p:cNvPr id="32" name="Shape 30"/>
          <p:cNvSpPr/>
          <p:nvPr/>
        </p:nvSpPr>
        <p:spPr>
          <a:xfrm>
            <a:off x="5943600" y="5129784"/>
            <a:ext cx="146304" cy="146304"/>
          </a:xfrm>
          <a:prstGeom prst="ellipse">
            <a:avLst/>
          </a:prstGeom>
          <a:solidFill>
            <a:srgbClr val="8E3350"/>
          </a:solidFill>
          <a:ln/>
        </p:spPr>
      </p:sp>
      <p:sp>
        <p:nvSpPr>
          <p:cNvPr id="33" name="Text 31"/>
          <p:cNvSpPr txBox="1"/>
          <p:nvPr/>
        </p:nvSpPr>
        <p:spPr>
          <a:xfrm>
            <a:off x="6236208" y="5010912"/>
            <a:ext cx="2286000" cy="365760"/>
          </a:xfrm>
          <a:prstGeom prst="rect">
            <a:avLst/>
          </a:prstGeom>
          <a:noFill/>
          <a:ln/>
        </p:spPr>
        <p:txBody>
          <a:bodyPr wrap="square" lIns="0" tIns="0" rIns="0" bIns="0" rtlCol="0" anchor="ctr"/>
          <a:lstStyle/>
          <a:p>
            <a:pPr indent="0" marL="0">
              <a:buNone/>
            </a:pPr>
            <a:r>
              <a:rPr lang="en-US" sz="1250" b="1" dirty="0">
                <a:solidFill>
                  <a:srgbClr val="15181E"/>
                </a:solidFill>
                <a:latin typeface="Calibri" pitchFamily="34" charset="0"/>
                <a:ea typeface="Calibri" pitchFamily="34" charset="-122"/>
                <a:cs typeface="Calibri" pitchFamily="34" charset="-120"/>
              </a:rPr>
              <a:t>JPMorgan Chase</a:t>
            </a:r>
            <a:endParaRPr lang="en-US" sz="1250" dirty="0"/>
          </a:p>
        </p:txBody>
      </p:sp>
      <p:sp>
        <p:nvSpPr>
          <p:cNvPr id="34" name="Text 32"/>
          <p:cNvSpPr txBox="1"/>
          <p:nvPr/>
        </p:nvSpPr>
        <p:spPr>
          <a:xfrm>
            <a:off x="8595360" y="5010912"/>
            <a:ext cx="3044952" cy="365760"/>
          </a:xfrm>
          <a:prstGeom prst="rect">
            <a:avLst/>
          </a:prstGeom>
          <a:noFill/>
          <a:ln/>
        </p:spPr>
        <p:txBody>
          <a:bodyPr wrap="square" lIns="0" tIns="0" rIns="0" bIns="0" rtlCol="0" anchor="ctr"/>
          <a:lstStyle/>
          <a:p>
            <a:pPr indent="0" marL="0">
              <a:buNone/>
            </a:pPr>
            <a:r>
              <a:rPr lang="en-US" sz="1200" dirty="0">
                <a:solidFill>
                  <a:srgbClr val="6E7480"/>
                </a:solidFill>
                <a:latin typeface="Calibri" pitchFamily="34" charset="0"/>
                <a:ea typeface="Calibri" pitchFamily="34" charset="-122"/>
                <a:cs typeface="Calibri" pitchFamily="34" charset="-120"/>
              </a:rPr>
              <a:t>140,000+ users (trade press only)</a:t>
            </a:r>
            <a:endParaRPr lang="en-US" sz="1200" dirty="0"/>
          </a:p>
        </p:txBody>
      </p:sp>
      <p:sp>
        <p:nvSpPr>
          <p:cNvPr id="35" name="Text 33"/>
          <p:cNvSpPr txBox="1"/>
          <p:nvPr/>
        </p:nvSpPr>
        <p:spPr>
          <a:xfrm>
            <a:off x="548640" y="5669280"/>
            <a:ext cx="11091672" cy="731520"/>
          </a:xfrm>
          <a:prstGeom prst="rect">
            <a:avLst/>
          </a:prstGeom>
          <a:noFill/>
          <a:ln/>
        </p:spPr>
        <p:txBody>
          <a:bodyPr wrap="square" lIns="0" tIns="0" rIns="0" bIns="0" rtlCol="0" anchor="t"/>
          <a:lstStyle/>
          <a:p>
            <a:pPr indent="0" marL="0">
              <a:lnSpc>
                <a:spcPct val="115000"/>
              </a:lnSpc>
              <a:buNone/>
            </a:pPr>
            <a:r>
              <a:rPr lang="en-US" sz="1150" dirty="0">
                <a:solidFill>
                  <a:srgbClr val="6E7480"/>
                </a:solidFill>
                <a:latin typeface="Calibri" pitchFamily="34" charset="0"/>
                <a:ea typeface="Calibri" pitchFamily="34" charset="-122"/>
                <a:cs typeface="Calibri" pitchFamily="34" charset="-120"/>
              </a:rPr>
              <a:t>Dot colour marks the source tier, matching slide 2. Deliberately not a chart: the units genuinely do not compare, and forcing them onto one axis would misrepresent how differently each company chose to measure itself.</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9184"/>
            <a:ext cx="8229600" cy="502920"/>
          </a:xfrm>
          <a:prstGeom prst="rect">
            <a:avLst/>
          </a:prstGeom>
          <a:noFill/>
          <a:ln/>
        </p:spPr>
        <p:txBody>
          <a:bodyPr wrap="square" lIns="0" tIns="0" rIns="0" bIns="0" rtlCol="0" anchor="ctr"/>
          <a:lstStyle/>
          <a:p>
            <a:pPr indent="0" marL="0">
              <a:buNone/>
            </a:pPr>
            <a:r>
              <a:rPr lang="en-US" sz="2900" b="1" dirty="0">
                <a:solidFill>
                  <a:srgbClr val="15181E"/>
                </a:solidFill>
                <a:latin typeface="Cambria" pitchFamily="34" charset="0"/>
                <a:ea typeface="Cambria" pitchFamily="34" charset="-122"/>
                <a:cs typeface="Cambria" pitchFamily="34" charset="-120"/>
              </a:rPr>
              <a:t>The eight, side by side</a:t>
            </a:r>
            <a:endParaRPr lang="en-US" sz="2900" dirty="0"/>
          </a:p>
        </p:txBody>
      </p:sp>
      <p:sp>
        <p:nvSpPr>
          <p:cNvPr id="3" name="Text 1"/>
          <p:cNvSpPr txBox="1"/>
          <p:nvPr/>
        </p:nvSpPr>
        <p:spPr>
          <a:xfrm>
            <a:off x="548640" y="896112"/>
            <a:ext cx="10515600" cy="329184"/>
          </a:xfrm>
          <a:prstGeom prst="rect">
            <a:avLst/>
          </a:prstGeom>
          <a:noFill/>
          <a:ln/>
        </p:spPr>
        <p:txBody>
          <a:bodyPr wrap="square" lIns="0" tIns="0" rIns="0" bIns="0" rtlCol="0" anchor="ctr"/>
          <a:lstStyle/>
          <a:p>
            <a:pPr indent="0" marL="0">
              <a:buNone/>
            </a:pPr>
            <a:r>
              <a:rPr lang="en-US" sz="1450" dirty="0">
                <a:solidFill>
                  <a:srgbClr val="232833"/>
                </a:solidFill>
                <a:latin typeface="Calibri" pitchFamily="34" charset="0"/>
                <a:ea typeface="Calibri" pitchFamily="34" charset="-122"/>
                <a:cs typeface="Calibri" pitchFamily="34" charset="-120"/>
              </a:rPr>
              <a:t>Everything converges except the two right-hand columns, and those two carry the rest of the deck.</a:t>
            </a:r>
            <a:endParaRPr lang="en-US" sz="14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914400"/>
        </p:xfrm>
        <a:graphic>
          <a:graphicData uri="http://schemas.openxmlformats.org/drawingml/2006/table">
            <a:tbl>
              <a:tblPr/>
              <a:tblGrid>
                <a:gridCol w="1600200"/>
                <a:gridCol w="2606040"/>
                <a:gridCol w="2286000"/>
                <a:gridCol w="2377440"/>
                <a:gridCol w="2221992"/>
              </a:tblGrid>
              <a:tr h="566928">
                <a:tc>
                  <a:txBody>
                    <a:bodyPr/>
                    <a:lstStyle/>
                    <a:p>
                      <a:pPr algn="l" indent="0" marL="0">
                        <a:buNone/>
                      </a:pPr>
                      <a:endParaRPr lang="en-US" sz="1050" dirty="0">
                        <a:latin typeface="Calibri" charset="0"/>
                        <a:ea typeface="Calibri" charset="0"/>
                        <a:cs typeface="Calibri" charset="0"/>
                      </a:endParaRPr>
                    </a:p>
                  </a:txBody>
                  <a:tcPr marL="101600" marR="101600" marT="63500" marB="6350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15181E"/>
                    </a:solidFill>
                  </a:tcPr>
                </a:tc>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Retrieval shape</a:t>
                      </a:r>
                      <a:endParaRPr lang="en-US" sz="1050" dirty="0">
                        <a:latin typeface="Calibri" charset="0"/>
                        <a:ea typeface="Calibri" charset="0"/>
                        <a:cs typeface="Calibri" charset="0"/>
                      </a:endParaRPr>
                    </a:p>
                  </a:txBody>
                  <a:tcPr marL="101600" marR="101600" marT="63500" marB="6350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15181E"/>
                    </a:solidFill>
                  </a:tcPr>
                </a:tc>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Governing idea</a:t>
                      </a:r>
                      <a:endParaRPr lang="en-US" sz="1050" dirty="0">
                        <a:latin typeface="Calibri" charset="0"/>
                        <a:ea typeface="Calibri" charset="0"/>
                        <a:cs typeface="Calibri" charset="0"/>
                      </a:endParaRPr>
                    </a:p>
                  </a:txBody>
                  <a:tcPr marL="101600" marR="101600" marT="63500" marB="6350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15181E"/>
                    </a:solidFill>
                  </a:tcPr>
                </a:tc>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Human gate</a:t>
                      </a:r>
                      <a:endParaRPr lang="en-US" sz="1050" dirty="0">
                        <a:latin typeface="Calibri" charset="0"/>
                        <a:ea typeface="Calibri" charset="0"/>
                        <a:cs typeface="Calibri" charset="0"/>
                      </a:endParaRPr>
                    </a:p>
                  </a:txBody>
                  <a:tcPr marL="101600" marR="101600" marT="63500" marB="6350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15181E"/>
                    </a:solidFill>
                  </a:tcPr>
                </a:tc>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Kept fresh by</a:t>
                      </a:r>
                      <a:endParaRPr lang="en-US" sz="1050" dirty="0">
                        <a:latin typeface="Calibri" charset="0"/>
                        <a:ea typeface="Calibri" charset="0"/>
                        <a:cs typeface="Calibri" charset="0"/>
                      </a:endParaRPr>
                    </a:p>
                  </a:txBody>
                  <a:tcPr marL="101600" marR="101600" marT="63500" marB="6350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15181E"/>
                    </a:solidFill>
                  </a:tcPr>
                </a:tc>
              </a:tr>
              <a:tr h="566928">
                <a:tc>
                  <a:txBody>
                    <a:bodyPr/>
                    <a:lstStyle/>
                    <a:p>
                      <a:pPr indent="0" marL="0">
                        <a:buNone/>
                      </a:pPr>
                      <a:r>
                        <a:rPr lang="en-US" sz="1050" b="1" dirty="0">
                          <a:solidFill>
                            <a:srgbClr val="15181E"/>
                          </a:solidFill>
                          <a:latin typeface="Calibri" pitchFamily="34" charset="0"/>
                          <a:ea typeface="Calibri" pitchFamily="34" charset="-122"/>
                          <a:cs typeface="Calibri" pitchFamily="34" charset="-120"/>
                        </a:rPr>
                        <a:t>Cerebras</a:t>
                      </a:r>
                      <a:endParaRPr lang="en-US" sz="1050" dirty="0">
                        <a:latin typeface="Calibri" charset="0"/>
                        <a:ea typeface="Calibri" charset="0"/>
                        <a:cs typeface="Calibri" charset="0"/>
                      </a:endParaRPr>
                    </a:p>
                  </a:txBody>
                  <a:tcPr marL="101600" marR="101600" marT="63500" marB="6350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indent="0" marL="0">
                        <a:buNone/>
                      </a:pPr>
                      <a:r>
                        <a:rPr lang="en-US" sz="1000" dirty="0">
                          <a:solidFill>
                            <a:srgbClr val="232833"/>
                          </a:solidFill>
                          <a:latin typeface="Calibri" pitchFamily="34" charset="0"/>
                          <a:ea typeface="Calibri" pitchFamily="34" charset="-122"/>
                          <a:cs typeface="Calibri" pitchFamily="34" charset="-120"/>
                        </a:rPr>
                        <a:t>One Postgres table, four-signal fusion</a:t>
                      </a:r>
                      <a:endParaRPr lang="en-US" sz="1000" dirty="0">
                        <a:latin typeface="Calibri" charset="0"/>
                        <a:ea typeface="Calibri" charset="0"/>
                        <a:cs typeface="Calibri" charset="0"/>
                      </a:endParaRPr>
                    </a:p>
                  </a:txBody>
                  <a:tcPr marL="101600" marR="101600" marT="63500" marB="6350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indent="0" marL="0">
                        <a:buNone/>
                      </a:pPr>
                      <a:r>
                        <a:rPr lang="en-US" sz="1000" dirty="0">
                          <a:solidFill>
                            <a:srgbClr val="232833"/>
                          </a:solidFill>
                          <a:latin typeface="Calibri" pitchFamily="34" charset="0"/>
                          <a:ea typeface="Calibri" pitchFamily="34" charset="-122"/>
                          <a:cs typeface="Calibri" pitchFamily="34" charset="-120"/>
                        </a:rPr>
                        <a:t>Meet data where it lives</a:t>
                      </a:r>
                      <a:endParaRPr lang="en-US" sz="1000" dirty="0">
                        <a:latin typeface="Calibri" charset="0"/>
                        <a:ea typeface="Calibri" charset="0"/>
                        <a:cs typeface="Calibri" charset="0"/>
                      </a:endParaRPr>
                    </a:p>
                  </a:txBody>
                  <a:tcPr marL="101600" marR="101600" marT="63500" marB="6350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indent="0" marL="0">
                        <a:buNone/>
                      </a:pPr>
                      <a:r>
                        <a:rPr lang="en-US" sz="1000" dirty="0">
                          <a:solidFill>
                            <a:srgbClr val="232833"/>
                          </a:solidFill>
                          <a:latin typeface="Calibri" pitchFamily="34" charset="0"/>
                          <a:ea typeface="Calibri" pitchFamily="34" charset="-122"/>
                          <a:cs typeface="Calibri" pitchFamily="34" charset="-120"/>
                        </a:rPr>
                        <a:t>None. Engineers self-verify</a:t>
                      </a:r>
                      <a:endParaRPr lang="en-US" sz="1000" dirty="0">
                        <a:latin typeface="Calibri" charset="0"/>
                        <a:ea typeface="Calibri" charset="0"/>
                        <a:cs typeface="Calibri" charset="0"/>
                      </a:endParaRPr>
                    </a:p>
                  </a:txBody>
                  <a:tcPr marL="101600" marR="101600" marT="63500" marB="6350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indent="0" marL="0">
                        <a:buNone/>
                      </a:pPr>
                      <a:r>
                        <a:rPr lang="en-US" sz="1000" dirty="0">
                          <a:solidFill>
                            <a:srgbClr val="232833"/>
                          </a:solidFill>
                          <a:latin typeface="Calibri" pitchFamily="34" charset="0"/>
                          <a:ea typeface="Calibri" pitchFamily="34" charset="-122"/>
                          <a:cs typeface="Calibri" pitchFamily="34" charset="-120"/>
                        </a:rPr>
                        <a:t>Differential sync, per-channel</a:t>
                      </a:r>
                      <a:endParaRPr lang="en-US" sz="1000" dirty="0">
                        <a:latin typeface="Calibri" charset="0"/>
                        <a:ea typeface="Calibri" charset="0"/>
                        <a:cs typeface="Calibri" charset="0"/>
                      </a:endParaRPr>
                    </a:p>
                  </a:txBody>
                  <a:tcPr marL="101600" marR="101600" marT="63500" marB="6350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r>
              <a:tr h="566928">
                <a:tc>
                  <a:txBody>
                    <a:bodyPr/>
                    <a:lstStyle/>
                    <a:p>
                      <a:pPr indent="0" marL="0">
                        <a:buNone/>
                      </a:pPr>
                      <a:r>
                        <a:rPr lang="en-US" sz="1050" b="1" dirty="0">
                          <a:solidFill>
                            <a:srgbClr val="15181E"/>
                          </a:solidFill>
                          <a:latin typeface="Calibri" pitchFamily="34" charset="0"/>
                          <a:ea typeface="Calibri" pitchFamily="34" charset="-122"/>
                          <a:cs typeface="Calibri" pitchFamily="34" charset="-120"/>
                        </a:rPr>
                        <a:t>Stripe</a:t>
                      </a:r>
                      <a:endParaRPr lang="en-US" sz="1050" dirty="0">
                        <a:latin typeface="Calibri" charset="0"/>
                        <a:ea typeface="Calibri" charset="0"/>
                        <a:cs typeface="Calibri" charset="0"/>
                      </a:endParaRPr>
                    </a:p>
                  </a:txBody>
                  <a:tcPr marL="101600" marR="101600" marT="63500" marB="6350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2F2EF"/>
                    </a:solidFill>
                  </a:tcPr>
                </a:tc>
                <a:tc>
                  <a:txBody>
                    <a:bodyPr/>
                    <a:lstStyle/>
                    <a:p>
                      <a:pPr indent="0" marL="0">
                        <a:buNone/>
                      </a:pPr>
                      <a:r>
                        <a:rPr lang="en-US" sz="1000" dirty="0">
                          <a:solidFill>
                            <a:srgbClr val="232833"/>
                          </a:solidFill>
                          <a:latin typeface="Calibri" pitchFamily="34" charset="0"/>
                          <a:ea typeface="Calibri" pitchFamily="34" charset="-122"/>
                          <a:cs typeface="Calibri" pitchFamily="34" charset="-120"/>
                        </a:rPr>
                        <a:t>Sandboxed agents over 1,000+ skills</a:t>
                      </a:r>
                      <a:endParaRPr lang="en-US" sz="1000" dirty="0">
                        <a:latin typeface="Calibri" charset="0"/>
                        <a:ea typeface="Calibri" charset="0"/>
                        <a:cs typeface="Calibri" charset="0"/>
                      </a:endParaRPr>
                    </a:p>
                  </a:txBody>
                  <a:tcPr marL="101600" marR="101600" marT="63500" marB="6350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2F2EF"/>
                    </a:solidFill>
                  </a:tcPr>
                </a:tc>
                <a:tc>
                  <a:txBody>
                    <a:bodyPr/>
                    <a:lstStyle/>
                    <a:p>
                      <a:pPr indent="0" marL="0">
                        <a:buNone/>
                      </a:pPr>
                      <a:r>
                        <a:rPr lang="en-US" sz="1000" dirty="0">
                          <a:solidFill>
                            <a:srgbClr val="232833"/>
                          </a:solidFill>
                          <a:latin typeface="Calibri" pitchFamily="34" charset="0"/>
                          <a:ea typeface="Calibri" pitchFamily="34" charset="-122"/>
                          <a:cs typeface="Calibri" pitchFamily="34" charset="-120"/>
                        </a:rPr>
                        <a:t>Distributed expertise</a:t>
                      </a:r>
                      <a:endParaRPr lang="en-US" sz="1000" dirty="0">
                        <a:latin typeface="Calibri" charset="0"/>
                        <a:ea typeface="Calibri" charset="0"/>
                        <a:cs typeface="Calibri" charset="0"/>
                      </a:endParaRPr>
                    </a:p>
                  </a:txBody>
                  <a:tcPr marL="101600" marR="101600" marT="63500" marB="6350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2F2EF"/>
                    </a:solidFill>
                  </a:tcPr>
                </a:tc>
                <a:tc>
                  <a:txBody>
                    <a:bodyPr/>
                    <a:lstStyle/>
                    <a:p>
                      <a:pPr indent="0" marL="0">
                        <a:buNone/>
                      </a:pPr>
                      <a:r>
                        <a:rPr lang="en-US" sz="1000" dirty="0">
                          <a:solidFill>
                            <a:srgbClr val="232833"/>
                          </a:solidFill>
                          <a:latin typeface="Calibri" pitchFamily="34" charset="0"/>
                          <a:ea typeface="Calibri" pitchFamily="34" charset="-122"/>
                          <a:cs typeface="Calibri" pitchFamily="34" charset="-120"/>
                        </a:rPr>
                        <a:t>Guardrails, not review</a:t>
                      </a:r>
                      <a:endParaRPr lang="en-US" sz="1000" dirty="0">
                        <a:latin typeface="Calibri" charset="0"/>
                        <a:ea typeface="Calibri" charset="0"/>
                        <a:cs typeface="Calibri" charset="0"/>
                      </a:endParaRPr>
                    </a:p>
                  </a:txBody>
                  <a:tcPr marL="101600" marR="101600" marT="63500" marB="6350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2F2EF"/>
                    </a:solidFill>
                  </a:tcPr>
                </a:tc>
                <a:tc>
                  <a:txBody>
                    <a:bodyPr/>
                    <a:lstStyle/>
                    <a:p>
                      <a:pPr indent="0" marL="0">
                        <a:buNone/>
                      </a:pPr>
                      <a:r>
                        <a:rPr lang="en-US" sz="1000" dirty="0">
                          <a:solidFill>
                            <a:srgbClr val="232833"/>
                          </a:solidFill>
                          <a:latin typeface="Calibri" pitchFamily="34" charset="0"/>
                          <a:ea typeface="Calibri" pitchFamily="34" charset="-122"/>
                          <a:cs typeface="Calibri" pitchFamily="34" charset="-120"/>
                        </a:rPr>
                        <a:t>Domain teams tune in AgentStudio</a:t>
                      </a:r>
                      <a:endParaRPr lang="en-US" sz="1000" dirty="0">
                        <a:latin typeface="Calibri" charset="0"/>
                        <a:ea typeface="Calibri" charset="0"/>
                        <a:cs typeface="Calibri" charset="0"/>
                      </a:endParaRPr>
                    </a:p>
                  </a:txBody>
                  <a:tcPr marL="101600" marR="101600" marT="63500" marB="6350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2F2EF"/>
                    </a:solidFill>
                  </a:tcPr>
                </a:tc>
              </a:tr>
              <a:tr h="566928">
                <a:tc>
                  <a:txBody>
                    <a:bodyPr/>
                    <a:lstStyle/>
                    <a:p>
                      <a:pPr indent="0" marL="0">
                        <a:buNone/>
                      </a:pPr>
                      <a:r>
                        <a:rPr lang="en-US" sz="1050" b="1" dirty="0">
                          <a:solidFill>
                            <a:srgbClr val="15181E"/>
                          </a:solidFill>
                          <a:latin typeface="Calibri" pitchFamily="34" charset="0"/>
                          <a:ea typeface="Calibri" pitchFamily="34" charset="-122"/>
                          <a:cs typeface="Calibri" pitchFamily="34" charset="-120"/>
                        </a:rPr>
                        <a:t>Uber</a:t>
                      </a:r>
                      <a:endParaRPr lang="en-US" sz="1050" dirty="0">
                        <a:latin typeface="Calibri" charset="0"/>
                        <a:ea typeface="Calibri" charset="0"/>
                        <a:cs typeface="Calibri" charset="0"/>
                      </a:endParaRPr>
                    </a:p>
                  </a:txBody>
                  <a:tcPr marL="101600" marR="101600" marT="63500" marB="6350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indent="0" marL="0">
                        <a:buNone/>
                      </a:pPr>
                      <a:r>
                        <a:rPr lang="en-US" sz="1000" dirty="0">
                          <a:solidFill>
                            <a:srgbClr val="232833"/>
                          </a:solidFill>
                          <a:latin typeface="Calibri" pitchFamily="34" charset="0"/>
                          <a:ea typeface="Calibri" pitchFamily="34" charset="-122"/>
                          <a:cs typeface="Calibri" pitchFamily="34" charset="-120"/>
                        </a:rPr>
                        <a:t>RAG over wiki and Stack Overflow</a:t>
                      </a:r>
                      <a:endParaRPr lang="en-US" sz="1000" dirty="0">
                        <a:latin typeface="Calibri" charset="0"/>
                        <a:ea typeface="Calibri" charset="0"/>
                        <a:cs typeface="Calibri" charset="0"/>
                      </a:endParaRPr>
                    </a:p>
                  </a:txBody>
                  <a:tcPr marL="101600" marR="101600" marT="63500" marB="6350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indent="0" marL="0">
                        <a:buNone/>
                      </a:pPr>
                      <a:r>
                        <a:rPr lang="en-US" sz="1000" dirty="0">
                          <a:solidFill>
                            <a:srgbClr val="232833"/>
                          </a:solidFill>
                          <a:latin typeface="Calibri" pitchFamily="34" charset="0"/>
                          <a:ea typeface="Calibri" pitchFamily="34" charset="-122"/>
                          <a:cs typeface="Calibri" pitchFamily="34" charset="-120"/>
                        </a:rPr>
                        <a:t>Answer only from context</a:t>
                      </a:r>
                      <a:endParaRPr lang="en-US" sz="1000" dirty="0">
                        <a:latin typeface="Calibri" charset="0"/>
                        <a:ea typeface="Calibri" charset="0"/>
                        <a:cs typeface="Calibri" charset="0"/>
                      </a:endParaRPr>
                    </a:p>
                  </a:txBody>
                  <a:tcPr marL="101600" marR="101600" marT="63500" marB="6350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indent="0" marL="0">
                        <a:buNone/>
                      </a:pPr>
                      <a:r>
                        <a:rPr lang="en-US" sz="1000" dirty="0">
                          <a:solidFill>
                            <a:srgbClr val="232833"/>
                          </a:solidFill>
                          <a:latin typeface="Calibri" pitchFamily="34" charset="0"/>
                          <a:ea typeface="Calibri" pitchFamily="34" charset="-122"/>
                          <a:cs typeface="Calibri" pitchFamily="34" charset="-120"/>
                        </a:rPr>
                        <a:t>Escalate button on every answer</a:t>
                      </a:r>
                      <a:endParaRPr lang="en-US" sz="1000" dirty="0">
                        <a:latin typeface="Calibri" charset="0"/>
                        <a:ea typeface="Calibri" charset="0"/>
                        <a:cs typeface="Calibri" charset="0"/>
                      </a:endParaRPr>
                    </a:p>
                  </a:txBody>
                  <a:tcPr marL="101600" marR="101600" marT="63500" marB="6350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indent="0" marL="0">
                        <a:buNone/>
                      </a:pPr>
                      <a:r>
                        <a:rPr lang="en-US" sz="1000" dirty="0">
                          <a:solidFill>
                            <a:srgbClr val="232833"/>
                          </a:solidFill>
                          <a:latin typeface="Calibri" pitchFamily="34" charset="0"/>
                          <a:ea typeface="Calibri" pitchFamily="34" charset="-122"/>
                          <a:cs typeface="Calibri" pitchFamily="34" charset="-120"/>
                        </a:rPr>
                        <a:t>Spark ETL, LLM-as-judge on docs</a:t>
                      </a:r>
                      <a:endParaRPr lang="en-US" sz="1000" dirty="0">
                        <a:latin typeface="Calibri" charset="0"/>
                        <a:ea typeface="Calibri" charset="0"/>
                        <a:cs typeface="Calibri" charset="0"/>
                      </a:endParaRPr>
                    </a:p>
                  </a:txBody>
                  <a:tcPr marL="101600" marR="101600" marT="63500" marB="6350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r>
              <a:tr h="566928">
                <a:tc>
                  <a:txBody>
                    <a:bodyPr/>
                    <a:lstStyle/>
                    <a:p>
                      <a:pPr indent="0" marL="0">
                        <a:buNone/>
                      </a:pPr>
                      <a:r>
                        <a:rPr lang="en-US" sz="1050" b="1" dirty="0">
                          <a:solidFill>
                            <a:srgbClr val="15181E"/>
                          </a:solidFill>
                          <a:latin typeface="Calibri" pitchFamily="34" charset="0"/>
                          <a:ea typeface="Calibri" pitchFamily="34" charset="-122"/>
                          <a:cs typeface="Calibri" pitchFamily="34" charset="-120"/>
                        </a:rPr>
                        <a:t>Slack</a:t>
                      </a:r>
                      <a:endParaRPr lang="en-US" sz="1050" dirty="0">
                        <a:latin typeface="Calibri" charset="0"/>
                        <a:ea typeface="Calibri" charset="0"/>
                        <a:cs typeface="Calibri" charset="0"/>
                      </a:endParaRPr>
                    </a:p>
                  </a:txBody>
                  <a:tcPr marL="101600" marR="101600" marT="63500" marB="6350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2F2EF"/>
                    </a:solidFill>
                  </a:tcPr>
                </a:tc>
                <a:tc>
                  <a:txBody>
                    <a:bodyPr/>
                    <a:lstStyle/>
                    <a:p>
                      <a:pPr indent="0" marL="0">
                        <a:buNone/>
                      </a:pPr>
                      <a:r>
                        <a:rPr lang="en-US" sz="1000" dirty="0">
                          <a:solidFill>
                            <a:srgbClr val="232833"/>
                          </a:solidFill>
                          <a:latin typeface="Calibri" pitchFamily="34" charset="0"/>
                          <a:ea typeface="Calibri" pitchFamily="34" charset="-122"/>
                          <a:cs typeface="Calibri" pitchFamily="34" charset="-120"/>
                        </a:rPr>
                        <a:t>Bedrock, four surfaces, swappable models</a:t>
                      </a:r>
                      <a:endParaRPr lang="en-US" sz="1000" dirty="0">
                        <a:latin typeface="Calibri" charset="0"/>
                        <a:ea typeface="Calibri" charset="0"/>
                        <a:cs typeface="Calibri" charset="0"/>
                      </a:endParaRPr>
                    </a:p>
                  </a:txBody>
                  <a:tcPr marL="101600" marR="101600" marT="63500" marB="6350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2F2EF"/>
                    </a:solidFill>
                  </a:tcPr>
                </a:tc>
                <a:tc>
                  <a:txBody>
                    <a:bodyPr/>
                    <a:lstStyle/>
                    <a:p>
                      <a:pPr indent="0" marL="0">
                        <a:buNone/>
                      </a:pPr>
                      <a:r>
                        <a:rPr lang="en-US" sz="1000" dirty="0">
                          <a:solidFill>
                            <a:srgbClr val="232833"/>
                          </a:solidFill>
                          <a:latin typeface="Calibri" pitchFamily="34" charset="0"/>
                          <a:ea typeface="Calibri" pitchFamily="34" charset="-122"/>
                          <a:cs typeface="Calibri" pitchFamily="34" charset="-120"/>
                        </a:rPr>
                        <a:t>Capability against compliance</a:t>
                      </a:r>
                      <a:endParaRPr lang="en-US" sz="1000" dirty="0">
                        <a:latin typeface="Calibri" charset="0"/>
                        <a:ea typeface="Calibri" charset="0"/>
                        <a:cs typeface="Calibri" charset="0"/>
                      </a:endParaRPr>
                    </a:p>
                  </a:txBody>
                  <a:tcPr marL="101600" marR="101600" marT="63500" marB="6350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2F2EF"/>
                    </a:solidFill>
                  </a:tcPr>
                </a:tc>
                <a:tc>
                  <a:txBody>
                    <a:bodyPr/>
                    <a:lstStyle/>
                    <a:p>
                      <a:pPr indent="0" marL="0">
                        <a:buNone/>
                      </a:pPr>
                      <a:r>
                        <a:rPr lang="en-US" sz="1000" dirty="0">
                          <a:solidFill>
                            <a:srgbClr val="232833"/>
                          </a:solidFill>
                          <a:latin typeface="Calibri" pitchFamily="34" charset="0"/>
                          <a:ea typeface="Calibri" pitchFamily="34" charset="-122"/>
                          <a:cs typeface="Calibri" pitchFamily="34" charset="-120"/>
                        </a:rPr>
                        <a:t>Escalation bot routes to people</a:t>
                      </a:r>
                      <a:endParaRPr lang="en-US" sz="1000" dirty="0">
                        <a:latin typeface="Calibri" charset="0"/>
                        <a:ea typeface="Calibri" charset="0"/>
                        <a:cs typeface="Calibri" charset="0"/>
                      </a:endParaRPr>
                    </a:p>
                  </a:txBody>
                  <a:tcPr marL="101600" marR="101600" marT="63500" marB="6350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2F2EF"/>
                    </a:solidFill>
                  </a:tcPr>
                </a:tc>
                <a:tc>
                  <a:txBody>
                    <a:bodyPr/>
                    <a:lstStyle/>
                    <a:p>
                      <a:pPr indent="0" marL="0">
                        <a:buNone/>
                      </a:pPr>
                      <a:r>
                        <a:rPr lang="en-US" sz="1000" dirty="0">
                          <a:solidFill>
                            <a:srgbClr val="232833"/>
                          </a:solidFill>
                          <a:latin typeface="Calibri" pitchFamily="34" charset="0"/>
                          <a:ea typeface="Calibri" pitchFamily="34" charset="-122"/>
                          <a:cs typeface="Calibri" pitchFamily="34" charset="-120"/>
                        </a:rPr>
                        <a:t>Per-channel filters, thresholds</a:t>
                      </a:r>
                      <a:endParaRPr lang="en-US" sz="1000" dirty="0">
                        <a:latin typeface="Calibri" charset="0"/>
                        <a:ea typeface="Calibri" charset="0"/>
                        <a:cs typeface="Calibri" charset="0"/>
                      </a:endParaRPr>
                    </a:p>
                  </a:txBody>
                  <a:tcPr marL="101600" marR="101600" marT="63500" marB="6350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2F2EF"/>
                    </a:solidFill>
                  </a:tcPr>
                </a:tc>
              </a:tr>
              <a:tr h="566928">
                <a:tc>
                  <a:txBody>
                    <a:bodyPr/>
                    <a:lstStyle/>
                    <a:p>
                      <a:pPr indent="0" marL="0">
                        <a:buNone/>
                      </a:pPr>
                      <a:r>
                        <a:rPr lang="en-US" sz="1050" b="1" dirty="0">
                          <a:solidFill>
                            <a:srgbClr val="15181E"/>
                          </a:solidFill>
                          <a:latin typeface="Calibri" pitchFamily="34" charset="0"/>
                          <a:ea typeface="Calibri" pitchFamily="34" charset="-122"/>
                          <a:cs typeface="Calibri" pitchFamily="34" charset="-120"/>
                        </a:rPr>
                        <a:t>Dropbox</a:t>
                      </a:r>
                      <a:endParaRPr lang="en-US" sz="1050" dirty="0">
                        <a:latin typeface="Calibri" charset="0"/>
                        <a:ea typeface="Calibri" charset="0"/>
                        <a:cs typeface="Calibri" charset="0"/>
                      </a:endParaRPr>
                    </a:p>
                  </a:txBody>
                  <a:tcPr marL="101600" marR="101600" marT="63500" marB="6350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indent="0" marL="0">
                        <a:buNone/>
                      </a:pPr>
                      <a:r>
                        <a:rPr lang="en-US" sz="1000" dirty="0">
                          <a:solidFill>
                            <a:srgbClr val="232833"/>
                          </a:solidFill>
                          <a:latin typeface="Calibri" pitchFamily="34" charset="0"/>
                          <a:ea typeface="Calibri" pitchFamily="34" charset="-122"/>
                          <a:cs typeface="Calibri" pitchFamily="34" charset="-120"/>
                        </a:rPr>
                        <a:t>RAG tier, plus agents planning in code</a:t>
                      </a:r>
                      <a:endParaRPr lang="en-US" sz="1000" dirty="0">
                        <a:latin typeface="Calibri" charset="0"/>
                        <a:ea typeface="Calibri" charset="0"/>
                        <a:cs typeface="Calibri" charset="0"/>
                      </a:endParaRPr>
                    </a:p>
                  </a:txBody>
                  <a:tcPr marL="101600" marR="101600" marT="63500" marB="6350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indent="0" marL="0">
                        <a:buNone/>
                      </a:pPr>
                      <a:r>
                        <a:rPr lang="en-US" sz="1000" dirty="0">
                          <a:solidFill>
                            <a:srgbClr val="232833"/>
                          </a:solidFill>
                          <a:latin typeface="Calibri" pitchFamily="34" charset="0"/>
                          <a:ea typeface="Calibri" pitchFamily="34" charset="-122"/>
                          <a:cs typeface="Calibri" pitchFamily="34" charset="-120"/>
                        </a:rPr>
                        <a:t>Show the work</a:t>
                      </a:r>
                      <a:endParaRPr lang="en-US" sz="1000" dirty="0">
                        <a:latin typeface="Calibri" charset="0"/>
                        <a:ea typeface="Calibri" charset="0"/>
                        <a:cs typeface="Calibri" charset="0"/>
                      </a:endParaRPr>
                    </a:p>
                  </a:txBody>
                  <a:tcPr marL="101600" marR="101600" marT="63500" marB="6350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indent="0" marL="0">
                        <a:buNone/>
                      </a:pPr>
                      <a:r>
                        <a:rPr lang="en-US" sz="1000" dirty="0">
                          <a:solidFill>
                            <a:srgbClr val="232833"/>
                          </a:solidFill>
                          <a:latin typeface="Calibri" pitchFamily="34" charset="0"/>
                          <a:ea typeface="Calibri" pitchFamily="34" charset="-122"/>
                          <a:cs typeface="Calibri" pitchFamily="34" charset="-120"/>
                        </a:rPr>
                        <a:t>None. Inspectability replaces it</a:t>
                      </a:r>
                      <a:endParaRPr lang="en-US" sz="1000" dirty="0">
                        <a:latin typeface="Calibri" charset="0"/>
                        <a:ea typeface="Calibri" charset="0"/>
                        <a:cs typeface="Calibri" charset="0"/>
                      </a:endParaRPr>
                    </a:p>
                  </a:txBody>
                  <a:tcPr marL="101600" marR="101600" marT="63500" marB="6350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indent="0" marL="0">
                        <a:buNone/>
                      </a:pPr>
                      <a:r>
                        <a:rPr lang="en-US" sz="1000" dirty="0">
                          <a:solidFill>
                            <a:srgbClr val="232833"/>
                          </a:solidFill>
                          <a:latin typeface="Calibri" pitchFamily="34" charset="0"/>
                          <a:ea typeface="Calibri" pitchFamily="34" charset="-122"/>
                          <a:cs typeface="Calibri" pitchFamily="34" charset="-120"/>
                        </a:rPr>
                        <a:t>Benchmarks re-run on model change</a:t>
                      </a:r>
                      <a:endParaRPr lang="en-US" sz="1000" dirty="0">
                        <a:latin typeface="Calibri" charset="0"/>
                        <a:ea typeface="Calibri" charset="0"/>
                        <a:cs typeface="Calibri" charset="0"/>
                      </a:endParaRPr>
                    </a:p>
                  </a:txBody>
                  <a:tcPr marL="101600" marR="101600" marT="63500" marB="6350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r>
              <a:tr h="566928">
                <a:tc>
                  <a:txBody>
                    <a:bodyPr/>
                    <a:lstStyle/>
                    <a:p>
                      <a:pPr indent="0" marL="0">
                        <a:buNone/>
                      </a:pPr>
                      <a:r>
                        <a:rPr lang="en-US" sz="1050" b="1" dirty="0">
                          <a:solidFill>
                            <a:srgbClr val="15181E"/>
                          </a:solidFill>
                          <a:latin typeface="Calibri" pitchFamily="34" charset="0"/>
                          <a:ea typeface="Calibri" pitchFamily="34" charset="-122"/>
                          <a:cs typeface="Calibri" pitchFamily="34" charset="-120"/>
                        </a:rPr>
                        <a:t>Elastic</a:t>
                      </a:r>
                      <a:endParaRPr lang="en-US" sz="1050" dirty="0">
                        <a:latin typeface="Calibri" charset="0"/>
                        <a:ea typeface="Calibri" charset="0"/>
                        <a:cs typeface="Calibri" charset="0"/>
                      </a:endParaRPr>
                    </a:p>
                  </a:txBody>
                  <a:tcPr marL="101600" marR="101600" marT="63500" marB="6350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2F2EF"/>
                    </a:solidFill>
                  </a:tcPr>
                </a:tc>
                <a:tc>
                  <a:txBody>
                    <a:bodyPr/>
                    <a:lstStyle/>
                    <a:p>
                      <a:pPr indent="0" marL="0">
                        <a:buNone/>
                      </a:pPr>
                      <a:r>
                        <a:rPr lang="en-US" sz="1000" dirty="0">
                          <a:solidFill>
                            <a:srgbClr val="232833"/>
                          </a:solidFill>
                          <a:latin typeface="Calibri" pitchFamily="34" charset="0"/>
                          <a:ea typeface="Calibri" pitchFamily="34" charset="-122"/>
                          <a:cs typeface="Calibri" pitchFamily="34" charset="-120"/>
                        </a:rPr>
                        <a:t>AI bounded to three named roles</a:t>
                      </a:r>
                      <a:endParaRPr lang="en-US" sz="1000" dirty="0">
                        <a:latin typeface="Calibri" charset="0"/>
                        <a:ea typeface="Calibri" charset="0"/>
                        <a:cs typeface="Calibri" charset="0"/>
                      </a:endParaRPr>
                    </a:p>
                  </a:txBody>
                  <a:tcPr marL="101600" marR="101600" marT="63500" marB="6350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2F2EF"/>
                    </a:solidFill>
                  </a:tcPr>
                </a:tc>
                <a:tc>
                  <a:txBody>
                    <a:bodyPr/>
                    <a:lstStyle/>
                    <a:p>
                      <a:pPr indent="0" marL="0">
                        <a:buNone/>
                      </a:pPr>
                      <a:r>
                        <a:rPr lang="en-US" sz="1000" dirty="0">
                          <a:solidFill>
                            <a:srgbClr val="232833"/>
                          </a:solidFill>
                          <a:latin typeface="Calibri" pitchFamily="34" charset="0"/>
                          <a:ea typeface="Calibri" pitchFamily="34" charset="-122"/>
                          <a:cs typeface="Calibri" pitchFamily="34" charset="-120"/>
                        </a:rPr>
                        <a:t>“A brilliant intern, not the CEO”</a:t>
                      </a:r>
                      <a:endParaRPr lang="en-US" sz="1000" dirty="0">
                        <a:latin typeface="Calibri" charset="0"/>
                        <a:ea typeface="Calibri" charset="0"/>
                        <a:cs typeface="Calibri" charset="0"/>
                      </a:endParaRPr>
                    </a:p>
                  </a:txBody>
                  <a:tcPr marL="101600" marR="101600" marT="63500" marB="6350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2F2EF"/>
                    </a:solidFill>
                  </a:tcPr>
                </a:tc>
                <a:tc>
                  <a:txBody>
                    <a:bodyPr/>
                    <a:lstStyle/>
                    <a:p>
                      <a:pPr indent="0" marL="0">
                        <a:buNone/>
                      </a:pPr>
                      <a:r>
                        <a:rPr lang="en-US" sz="1000" dirty="0">
                          <a:solidFill>
                            <a:srgbClr val="232833"/>
                          </a:solidFill>
                          <a:latin typeface="Calibri" pitchFamily="34" charset="0"/>
                          <a:ea typeface="Calibri" pitchFamily="34" charset="-122"/>
                          <a:cs typeface="Calibri" pitchFamily="34" charset="-120"/>
                        </a:rPr>
                        <a:t>Four-step gate before publish</a:t>
                      </a:r>
                      <a:endParaRPr lang="en-US" sz="1000" dirty="0">
                        <a:latin typeface="Calibri" charset="0"/>
                        <a:ea typeface="Calibri" charset="0"/>
                        <a:cs typeface="Calibri" charset="0"/>
                      </a:endParaRPr>
                    </a:p>
                  </a:txBody>
                  <a:tcPr marL="101600" marR="101600" marT="63500" marB="6350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2F2EF"/>
                    </a:solidFill>
                  </a:tcPr>
                </a:tc>
                <a:tc>
                  <a:txBody>
                    <a:bodyPr/>
                    <a:lstStyle/>
                    <a:p>
                      <a:pPr indent="0" marL="0">
                        <a:buNone/>
                      </a:pPr>
                      <a:r>
                        <a:rPr lang="en-US" sz="1000" dirty="0">
                          <a:solidFill>
                            <a:srgbClr val="232833"/>
                          </a:solidFill>
                          <a:latin typeface="Calibri" pitchFamily="34" charset="0"/>
                          <a:ea typeface="Calibri" pitchFamily="34" charset="-122"/>
                          <a:cs typeface="Calibri" pitchFamily="34" charset="-120"/>
                        </a:rPr>
                        <a:t>Engineer reviews every response</a:t>
                      </a:r>
                      <a:endParaRPr lang="en-US" sz="1000" dirty="0">
                        <a:latin typeface="Calibri" charset="0"/>
                        <a:ea typeface="Calibri" charset="0"/>
                        <a:cs typeface="Calibri" charset="0"/>
                      </a:endParaRPr>
                    </a:p>
                  </a:txBody>
                  <a:tcPr marL="101600" marR="101600" marT="63500" marB="6350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2F2EF"/>
                    </a:solidFill>
                  </a:tcPr>
                </a:tc>
              </a:tr>
              <a:tr h="566928">
                <a:tc>
                  <a:txBody>
                    <a:bodyPr/>
                    <a:lstStyle/>
                    <a:p>
                      <a:pPr indent="0" marL="0">
                        <a:buNone/>
                      </a:pPr>
                      <a:r>
                        <a:rPr lang="en-US" sz="1050" b="1" dirty="0">
                          <a:solidFill>
                            <a:srgbClr val="15181E"/>
                          </a:solidFill>
                          <a:latin typeface="Calibri" pitchFamily="34" charset="0"/>
                          <a:ea typeface="Calibri" pitchFamily="34" charset="-122"/>
                          <a:cs typeface="Calibri" pitchFamily="34" charset="-120"/>
                        </a:rPr>
                        <a:t>Morgan Stanley</a:t>
                      </a:r>
                      <a:endParaRPr lang="en-US" sz="1050" dirty="0">
                        <a:latin typeface="Calibri" charset="0"/>
                        <a:ea typeface="Calibri" charset="0"/>
                        <a:cs typeface="Calibri" charset="0"/>
                      </a:endParaRPr>
                    </a:p>
                  </a:txBody>
                  <a:tcPr marL="101600" marR="101600" marT="63500" marB="6350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indent="0" marL="0">
                        <a:buNone/>
                      </a:pPr>
                      <a:r>
                        <a:rPr lang="en-US" sz="1000" dirty="0">
                          <a:solidFill>
                            <a:srgbClr val="232833"/>
                          </a:solidFill>
                          <a:latin typeface="Calibri" pitchFamily="34" charset="0"/>
                          <a:ea typeface="Calibri" pitchFamily="34" charset="-122"/>
                          <a:cs typeface="Calibri" pitchFamily="34" charset="-120"/>
                        </a:rPr>
                        <a:t>GPT-4 over a vetted research library</a:t>
                      </a:r>
                      <a:endParaRPr lang="en-US" sz="1000" dirty="0">
                        <a:latin typeface="Calibri" charset="0"/>
                        <a:ea typeface="Calibri" charset="0"/>
                        <a:cs typeface="Calibri" charset="0"/>
                      </a:endParaRPr>
                    </a:p>
                  </a:txBody>
                  <a:tcPr marL="101600" marR="101600" marT="63500" marB="6350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indent="0" marL="0">
                        <a:buNone/>
                      </a:pPr>
                      <a:r>
                        <a:rPr lang="en-US" sz="1000" dirty="0">
                          <a:solidFill>
                            <a:srgbClr val="232833"/>
                          </a:solidFill>
                          <a:latin typeface="Calibri" pitchFamily="34" charset="0"/>
                          <a:ea typeface="Calibri" pitchFamily="34" charset="-122"/>
                          <a:cs typeface="Calibri" pitchFamily="34" charset="-120"/>
                        </a:rPr>
                        <a:t>The corpus is the control</a:t>
                      </a:r>
                      <a:endParaRPr lang="en-US" sz="1000" dirty="0">
                        <a:latin typeface="Calibri" charset="0"/>
                        <a:ea typeface="Calibri" charset="0"/>
                        <a:cs typeface="Calibri" charset="0"/>
                      </a:endParaRPr>
                    </a:p>
                  </a:txBody>
                  <a:tcPr marL="101600" marR="101600" marT="63500" marB="6350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indent="0" marL="0">
                        <a:buNone/>
                      </a:pPr>
                      <a:r>
                        <a:rPr lang="en-US" sz="1000" dirty="0">
                          <a:solidFill>
                            <a:srgbClr val="232833"/>
                          </a:solidFill>
                          <a:latin typeface="Calibri" pitchFamily="34" charset="0"/>
                          <a:ea typeface="Calibri" pitchFamily="34" charset="-122"/>
                          <a:cs typeface="Calibri" pitchFamily="34" charset="-120"/>
                        </a:rPr>
                        <a:t>Staff edit before the client sees</a:t>
                      </a:r>
                      <a:endParaRPr lang="en-US" sz="1000" dirty="0">
                        <a:latin typeface="Calibri" charset="0"/>
                        <a:ea typeface="Calibri" charset="0"/>
                        <a:cs typeface="Calibri" charset="0"/>
                      </a:endParaRPr>
                    </a:p>
                  </a:txBody>
                  <a:tcPr marL="101600" marR="101600" marT="63500" marB="6350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indent="0" marL="0">
                        <a:buNone/>
                      </a:pPr>
                      <a:r>
                        <a:rPr lang="en-US" sz="1000" dirty="0">
                          <a:solidFill>
                            <a:srgbClr val="232833"/>
                          </a:solidFill>
                          <a:latin typeface="Calibri" pitchFamily="34" charset="0"/>
                          <a:ea typeface="Calibri" pitchFamily="34" charset="-122"/>
                          <a:cs typeface="Calibri" pitchFamily="34" charset="-120"/>
                        </a:rPr>
                        <a:t>Research pipeline, daily regression suite</a:t>
                      </a:r>
                      <a:endParaRPr lang="en-US" sz="1000" dirty="0">
                        <a:latin typeface="Calibri" charset="0"/>
                        <a:ea typeface="Calibri" charset="0"/>
                        <a:cs typeface="Calibri" charset="0"/>
                      </a:endParaRPr>
                    </a:p>
                  </a:txBody>
                  <a:tcPr marL="101600" marR="101600" marT="63500" marB="6350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r>
              <a:tr h="566928">
                <a:tc>
                  <a:txBody>
                    <a:bodyPr/>
                    <a:lstStyle/>
                    <a:p>
                      <a:pPr indent="0" marL="0">
                        <a:buNone/>
                      </a:pPr>
                      <a:r>
                        <a:rPr lang="en-US" sz="1050" b="1" dirty="0">
                          <a:solidFill>
                            <a:srgbClr val="15181E"/>
                          </a:solidFill>
                          <a:latin typeface="Calibri" pitchFamily="34" charset="0"/>
                          <a:ea typeface="Calibri" pitchFamily="34" charset="-122"/>
                          <a:cs typeface="Calibri" pitchFamily="34" charset="-120"/>
                        </a:rPr>
                        <a:t>JPMorgan Chase</a:t>
                      </a:r>
                      <a:endParaRPr lang="en-US" sz="1050" dirty="0">
                        <a:latin typeface="Calibri" charset="0"/>
                        <a:ea typeface="Calibri" charset="0"/>
                        <a:cs typeface="Calibri" charset="0"/>
                      </a:endParaRPr>
                    </a:p>
                  </a:txBody>
                  <a:tcPr marL="101600" marR="101600" marT="63500" marB="6350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2F2EF"/>
                    </a:solidFill>
                  </a:tcPr>
                </a:tc>
                <a:tc>
                  <a:txBody>
                    <a:bodyPr/>
                    <a:lstStyle/>
                    <a:p>
                      <a:pPr indent="0" marL="0">
                        <a:buNone/>
                      </a:pPr>
                      <a:r>
                        <a:rPr lang="en-US" sz="1000" dirty="0">
                          <a:solidFill>
                            <a:srgbClr val="232833"/>
                          </a:solidFill>
                          <a:latin typeface="Calibri" pitchFamily="34" charset="0"/>
                          <a:ea typeface="Calibri" pitchFamily="34" charset="-122"/>
                          <a:cs typeface="Calibri" pitchFamily="34" charset="-120"/>
                        </a:rPr>
                        <a:t>Model-agnostic suite over doc stores</a:t>
                      </a:r>
                      <a:endParaRPr lang="en-US" sz="1000" dirty="0">
                        <a:latin typeface="Calibri" charset="0"/>
                        <a:ea typeface="Calibri" charset="0"/>
                        <a:cs typeface="Calibri" charset="0"/>
                      </a:endParaRPr>
                    </a:p>
                  </a:txBody>
                  <a:tcPr marL="101600" marR="101600" marT="63500" marB="6350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2F2EF"/>
                    </a:solidFill>
                  </a:tcPr>
                </a:tc>
                <a:tc>
                  <a:txBody>
                    <a:bodyPr/>
                    <a:lstStyle/>
                    <a:p>
                      <a:pPr indent="0" marL="0">
                        <a:buNone/>
                      </a:pPr>
                      <a:r>
                        <a:rPr lang="en-US" sz="1000" dirty="0">
                          <a:solidFill>
                            <a:srgbClr val="232833"/>
                          </a:solidFill>
                          <a:latin typeface="Calibri" pitchFamily="34" charset="0"/>
                          <a:ea typeface="Calibri" pitchFamily="34" charset="-122"/>
                          <a:cs typeface="Calibri" pitchFamily="34" charset="-120"/>
                        </a:rPr>
                        <a:t>One firm-wide toolset</a:t>
                      </a:r>
                      <a:endParaRPr lang="en-US" sz="1000" dirty="0">
                        <a:latin typeface="Calibri" charset="0"/>
                        <a:ea typeface="Calibri" charset="0"/>
                        <a:cs typeface="Calibri" charset="0"/>
                      </a:endParaRPr>
                    </a:p>
                  </a:txBody>
                  <a:tcPr marL="101600" marR="101600" marT="63500" marB="6350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2F2EF"/>
                    </a:solidFill>
                  </a:tcPr>
                </a:tc>
                <a:tc>
                  <a:txBody>
                    <a:bodyPr/>
                    <a:lstStyle/>
                    <a:p>
                      <a:pPr indent="0" marL="0">
                        <a:buNone/>
                      </a:pPr>
                      <a:r>
                        <a:rPr lang="en-US" sz="1000" dirty="0">
                          <a:solidFill>
                            <a:srgbClr val="232833"/>
                          </a:solidFill>
                          <a:latin typeface="Calibri" pitchFamily="34" charset="0"/>
                          <a:ea typeface="Calibri" pitchFamily="34" charset="-122"/>
                          <a:cs typeface="Calibri" pitchFamily="34" charset="-120"/>
                        </a:rPr>
                        <a:t>Not documented</a:t>
                      </a:r>
                      <a:endParaRPr lang="en-US" sz="1000" dirty="0">
                        <a:latin typeface="Calibri" charset="0"/>
                        <a:ea typeface="Calibri" charset="0"/>
                        <a:cs typeface="Calibri" charset="0"/>
                      </a:endParaRPr>
                    </a:p>
                  </a:txBody>
                  <a:tcPr marL="101600" marR="101600" marT="63500" marB="6350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2F2EF"/>
                    </a:solidFill>
                  </a:tcPr>
                </a:tc>
                <a:tc>
                  <a:txBody>
                    <a:bodyPr/>
                    <a:lstStyle/>
                    <a:p>
                      <a:pPr indent="0" marL="0">
                        <a:buNone/>
                      </a:pPr>
                      <a:r>
                        <a:rPr lang="en-US" sz="1000" dirty="0">
                          <a:solidFill>
                            <a:srgbClr val="232833"/>
                          </a:solidFill>
                          <a:latin typeface="Calibri" pitchFamily="34" charset="0"/>
                          <a:ea typeface="Calibri" pitchFamily="34" charset="-122"/>
                          <a:cs typeface="Calibri" pitchFamily="34" charset="-120"/>
                        </a:rPr>
                        <a:t>Not documented</a:t>
                      </a:r>
                      <a:endParaRPr lang="en-US" sz="1000" dirty="0">
                        <a:latin typeface="Calibri" charset="0"/>
                        <a:ea typeface="Calibri" charset="0"/>
                        <a:cs typeface="Calibri" charset="0"/>
                      </a:endParaRPr>
                    </a:p>
                  </a:txBody>
                  <a:tcPr marL="101600" marR="101600" marT="63500" marB="6350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2F2EF"/>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9184"/>
            <a:ext cx="9144000" cy="548640"/>
          </a:xfrm>
          <a:prstGeom prst="rect">
            <a:avLst/>
          </a:prstGeom>
          <a:noFill/>
          <a:ln/>
        </p:spPr>
        <p:txBody>
          <a:bodyPr wrap="square" lIns="0" tIns="0" rIns="0" bIns="0" rtlCol="0" anchor="ctr"/>
          <a:lstStyle/>
          <a:p>
            <a:pPr indent="0" marL="0">
              <a:buNone/>
            </a:pPr>
            <a:r>
              <a:rPr lang="en-US" sz="3100" b="1" dirty="0">
                <a:solidFill>
                  <a:srgbClr val="15181E"/>
                </a:solidFill>
                <a:latin typeface="Cambria" pitchFamily="34" charset="0"/>
                <a:ea typeface="Cambria" pitchFamily="34" charset="-122"/>
                <a:cs typeface="Cambria" pitchFamily="34" charset="-120"/>
              </a:rPr>
              <a:t>What they all did the same way</a:t>
            </a:r>
            <a:endParaRPr lang="en-US" sz="3100" dirty="0"/>
          </a:p>
        </p:txBody>
      </p:sp>
      <p:sp>
        <p:nvSpPr>
          <p:cNvPr id="3" name="Text 1"/>
          <p:cNvSpPr txBox="1"/>
          <p:nvPr/>
        </p:nvSpPr>
        <p:spPr>
          <a:xfrm>
            <a:off x="548640" y="914400"/>
            <a:ext cx="10515600" cy="329184"/>
          </a:xfrm>
          <a:prstGeom prst="rect">
            <a:avLst/>
          </a:prstGeom>
          <a:noFill/>
          <a:ln/>
        </p:spPr>
        <p:txBody>
          <a:bodyPr wrap="square" lIns="0" tIns="0" rIns="0" bIns="0" rtlCol="0" anchor="ctr"/>
          <a:lstStyle/>
          <a:p>
            <a:pPr indent="0" marL="0">
              <a:buNone/>
            </a:pPr>
            <a:r>
              <a:rPr lang="en-US" sz="1550" dirty="0">
                <a:solidFill>
                  <a:srgbClr val="232833"/>
                </a:solidFill>
                <a:latin typeface="Calibri" pitchFamily="34" charset="0"/>
                <a:ea typeface="Calibri" pitchFamily="34" charset="-122"/>
                <a:cs typeface="Calibri" pitchFamily="34" charset="-120"/>
              </a:rPr>
              <a:t>Eight teams, no coordination between them, and six of the same decisions.</a:t>
            </a:r>
            <a:endParaRPr lang="en-US" sz="1550" dirty="0"/>
          </a:p>
        </p:txBody>
      </p:sp>
      <p:sp>
        <p:nvSpPr>
          <p:cNvPr id="4" name="Text 2"/>
          <p:cNvSpPr txBox="1"/>
          <p:nvPr/>
        </p:nvSpPr>
        <p:spPr>
          <a:xfrm>
            <a:off x="548640" y="1572768"/>
            <a:ext cx="5303520" cy="365760"/>
          </a:xfrm>
          <a:prstGeom prst="rect">
            <a:avLst/>
          </a:prstGeom>
          <a:noFill/>
          <a:ln/>
        </p:spPr>
        <p:txBody>
          <a:bodyPr wrap="square" lIns="0" tIns="0" rIns="0" bIns="0" rtlCol="0" anchor="ctr"/>
          <a:lstStyle/>
          <a:p>
            <a:pPr indent="0" marL="0">
              <a:buNone/>
            </a:pPr>
            <a:r>
              <a:rPr lang="en-US" sz="1800" b="1" dirty="0">
                <a:solidFill>
                  <a:srgbClr val="15181E"/>
                </a:solidFill>
                <a:latin typeface="Cambria" pitchFamily="34" charset="0"/>
                <a:ea typeface="Cambria" pitchFamily="34" charset="-122"/>
                <a:cs typeface="Cambria" pitchFamily="34" charset="-120"/>
              </a:rPr>
              <a:t>Nobody fine-tuned</a:t>
            </a:r>
            <a:endParaRPr lang="en-US" sz="1800" dirty="0"/>
          </a:p>
        </p:txBody>
      </p:sp>
      <p:sp>
        <p:nvSpPr>
          <p:cNvPr id="5" name="Text 3"/>
          <p:cNvSpPr txBox="1"/>
          <p:nvPr/>
        </p:nvSpPr>
        <p:spPr>
          <a:xfrm>
            <a:off x="548640" y="1975104"/>
            <a:ext cx="5303520" cy="1097280"/>
          </a:xfrm>
          <a:prstGeom prst="rect">
            <a:avLst/>
          </a:prstGeom>
          <a:noFill/>
          <a:ln/>
        </p:spPr>
        <p:txBody>
          <a:bodyPr wrap="square" lIns="0" tIns="0" rIns="0" bIns="0" rtlCol="0" anchor="t"/>
          <a:lstStyle/>
          <a:p>
            <a:pPr indent="0" marL="0">
              <a:lnSpc>
                <a:spcPct val="113000"/>
              </a:lnSpc>
              <a:buNone/>
            </a:pPr>
            <a:r>
              <a:rPr lang="en-US" sz="1150" dirty="0">
                <a:solidFill>
                  <a:srgbClr val="232833"/>
                </a:solidFill>
                <a:latin typeface="Calibri" pitchFamily="34" charset="0"/>
                <a:ea typeface="Calibri" pitchFamily="34" charset="-122"/>
                <a:cs typeface="Calibri" pitchFamily="34" charset="-120"/>
              </a:rPr>
              <a:t>All eight built retrieval instead. Uber says why out loud: RAG needs no corpus of training examples, so it ships far sooner than a tuned model would.</a:t>
            </a:r>
            <a:endParaRPr lang="en-US" sz="1150" dirty="0"/>
          </a:p>
        </p:txBody>
      </p:sp>
      <p:sp>
        <p:nvSpPr>
          <p:cNvPr id="6" name="Text 4"/>
          <p:cNvSpPr txBox="1"/>
          <p:nvPr/>
        </p:nvSpPr>
        <p:spPr>
          <a:xfrm>
            <a:off x="6153912" y="1572768"/>
            <a:ext cx="5303520" cy="365760"/>
          </a:xfrm>
          <a:prstGeom prst="rect">
            <a:avLst/>
          </a:prstGeom>
          <a:noFill/>
          <a:ln/>
        </p:spPr>
        <p:txBody>
          <a:bodyPr wrap="square" lIns="0" tIns="0" rIns="0" bIns="0" rtlCol="0" anchor="ctr"/>
          <a:lstStyle/>
          <a:p>
            <a:pPr indent="0" marL="0">
              <a:buNone/>
            </a:pPr>
            <a:r>
              <a:rPr lang="en-US" sz="1800" b="1" dirty="0">
                <a:solidFill>
                  <a:srgbClr val="15181E"/>
                </a:solidFill>
                <a:latin typeface="Cambria" pitchFamily="34" charset="0"/>
                <a:ea typeface="Cambria" pitchFamily="34" charset="-122"/>
                <a:cs typeface="Cambria" pitchFamily="34" charset="-120"/>
              </a:rPr>
              <a:t>Hybrid beats semantic</a:t>
            </a:r>
            <a:endParaRPr lang="en-US" sz="1800" dirty="0"/>
          </a:p>
        </p:txBody>
      </p:sp>
      <p:sp>
        <p:nvSpPr>
          <p:cNvPr id="7" name="Text 5"/>
          <p:cNvSpPr txBox="1"/>
          <p:nvPr/>
        </p:nvSpPr>
        <p:spPr>
          <a:xfrm>
            <a:off x="6153912" y="1975104"/>
            <a:ext cx="5303520" cy="1097280"/>
          </a:xfrm>
          <a:prstGeom prst="rect">
            <a:avLst/>
          </a:prstGeom>
          <a:noFill/>
          <a:ln/>
        </p:spPr>
        <p:txBody>
          <a:bodyPr wrap="square" lIns="0" tIns="0" rIns="0" bIns="0" rtlCol="0" anchor="t"/>
          <a:lstStyle/>
          <a:p>
            <a:pPr indent="0" marL="0">
              <a:lnSpc>
                <a:spcPct val="113000"/>
              </a:lnSpc>
              <a:buNone/>
            </a:pPr>
            <a:r>
              <a:rPr lang="en-US" sz="1150" dirty="0">
                <a:solidFill>
                  <a:srgbClr val="232833"/>
                </a:solidFill>
                <a:latin typeface="Calibri" pitchFamily="34" charset="0"/>
                <a:ea typeface="Calibri" pitchFamily="34" charset="-122"/>
                <a:cs typeface="Calibri" pitchFamily="34" charset="-120"/>
              </a:rPr>
              <a:t>Lexical search plus vectors in every write-up that describes retrieval. Cerebras adds IDF and age decay on top. Pure embedding search failed for all of them.</a:t>
            </a:r>
            <a:endParaRPr lang="en-US" sz="1150" dirty="0"/>
          </a:p>
        </p:txBody>
      </p:sp>
      <p:sp>
        <p:nvSpPr>
          <p:cNvPr id="8" name="Text 6"/>
          <p:cNvSpPr txBox="1"/>
          <p:nvPr/>
        </p:nvSpPr>
        <p:spPr>
          <a:xfrm>
            <a:off x="548640" y="3182112"/>
            <a:ext cx="5303520" cy="365760"/>
          </a:xfrm>
          <a:prstGeom prst="rect">
            <a:avLst/>
          </a:prstGeom>
          <a:noFill/>
          <a:ln/>
        </p:spPr>
        <p:txBody>
          <a:bodyPr wrap="square" lIns="0" tIns="0" rIns="0" bIns="0" rtlCol="0" anchor="ctr"/>
          <a:lstStyle/>
          <a:p>
            <a:pPr indent="0" marL="0">
              <a:buNone/>
            </a:pPr>
            <a:r>
              <a:rPr lang="en-US" sz="1800" b="1" dirty="0">
                <a:solidFill>
                  <a:srgbClr val="15181E"/>
                </a:solidFill>
                <a:latin typeface="Cambria" pitchFamily="34" charset="0"/>
                <a:ea typeface="Cambria" pitchFamily="34" charset="-122"/>
                <a:cs typeface="Cambria" pitchFamily="34" charset="-120"/>
              </a:rPr>
              <a:t>The sources stay put</a:t>
            </a:r>
            <a:endParaRPr lang="en-US" sz="1800" dirty="0"/>
          </a:p>
        </p:txBody>
      </p:sp>
      <p:sp>
        <p:nvSpPr>
          <p:cNvPr id="9" name="Text 7"/>
          <p:cNvSpPr txBox="1"/>
          <p:nvPr/>
        </p:nvSpPr>
        <p:spPr>
          <a:xfrm>
            <a:off x="548640" y="3584448"/>
            <a:ext cx="5303520" cy="1097280"/>
          </a:xfrm>
          <a:prstGeom prst="rect">
            <a:avLst/>
          </a:prstGeom>
          <a:noFill/>
          <a:ln/>
        </p:spPr>
        <p:txBody>
          <a:bodyPr wrap="square" lIns="0" tIns="0" rIns="0" bIns="0" rtlCol="0" anchor="t"/>
          <a:lstStyle/>
          <a:p>
            <a:pPr indent="0" marL="0">
              <a:lnSpc>
                <a:spcPct val="113000"/>
              </a:lnSpc>
              <a:buNone/>
            </a:pPr>
            <a:r>
              <a:rPr lang="en-US" sz="1150" dirty="0">
                <a:solidFill>
                  <a:srgbClr val="232833"/>
                </a:solidFill>
                <a:latin typeface="Calibri" pitchFamily="34" charset="0"/>
                <a:ea typeface="Calibri" pitchFamily="34" charset="-122"/>
                <a:cs typeface="Calibri" pitchFamily="34" charset="-120"/>
              </a:rPr>
              <a:t>Not one attempted a migration into a single system. They built a retrieval layer over the mess instead, because the mess is where people actually write.</a:t>
            </a:r>
            <a:endParaRPr lang="en-US" sz="1150" dirty="0"/>
          </a:p>
        </p:txBody>
      </p:sp>
      <p:sp>
        <p:nvSpPr>
          <p:cNvPr id="10" name="Text 8"/>
          <p:cNvSpPr txBox="1"/>
          <p:nvPr/>
        </p:nvSpPr>
        <p:spPr>
          <a:xfrm>
            <a:off x="6153912" y="3182112"/>
            <a:ext cx="5303520" cy="365760"/>
          </a:xfrm>
          <a:prstGeom prst="rect">
            <a:avLst/>
          </a:prstGeom>
          <a:noFill/>
          <a:ln/>
        </p:spPr>
        <p:txBody>
          <a:bodyPr wrap="square" lIns="0" tIns="0" rIns="0" bIns="0" rtlCol="0" anchor="ctr"/>
          <a:lstStyle/>
          <a:p>
            <a:pPr indent="0" marL="0">
              <a:buNone/>
            </a:pPr>
            <a:r>
              <a:rPr lang="en-US" sz="1800" b="1" dirty="0">
                <a:solidFill>
                  <a:srgbClr val="15181E"/>
                </a:solidFill>
                <a:latin typeface="Cambria" pitchFamily="34" charset="0"/>
                <a:ea typeface="Cambria" pitchFamily="34" charset="-122"/>
                <a:cs typeface="Cambria" pitchFamily="34" charset="-120"/>
              </a:rPr>
              <a:t>Citations do the safety work</a:t>
            </a:r>
            <a:endParaRPr lang="en-US" sz="1800" dirty="0"/>
          </a:p>
        </p:txBody>
      </p:sp>
      <p:sp>
        <p:nvSpPr>
          <p:cNvPr id="11" name="Text 9"/>
          <p:cNvSpPr txBox="1"/>
          <p:nvPr/>
        </p:nvSpPr>
        <p:spPr>
          <a:xfrm>
            <a:off x="6153912" y="3584448"/>
            <a:ext cx="5303520" cy="1097280"/>
          </a:xfrm>
          <a:prstGeom prst="rect">
            <a:avLst/>
          </a:prstGeom>
          <a:noFill/>
          <a:ln/>
        </p:spPr>
        <p:txBody>
          <a:bodyPr wrap="square" lIns="0" tIns="0" rIns="0" bIns="0" rtlCol="0" anchor="t"/>
          <a:lstStyle/>
          <a:p>
            <a:pPr indent="0" marL="0">
              <a:lnSpc>
                <a:spcPct val="113000"/>
              </a:lnSpc>
              <a:buNone/>
            </a:pPr>
            <a:r>
              <a:rPr lang="en-US" sz="1150" dirty="0">
                <a:solidFill>
                  <a:srgbClr val="232833"/>
                </a:solidFill>
                <a:latin typeface="Calibri" pitchFamily="34" charset="0"/>
                <a:ea typeface="Calibri" pitchFamily="34" charset="-122"/>
                <a:cs typeface="Calibri" pitchFamily="34" charset="-120"/>
              </a:rPr>
              <a:t>Source links are table stakes across the set. Uber goes further and shows the retrieved chunk itself, which costs less than prompt engineering and works better.</a:t>
            </a:r>
            <a:endParaRPr lang="en-US" sz="1150" dirty="0"/>
          </a:p>
        </p:txBody>
      </p:sp>
      <p:sp>
        <p:nvSpPr>
          <p:cNvPr id="12" name="Text 10"/>
          <p:cNvSpPr txBox="1"/>
          <p:nvPr/>
        </p:nvSpPr>
        <p:spPr>
          <a:xfrm>
            <a:off x="548640" y="4791456"/>
            <a:ext cx="5303520" cy="365760"/>
          </a:xfrm>
          <a:prstGeom prst="rect">
            <a:avLst/>
          </a:prstGeom>
          <a:noFill/>
          <a:ln/>
        </p:spPr>
        <p:txBody>
          <a:bodyPr wrap="square" lIns="0" tIns="0" rIns="0" bIns="0" rtlCol="0" anchor="ctr"/>
          <a:lstStyle/>
          <a:p>
            <a:pPr indent="0" marL="0">
              <a:buNone/>
            </a:pPr>
            <a:r>
              <a:rPr lang="en-US" sz="1800" b="1" dirty="0">
                <a:solidFill>
                  <a:srgbClr val="15181E"/>
                </a:solidFill>
                <a:latin typeface="Cambria" pitchFamily="34" charset="0"/>
                <a:ea typeface="Cambria" pitchFamily="34" charset="-122"/>
                <a:cs typeface="Cambria" pitchFamily="34" charset="-120"/>
              </a:rPr>
              <a:t>Configuration sits at the edge</a:t>
            </a:r>
            <a:endParaRPr lang="en-US" sz="1800" dirty="0"/>
          </a:p>
        </p:txBody>
      </p:sp>
      <p:sp>
        <p:nvSpPr>
          <p:cNvPr id="13" name="Text 11"/>
          <p:cNvSpPr txBox="1"/>
          <p:nvPr/>
        </p:nvSpPr>
        <p:spPr>
          <a:xfrm>
            <a:off x="548640" y="5193792"/>
            <a:ext cx="5303520" cy="1097280"/>
          </a:xfrm>
          <a:prstGeom prst="rect">
            <a:avLst/>
          </a:prstGeom>
          <a:noFill/>
          <a:ln/>
        </p:spPr>
        <p:txBody>
          <a:bodyPr wrap="square" lIns="0" tIns="0" rIns="0" bIns="0" rtlCol="0" anchor="t"/>
          <a:lstStyle/>
          <a:p>
            <a:pPr indent="0" marL="0">
              <a:lnSpc>
                <a:spcPct val="113000"/>
              </a:lnSpc>
              <a:buNone/>
            </a:pPr>
            <a:r>
              <a:rPr lang="en-US" sz="1150" dirty="0">
                <a:solidFill>
                  <a:srgbClr val="232833"/>
                </a:solidFill>
                <a:latin typeface="Calibri" pitchFamily="34" charset="0"/>
                <a:ea typeface="Calibri" pitchFamily="34" charset="-122"/>
                <a:cs typeface="Calibri" pitchFamily="34" charset="-120"/>
              </a:rPr>
              <a:t>The centre owns infrastructure while the teams being indexed own their own relevance: per-channel sources, per-channel thresholds, per-domain agents.</a:t>
            </a:r>
            <a:endParaRPr lang="en-US" sz="1150" dirty="0"/>
          </a:p>
        </p:txBody>
      </p:sp>
      <p:sp>
        <p:nvSpPr>
          <p:cNvPr id="14" name="Text 12"/>
          <p:cNvSpPr txBox="1"/>
          <p:nvPr/>
        </p:nvSpPr>
        <p:spPr>
          <a:xfrm>
            <a:off x="6153912" y="4791456"/>
            <a:ext cx="5303520" cy="365760"/>
          </a:xfrm>
          <a:prstGeom prst="rect">
            <a:avLst/>
          </a:prstGeom>
          <a:noFill/>
          <a:ln/>
        </p:spPr>
        <p:txBody>
          <a:bodyPr wrap="square" lIns="0" tIns="0" rIns="0" bIns="0" rtlCol="0" anchor="ctr"/>
          <a:lstStyle/>
          <a:p>
            <a:pPr indent="0" marL="0">
              <a:buNone/>
            </a:pPr>
            <a:r>
              <a:rPr lang="en-US" sz="1800" b="1" dirty="0">
                <a:solidFill>
                  <a:srgbClr val="15181E"/>
                </a:solidFill>
                <a:latin typeface="Cambria" pitchFamily="34" charset="0"/>
                <a:ea typeface="Cambria" pitchFamily="34" charset="-122"/>
                <a:cs typeface="Cambria" pitchFamily="34" charset="-120"/>
              </a:rPr>
              <a:t>Freshness is a pipeline, not a policy</a:t>
            </a:r>
            <a:endParaRPr lang="en-US" sz="1800" dirty="0"/>
          </a:p>
        </p:txBody>
      </p:sp>
      <p:sp>
        <p:nvSpPr>
          <p:cNvPr id="15" name="Text 13"/>
          <p:cNvSpPr txBox="1"/>
          <p:nvPr/>
        </p:nvSpPr>
        <p:spPr>
          <a:xfrm>
            <a:off x="6153912" y="5193792"/>
            <a:ext cx="5303520" cy="1097280"/>
          </a:xfrm>
          <a:prstGeom prst="rect">
            <a:avLst/>
          </a:prstGeom>
          <a:noFill/>
          <a:ln/>
        </p:spPr>
        <p:txBody>
          <a:bodyPr wrap="square" lIns="0" tIns="0" rIns="0" bIns="0" rtlCol="0" anchor="t"/>
          <a:lstStyle/>
          <a:p>
            <a:pPr indent="0" marL="0">
              <a:lnSpc>
                <a:spcPct val="113000"/>
              </a:lnSpc>
              <a:buNone/>
            </a:pPr>
            <a:r>
              <a:rPr lang="en-US" sz="1150" dirty="0">
                <a:solidFill>
                  <a:srgbClr val="232833"/>
                </a:solidFill>
                <a:latin typeface="Calibri" pitchFamily="34" charset="0"/>
                <a:ea typeface="Calibri" pitchFamily="34" charset="-122"/>
                <a:cs typeface="Calibri" pitchFamily="34" charset="-120"/>
              </a:rPr>
              <a:t>Differential sync, Spark ETL, incremental re-embedding, a daily regression suite. Nobody promises currency as a rule, because a rule cannot be enforced and a pipeline can.</a:t>
            </a:r>
            <a:endParaRPr lang="en-US" sz="11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9184"/>
            <a:ext cx="9144000" cy="548640"/>
          </a:xfrm>
          <a:prstGeom prst="rect">
            <a:avLst/>
          </a:prstGeom>
          <a:noFill/>
          <a:ln/>
        </p:spPr>
        <p:txBody>
          <a:bodyPr wrap="square" lIns="0" tIns="0" rIns="0" bIns="0" rtlCol="0" anchor="ctr"/>
          <a:lstStyle/>
          <a:p>
            <a:pPr indent="0" marL="0">
              <a:buNone/>
            </a:pPr>
            <a:r>
              <a:rPr lang="en-US" sz="3100" b="1" dirty="0">
                <a:solidFill>
                  <a:srgbClr val="15181E"/>
                </a:solidFill>
                <a:latin typeface="Cambria" pitchFamily="34" charset="0"/>
                <a:ea typeface="Cambria" pitchFamily="34" charset="-122"/>
                <a:cs typeface="Cambria" pitchFamily="34" charset="-120"/>
              </a:rPr>
              <a:t>The ideology underneath</a:t>
            </a:r>
            <a:endParaRPr lang="en-US" sz="3100" dirty="0"/>
          </a:p>
        </p:txBody>
      </p:sp>
      <p:sp>
        <p:nvSpPr>
          <p:cNvPr id="3" name="Text 1"/>
          <p:cNvSpPr txBox="1"/>
          <p:nvPr/>
        </p:nvSpPr>
        <p:spPr>
          <a:xfrm>
            <a:off x="548640" y="914400"/>
            <a:ext cx="10607040" cy="329184"/>
          </a:xfrm>
          <a:prstGeom prst="rect">
            <a:avLst/>
          </a:prstGeom>
          <a:noFill/>
          <a:ln/>
        </p:spPr>
        <p:txBody>
          <a:bodyPr wrap="square" lIns="0" tIns="0" rIns="0" bIns="0" rtlCol="0" anchor="ctr"/>
          <a:lstStyle/>
          <a:p>
            <a:pPr indent="0" marL="0">
              <a:buNone/>
            </a:pPr>
            <a:r>
              <a:rPr lang="en-US" sz="1550" dirty="0">
                <a:solidFill>
                  <a:srgbClr val="232833"/>
                </a:solidFill>
                <a:latin typeface="Calibri" pitchFamily="34" charset="0"/>
                <a:ea typeface="Calibri" pitchFamily="34" charset="-122"/>
                <a:cs typeface="Calibri" pitchFamily="34" charset="-120"/>
              </a:rPr>
              <a:t>Three beliefs turn up in all eight write-ups, worded differently each time.</a:t>
            </a:r>
            <a:endParaRPr lang="en-US" sz="1550" dirty="0"/>
          </a:p>
        </p:txBody>
      </p:sp>
      <p:sp>
        <p:nvSpPr>
          <p:cNvPr id="4" name="Shape 2"/>
          <p:cNvSpPr/>
          <p:nvPr/>
        </p:nvSpPr>
        <p:spPr>
          <a:xfrm>
            <a:off x="548640" y="1536192"/>
            <a:ext cx="3514344" cy="3877056"/>
          </a:xfrm>
          <a:prstGeom prst="roundRect">
            <a:avLst>
              <a:gd name="adj" fmla="val 1561"/>
            </a:avLst>
          </a:prstGeom>
          <a:solidFill>
            <a:srgbClr val="F2F2EF"/>
          </a:solidFill>
          <a:ln w="12700">
            <a:solidFill>
              <a:srgbClr val="F2F2EF"/>
            </a:solidFill>
            <a:prstDash val="solid"/>
          </a:ln>
        </p:spPr>
      </p:sp>
      <p:sp>
        <p:nvSpPr>
          <p:cNvPr id="5" name="Text 3"/>
          <p:cNvSpPr txBox="1"/>
          <p:nvPr/>
        </p:nvSpPr>
        <p:spPr>
          <a:xfrm>
            <a:off x="859536" y="1773936"/>
            <a:ext cx="2892552" cy="841248"/>
          </a:xfrm>
          <a:prstGeom prst="rect">
            <a:avLst/>
          </a:prstGeom>
          <a:noFill/>
          <a:ln/>
        </p:spPr>
        <p:txBody>
          <a:bodyPr wrap="square" lIns="0" tIns="0" rIns="0" bIns="0" rtlCol="0" anchor="t"/>
          <a:lstStyle/>
          <a:p>
            <a:pPr indent="0" marL="0">
              <a:lnSpc>
                <a:spcPct val="105000"/>
              </a:lnSpc>
              <a:buNone/>
            </a:pPr>
            <a:r>
              <a:rPr lang="en-US" sz="1700" b="1" dirty="0">
                <a:solidFill>
                  <a:srgbClr val="15181E"/>
                </a:solidFill>
                <a:latin typeface="Cambria" pitchFamily="34" charset="0"/>
                <a:ea typeface="Cambria" pitchFamily="34" charset="-122"/>
                <a:cs typeface="Cambria" pitchFamily="34" charset="-120"/>
              </a:rPr>
              <a:t>Knowledge scatters, and stays scattered</a:t>
            </a:r>
            <a:endParaRPr lang="en-US" sz="1700" dirty="0"/>
          </a:p>
        </p:txBody>
      </p:sp>
      <p:sp>
        <p:nvSpPr>
          <p:cNvPr id="6" name="Text 4"/>
          <p:cNvSpPr txBox="1"/>
          <p:nvPr/>
        </p:nvSpPr>
        <p:spPr>
          <a:xfrm>
            <a:off x="859536" y="2688336"/>
            <a:ext cx="2892552" cy="1828800"/>
          </a:xfrm>
          <a:prstGeom prst="rect">
            <a:avLst/>
          </a:prstGeom>
          <a:noFill/>
          <a:ln/>
        </p:spPr>
        <p:txBody>
          <a:bodyPr wrap="square" lIns="0" tIns="0" rIns="0" bIns="0" rtlCol="0" anchor="t"/>
          <a:lstStyle/>
          <a:p>
            <a:pPr indent="0" marL="0">
              <a:lnSpc>
                <a:spcPct val="114000"/>
              </a:lnSpc>
              <a:buNone/>
            </a:pPr>
            <a:r>
              <a:rPr lang="en-US" sz="1150" dirty="0">
                <a:solidFill>
                  <a:srgbClr val="232833"/>
                </a:solidFill>
                <a:latin typeface="Calibri" pitchFamily="34" charset="0"/>
                <a:ea typeface="Calibri" pitchFamily="34" charset="-122"/>
                <a:cs typeface="Calibri" pitchFamily="34" charset="-120"/>
              </a:rPr>
              <a:t>People write things down wherever it is easiest: a Slack thread, a PR comment, a Jira field. Every attempt to consolidate that fails, so the retrieval layer absorbs the mess instead and nobody sits through a migration.</a:t>
            </a:r>
            <a:endParaRPr lang="en-US" sz="1150" dirty="0"/>
          </a:p>
        </p:txBody>
      </p:sp>
      <p:sp>
        <p:nvSpPr>
          <p:cNvPr id="7" name="Text 5"/>
          <p:cNvSpPr txBox="1"/>
          <p:nvPr/>
        </p:nvSpPr>
        <p:spPr>
          <a:xfrm>
            <a:off x="859536" y="4590288"/>
            <a:ext cx="2892552" cy="731520"/>
          </a:xfrm>
          <a:prstGeom prst="rect">
            <a:avLst/>
          </a:prstGeom>
          <a:noFill/>
          <a:ln/>
        </p:spPr>
        <p:txBody>
          <a:bodyPr wrap="square" lIns="0" tIns="0" rIns="0" bIns="0" rtlCol="0" anchor="t"/>
          <a:lstStyle/>
          <a:p>
            <a:pPr indent="0" marL="0">
              <a:lnSpc>
                <a:spcPct val="110000"/>
              </a:lnSpc>
              <a:buNone/>
            </a:pPr>
            <a:r>
              <a:rPr lang="en-US" sz="1050" i="1" dirty="0">
                <a:solidFill>
                  <a:srgbClr val="6E7480"/>
                </a:solidFill>
                <a:latin typeface="Calibri" pitchFamily="34" charset="0"/>
                <a:ea typeface="Calibri" pitchFamily="34" charset="-122"/>
                <a:cs typeface="Calibri" pitchFamily="34" charset="-120"/>
              </a:rPr>
              <a:t>Cerebras: a single source of truth “rarely works in practice.”</a:t>
            </a:r>
            <a:endParaRPr lang="en-US" sz="1050" dirty="0"/>
          </a:p>
        </p:txBody>
      </p:sp>
      <p:sp>
        <p:nvSpPr>
          <p:cNvPr id="8" name="Shape 6"/>
          <p:cNvSpPr/>
          <p:nvPr/>
        </p:nvSpPr>
        <p:spPr>
          <a:xfrm>
            <a:off x="4337304" y="1536192"/>
            <a:ext cx="3514344" cy="3877056"/>
          </a:xfrm>
          <a:prstGeom prst="roundRect">
            <a:avLst>
              <a:gd name="adj" fmla="val 1561"/>
            </a:avLst>
          </a:prstGeom>
          <a:solidFill>
            <a:srgbClr val="F2F2EF"/>
          </a:solidFill>
          <a:ln w="12700">
            <a:solidFill>
              <a:srgbClr val="F2F2EF"/>
            </a:solidFill>
            <a:prstDash val="solid"/>
          </a:ln>
        </p:spPr>
      </p:sp>
      <p:sp>
        <p:nvSpPr>
          <p:cNvPr id="9" name="Text 7"/>
          <p:cNvSpPr txBox="1"/>
          <p:nvPr/>
        </p:nvSpPr>
        <p:spPr>
          <a:xfrm>
            <a:off x="4648200" y="1773936"/>
            <a:ext cx="2892552" cy="841248"/>
          </a:xfrm>
          <a:prstGeom prst="rect">
            <a:avLst/>
          </a:prstGeom>
          <a:noFill/>
          <a:ln/>
        </p:spPr>
        <p:txBody>
          <a:bodyPr wrap="square" lIns="0" tIns="0" rIns="0" bIns="0" rtlCol="0" anchor="t"/>
          <a:lstStyle/>
          <a:p>
            <a:pPr indent="0" marL="0">
              <a:lnSpc>
                <a:spcPct val="105000"/>
              </a:lnSpc>
              <a:buNone/>
            </a:pPr>
            <a:r>
              <a:rPr lang="en-US" sz="1700" b="1" dirty="0">
                <a:solidFill>
                  <a:srgbClr val="15181E"/>
                </a:solidFill>
                <a:latin typeface="Cambria" pitchFamily="34" charset="0"/>
                <a:ea typeface="Cambria" pitchFamily="34" charset="-122"/>
                <a:cs typeface="Cambria" pitchFamily="34" charset="-120"/>
              </a:rPr>
              <a:t>Trust gets built, not claimed</a:t>
            </a:r>
            <a:endParaRPr lang="en-US" sz="1700" dirty="0"/>
          </a:p>
        </p:txBody>
      </p:sp>
      <p:sp>
        <p:nvSpPr>
          <p:cNvPr id="10" name="Text 8"/>
          <p:cNvSpPr txBox="1"/>
          <p:nvPr/>
        </p:nvSpPr>
        <p:spPr>
          <a:xfrm>
            <a:off x="4648200" y="2688336"/>
            <a:ext cx="2892552" cy="1828800"/>
          </a:xfrm>
          <a:prstGeom prst="rect">
            <a:avLst/>
          </a:prstGeom>
          <a:noFill/>
          <a:ln/>
        </p:spPr>
        <p:txBody>
          <a:bodyPr wrap="square" lIns="0" tIns="0" rIns="0" bIns="0" rtlCol="0" anchor="t"/>
          <a:lstStyle/>
          <a:p>
            <a:pPr indent="0" marL="0">
              <a:lnSpc>
                <a:spcPct val="114000"/>
              </a:lnSpc>
              <a:buNone/>
            </a:pPr>
            <a:r>
              <a:rPr lang="en-US" sz="1150" dirty="0">
                <a:solidFill>
                  <a:srgbClr val="232833"/>
                </a:solidFill>
                <a:latin typeface="Calibri" pitchFamily="34" charset="0"/>
                <a:ea typeface="Calibri" pitchFamily="34" charset="-122"/>
                <a:cs typeface="Calibri" pitchFamily="34" charset="-120"/>
              </a:rPr>
              <a:t>None of them claim the model is reliable. They build on the assumption that it is not, and then engineer around that: cited chunks, bounded roles, inspectable plans, escalation paths and verification gates.</a:t>
            </a:r>
            <a:endParaRPr lang="en-US" sz="1150" dirty="0"/>
          </a:p>
        </p:txBody>
      </p:sp>
      <p:sp>
        <p:nvSpPr>
          <p:cNvPr id="11" name="Text 9"/>
          <p:cNvSpPr txBox="1"/>
          <p:nvPr/>
        </p:nvSpPr>
        <p:spPr>
          <a:xfrm>
            <a:off x="4648200" y="4590288"/>
            <a:ext cx="2892552" cy="731520"/>
          </a:xfrm>
          <a:prstGeom prst="rect">
            <a:avLst/>
          </a:prstGeom>
          <a:noFill/>
          <a:ln/>
        </p:spPr>
        <p:txBody>
          <a:bodyPr wrap="square" lIns="0" tIns="0" rIns="0" bIns="0" rtlCol="0" anchor="t"/>
          <a:lstStyle/>
          <a:p>
            <a:pPr indent="0" marL="0">
              <a:lnSpc>
                <a:spcPct val="110000"/>
              </a:lnSpc>
              <a:buNone/>
            </a:pPr>
            <a:r>
              <a:rPr lang="en-US" sz="1050" i="1" dirty="0">
                <a:solidFill>
                  <a:srgbClr val="6E7480"/>
                </a:solidFill>
                <a:latin typeface="Calibri" pitchFamily="34" charset="0"/>
                <a:ea typeface="Calibri" pitchFamily="34" charset="-122"/>
                <a:cs typeface="Calibri" pitchFamily="34" charset="-120"/>
              </a:rPr>
              <a:t>Uber shows the sub-context. Dropbox makes the plan readable code. Elastic gates on a human.</a:t>
            </a:r>
            <a:endParaRPr lang="en-US" sz="1050" dirty="0"/>
          </a:p>
        </p:txBody>
      </p:sp>
      <p:sp>
        <p:nvSpPr>
          <p:cNvPr id="12" name="Shape 10"/>
          <p:cNvSpPr/>
          <p:nvPr/>
        </p:nvSpPr>
        <p:spPr>
          <a:xfrm>
            <a:off x="8125968" y="1536192"/>
            <a:ext cx="3514344" cy="3877056"/>
          </a:xfrm>
          <a:prstGeom prst="roundRect">
            <a:avLst>
              <a:gd name="adj" fmla="val 1561"/>
            </a:avLst>
          </a:prstGeom>
          <a:solidFill>
            <a:srgbClr val="F2F2EF"/>
          </a:solidFill>
          <a:ln w="12700">
            <a:solidFill>
              <a:srgbClr val="F2F2EF"/>
            </a:solidFill>
            <a:prstDash val="solid"/>
          </a:ln>
        </p:spPr>
      </p:sp>
      <p:sp>
        <p:nvSpPr>
          <p:cNvPr id="13" name="Text 11"/>
          <p:cNvSpPr txBox="1"/>
          <p:nvPr/>
        </p:nvSpPr>
        <p:spPr>
          <a:xfrm>
            <a:off x="8436864" y="1773936"/>
            <a:ext cx="2892552" cy="841248"/>
          </a:xfrm>
          <a:prstGeom prst="rect">
            <a:avLst/>
          </a:prstGeom>
          <a:noFill/>
          <a:ln/>
        </p:spPr>
        <p:txBody>
          <a:bodyPr wrap="square" lIns="0" tIns="0" rIns="0" bIns="0" rtlCol="0" anchor="t"/>
          <a:lstStyle/>
          <a:p>
            <a:pPr indent="0" marL="0">
              <a:lnSpc>
                <a:spcPct val="105000"/>
              </a:lnSpc>
              <a:buNone/>
            </a:pPr>
            <a:r>
              <a:rPr lang="en-US" sz="1700" b="1" dirty="0">
                <a:solidFill>
                  <a:srgbClr val="15181E"/>
                </a:solidFill>
                <a:latin typeface="Cambria" pitchFamily="34" charset="0"/>
                <a:ea typeface="Cambria" pitchFamily="34" charset="-122"/>
                <a:cs typeface="Cambria" pitchFamily="34" charset="-120"/>
              </a:rPr>
              <a:t>Governance belongs to the people with the context</a:t>
            </a:r>
            <a:endParaRPr lang="en-US" sz="1700" dirty="0"/>
          </a:p>
        </p:txBody>
      </p:sp>
      <p:sp>
        <p:nvSpPr>
          <p:cNvPr id="14" name="Text 12"/>
          <p:cNvSpPr txBox="1"/>
          <p:nvPr/>
        </p:nvSpPr>
        <p:spPr>
          <a:xfrm>
            <a:off x="8436864" y="2688336"/>
            <a:ext cx="2892552" cy="1828800"/>
          </a:xfrm>
          <a:prstGeom prst="rect">
            <a:avLst/>
          </a:prstGeom>
          <a:noFill/>
          <a:ln/>
        </p:spPr>
        <p:txBody>
          <a:bodyPr wrap="square" lIns="0" tIns="0" rIns="0" bIns="0" rtlCol="0" anchor="t"/>
          <a:lstStyle/>
          <a:p>
            <a:pPr indent="0" marL="0">
              <a:lnSpc>
                <a:spcPct val="114000"/>
              </a:lnSpc>
              <a:buNone/>
            </a:pPr>
            <a:r>
              <a:rPr lang="en-US" sz="1150" dirty="0">
                <a:solidFill>
                  <a:srgbClr val="232833"/>
                </a:solidFill>
                <a:latin typeface="Calibri" pitchFamily="34" charset="0"/>
                <a:ea typeface="Calibri" pitchFamily="34" charset="-122"/>
                <a:cs typeface="Calibri" pitchFamily="34" charset="-120"/>
              </a:rPr>
              <a:t>The platform team owns infrastructure. Relevance, thresholds, sources and quality belong to the team whose work is being indexed, because only they can tell a good answer from a merely plausible one.</a:t>
            </a:r>
            <a:endParaRPr lang="en-US" sz="1150" dirty="0"/>
          </a:p>
        </p:txBody>
      </p:sp>
      <p:sp>
        <p:nvSpPr>
          <p:cNvPr id="15" name="Text 13"/>
          <p:cNvSpPr txBox="1"/>
          <p:nvPr/>
        </p:nvSpPr>
        <p:spPr>
          <a:xfrm>
            <a:off x="8436864" y="4590288"/>
            <a:ext cx="2892552" cy="731520"/>
          </a:xfrm>
          <a:prstGeom prst="rect">
            <a:avLst/>
          </a:prstGeom>
          <a:noFill/>
          <a:ln/>
        </p:spPr>
        <p:txBody>
          <a:bodyPr wrap="square" lIns="0" tIns="0" rIns="0" bIns="0" rtlCol="0" anchor="t"/>
          <a:lstStyle/>
          <a:p>
            <a:pPr indent="0" marL="0">
              <a:lnSpc>
                <a:spcPct val="110000"/>
              </a:lnSpc>
              <a:buNone/>
            </a:pPr>
            <a:r>
              <a:rPr lang="en-US" sz="1050" i="1" dirty="0">
                <a:solidFill>
                  <a:srgbClr val="6E7480"/>
                </a:solidFill>
                <a:latin typeface="Calibri" pitchFamily="34" charset="0"/>
                <a:ea typeface="Calibri" pitchFamily="34" charset="-122"/>
                <a:cs typeface="Calibri" pitchFamily="34" charset="-120"/>
              </a:rPr>
              <a:t>Stripe's AgentStudio, Slack's per-channel thresholds, Cerebras' PR-reviewed connectors.</a:t>
            </a:r>
            <a:endParaRPr lang="en-US" sz="1050" dirty="0"/>
          </a:p>
        </p:txBody>
      </p:sp>
      <p:sp>
        <p:nvSpPr>
          <p:cNvPr id="16" name="Text 14"/>
          <p:cNvSpPr txBox="1"/>
          <p:nvPr/>
        </p:nvSpPr>
        <p:spPr>
          <a:xfrm>
            <a:off x="548640" y="5669280"/>
            <a:ext cx="11091672" cy="457200"/>
          </a:xfrm>
          <a:prstGeom prst="rect">
            <a:avLst/>
          </a:prstGeom>
          <a:noFill/>
          <a:ln/>
        </p:spPr>
        <p:txBody>
          <a:bodyPr wrap="square" lIns="0" tIns="0" rIns="0" bIns="0" rtlCol="0" anchor="ctr"/>
          <a:lstStyle/>
          <a:p>
            <a:pPr indent="0" marL="0">
              <a:buNone/>
            </a:pPr>
            <a:r>
              <a:rPr lang="en-US" sz="1600" i="1" dirty="0">
                <a:solidFill>
                  <a:srgbClr val="6E7480"/>
                </a:solidFill>
                <a:latin typeface="Cambria" pitchFamily="34" charset="0"/>
                <a:ea typeface="Cambria" pitchFamily="34" charset="-122"/>
                <a:cs typeface="Cambria" pitchFamily="34" charset="-120"/>
              </a:rPr>
              <a:t>“AI is a brilliant intern, not the CEO.”   -   Elastic, and the whole set agrees in practice</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9184"/>
            <a:ext cx="9144000" cy="548640"/>
          </a:xfrm>
          <a:prstGeom prst="rect">
            <a:avLst/>
          </a:prstGeom>
          <a:noFill/>
          <a:ln/>
        </p:spPr>
        <p:txBody>
          <a:bodyPr wrap="square" lIns="0" tIns="0" rIns="0" bIns="0" rtlCol="0" anchor="ctr"/>
          <a:lstStyle/>
          <a:p>
            <a:pPr indent="0" marL="0">
              <a:buNone/>
            </a:pPr>
            <a:r>
              <a:rPr lang="en-US" sz="3100" b="1" dirty="0">
                <a:solidFill>
                  <a:srgbClr val="15181E"/>
                </a:solidFill>
                <a:latin typeface="Cambria" pitchFamily="34" charset="0"/>
                <a:ea typeface="Cambria" pitchFamily="34" charset="-122"/>
                <a:cs typeface="Cambria" pitchFamily="34" charset="-120"/>
              </a:rPr>
              <a:t>Where they part company</a:t>
            </a:r>
            <a:endParaRPr lang="en-US" sz="3100" dirty="0"/>
          </a:p>
        </p:txBody>
      </p:sp>
      <p:sp>
        <p:nvSpPr>
          <p:cNvPr id="3" name="Text 1"/>
          <p:cNvSpPr txBox="1"/>
          <p:nvPr/>
        </p:nvSpPr>
        <p:spPr>
          <a:xfrm>
            <a:off x="548640" y="914400"/>
            <a:ext cx="10607040" cy="329184"/>
          </a:xfrm>
          <a:prstGeom prst="rect">
            <a:avLst/>
          </a:prstGeom>
          <a:noFill/>
          <a:ln/>
        </p:spPr>
        <p:txBody>
          <a:bodyPr wrap="square" lIns="0" tIns="0" rIns="0" bIns="0" rtlCol="0" anchor="ctr"/>
          <a:lstStyle/>
          <a:p>
            <a:pPr indent="0" marL="0">
              <a:buNone/>
            </a:pPr>
            <a:r>
              <a:rPr lang="en-US" sz="1550" dirty="0">
                <a:solidFill>
                  <a:srgbClr val="232833"/>
                </a:solidFill>
                <a:latin typeface="Calibri" pitchFamily="34" charset="0"/>
                <a:ea typeface="Calibri" pitchFamily="34" charset="-122"/>
                <a:cs typeface="Calibri" pitchFamily="34" charset="-120"/>
              </a:rPr>
              <a:t>Four real forks. On each one the set splits cleanly, and the split is not random.</a:t>
            </a:r>
            <a:endParaRPr lang="en-US" sz="1550" dirty="0"/>
          </a:p>
        </p:txBody>
      </p:sp>
      <p:sp>
        <p:nvSpPr>
          <p:cNvPr id="4" name="Shape 2"/>
          <p:cNvSpPr/>
          <p:nvPr/>
        </p:nvSpPr>
        <p:spPr>
          <a:xfrm>
            <a:off x="548640" y="1499616"/>
            <a:ext cx="5394960" cy="1956816"/>
          </a:xfrm>
          <a:prstGeom prst="roundRect">
            <a:avLst>
              <a:gd name="adj" fmla="val 2804"/>
            </a:avLst>
          </a:prstGeom>
          <a:solidFill>
            <a:srgbClr val="F2F2EF"/>
          </a:solidFill>
          <a:ln w="12700">
            <a:solidFill>
              <a:srgbClr val="F2F2EF"/>
            </a:solidFill>
            <a:prstDash val="solid"/>
          </a:ln>
        </p:spPr>
      </p:sp>
      <p:sp>
        <p:nvSpPr>
          <p:cNvPr id="5" name="Text 3"/>
          <p:cNvSpPr txBox="1"/>
          <p:nvPr/>
        </p:nvSpPr>
        <p:spPr>
          <a:xfrm>
            <a:off x="859536" y="1700784"/>
            <a:ext cx="4773168" cy="365760"/>
          </a:xfrm>
          <a:prstGeom prst="rect">
            <a:avLst/>
          </a:prstGeom>
          <a:noFill/>
          <a:ln/>
        </p:spPr>
        <p:txBody>
          <a:bodyPr wrap="square" lIns="0" tIns="0" rIns="0" bIns="0" rtlCol="0" anchor="ctr"/>
          <a:lstStyle/>
          <a:p>
            <a:pPr indent="0" marL="0">
              <a:buNone/>
            </a:pPr>
            <a:r>
              <a:rPr lang="en-US" sz="1800" b="1" dirty="0">
                <a:solidFill>
                  <a:srgbClr val="15181E"/>
                </a:solidFill>
                <a:latin typeface="Cambria" pitchFamily="34" charset="0"/>
                <a:ea typeface="Cambria" pitchFamily="34" charset="-122"/>
                <a:cs typeface="Cambria" pitchFamily="34" charset="-120"/>
              </a:rPr>
              <a:t>Retrieval or orchestration</a:t>
            </a:r>
            <a:endParaRPr lang="en-US" sz="1800" dirty="0"/>
          </a:p>
        </p:txBody>
      </p:sp>
      <p:sp>
        <p:nvSpPr>
          <p:cNvPr id="6" name="Text 4"/>
          <p:cNvSpPr txBox="1"/>
          <p:nvPr/>
        </p:nvSpPr>
        <p:spPr>
          <a:xfrm>
            <a:off x="859536" y="2139696"/>
            <a:ext cx="4773168" cy="1188720"/>
          </a:xfrm>
          <a:prstGeom prst="rect">
            <a:avLst/>
          </a:prstGeom>
          <a:noFill/>
          <a:ln/>
        </p:spPr>
        <p:txBody>
          <a:bodyPr wrap="square" lIns="0" tIns="0" rIns="0" bIns="0" rtlCol="0" anchor="t"/>
          <a:lstStyle/>
          <a:p>
            <a:pPr indent="0" marL="0">
              <a:lnSpc>
                <a:spcPct val="115000"/>
              </a:lnSpc>
              <a:buNone/>
            </a:pPr>
            <a:r>
              <a:rPr lang="en-US" sz="1150" dirty="0">
                <a:solidFill>
                  <a:srgbClr val="232833"/>
                </a:solidFill>
                <a:latin typeface="Calibri" pitchFamily="34" charset="0"/>
                <a:ea typeface="Calibri" pitchFamily="34" charset="-122"/>
                <a:cs typeface="Calibri" pitchFamily="34" charset="-120"/>
              </a:rPr>
              <a:t>Cerebras and Uber stop at excellent search and let the client do the reasoning. Stripe and Dropbox run full agents with sandboxes, filesystems and multi-step plans. The same problem, an order of magnitude apart in machinery.</a:t>
            </a:r>
            <a:endParaRPr lang="en-US" sz="1150" dirty="0"/>
          </a:p>
        </p:txBody>
      </p:sp>
      <p:sp>
        <p:nvSpPr>
          <p:cNvPr id="7" name="Shape 5"/>
          <p:cNvSpPr/>
          <p:nvPr/>
        </p:nvSpPr>
        <p:spPr>
          <a:xfrm>
            <a:off x="6245352" y="1499616"/>
            <a:ext cx="5394960" cy="1956816"/>
          </a:xfrm>
          <a:prstGeom prst="roundRect">
            <a:avLst>
              <a:gd name="adj" fmla="val 2804"/>
            </a:avLst>
          </a:prstGeom>
          <a:solidFill>
            <a:srgbClr val="F2F2EF"/>
          </a:solidFill>
          <a:ln w="12700">
            <a:solidFill>
              <a:srgbClr val="F2F2EF"/>
            </a:solidFill>
            <a:prstDash val="solid"/>
          </a:ln>
        </p:spPr>
      </p:sp>
      <p:sp>
        <p:nvSpPr>
          <p:cNvPr id="8" name="Text 6"/>
          <p:cNvSpPr txBox="1"/>
          <p:nvPr/>
        </p:nvSpPr>
        <p:spPr>
          <a:xfrm>
            <a:off x="6556248" y="1700784"/>
            <a:ext cx="4773168" cy="365760"/>
          </a:xfrm>
          <a:prstGeom prst="rect">
            <a:avLst/>
          </a:prstGeom>
          <a:noFill/>
          <a:ln/>
        </p:spPr>
        <p:txBody>
          <a:bodyPr wrap="square" lIns="0" tIns="0" rIns="0" bIns="0" rtlCol="0" anchor="ctr"/>
          <a:lstStyle/>
          <a:p>
            <a:pPr indent="0" marL="0">
              <a:buNone/>
            </a:pPr>
            <a:r>
              <a:rPr lang="en-US" sz="1800" b="1" dirty="0">
                <a:solidFill>
                  <a:srgbClr val="15181E"/>
                </a:solidFill>
                <a:latin typeface="Cambria" pitchFamily="34" charset="0"/>
                <a:ea typeface="Cambria" pitchFamily="34" charset="-122"/>
                <a:cs typeface="Cambria" pitchFamily="34" charset="-120"/>
              </a:rPr>
              <a:t>Who checks the answer</a:t>
            </a:r>
            <a:endParaRPr lang="en-US" sz="1800" dirty="0"/>
          </a:p>
        </p:txBody>
      </p:sp>
      <p:sp>
        <p:nvSpPr>
          <p:cNvPr id="9" name="Text 7"/>
          <p:cNvSpPr txBox="1"/>
          <p:nvPr/>
        </p:nvSpPr>
        <p:spPr>
          <a:xfrm>
            <a:off x="6556248" y="2139696"/>
            <a:ext cx="4773168" cy="1188720"/>
          </a:xfrm>
          <a:prstGeom prst="rect">
            <a:avLst/>
          </a:prstGeom>
          <a:noFill/>
          <a:ln/>
        </p:spPr>
        <p:txBody>
          <a:bodyPr wrap="square" lIns="0" tIns="0" rIns="0" bIns="0" rtlCol="0" anchor="t"/>
          <a:lstStyle/>
          <a:p>
            <a:pPr indent="0" marL="0">
              <a:lnSpc>
                <a:spcPct val="115000"/>
              </a:lnSpc>
              <a:buNone/>
            </a:pPr>
            <a:r>
              <a:rPr lang="en-US" sz="1150" dirty="0">
                <a:solidFill>
                  <a:srgbClr val="232833"/>
                </a:solidFill>
                <a:latin typeface="Calibri" pitchFamily="34" charset="0"/>
                <a:ea typeface="Calibri" pitchFamily="34" charset="-122"/>
                <a:cs typeface="Calibri" pitchFamily="34" charset="-120"/>
              </a:rPr>
              <a:t>Elastic gates every response on an engineer and Morgan Stanley routes findings through a person before a client sees them. Cerebras, Slack and Dropbox ship answers straight to the reader with citations attached.</a:t>
            </a:r>
            <a:endParaRPr lang="en-US" sz="1150" dirty="0"/>
          </a:p>
        </p:txBody>
      </p:sp>
      <p:sp>
        <p:nvSpPr>
          <p:cNvPr id="10" name="Shape 8"/>
          <p:cNvSpPr/>
          <p:nvPr/>
        </p:nvSpPr>
        <p:spPr>
          <a:xfrm>
            <a:off x="548640" y="3639312"/>
            <a:ext cx="5394960" cy="1956816"/>
          </a:xfrm>
          <a:prstGeom prst="roundRect">
            <a:avLst>
              <a:gd name="adj" fmla="val 2804"/>
            </a:avLst>
          </a:prstGeom>
          <a:solidFill>
            <a:srgbClr val="F2F2EF"/>
          </a:solidFill>
          <a:ln w="12700">
            <a:solidFill>
              <a:srgbClr val="F2F2EF"/>
            </a:solidFill>
            <a:prstDash val="solid"/>
          </a:ln>
        </p:spPr>
      </p:sp>
      <p:sp>
        <p:nvSpPr>
          <p:cNvPr id="11" name="Text 9"/>
          <p:cNvSpPr txBox="1"/>
          <p:nvPr/>
        </p:nvSpPr>
        <p:spPr>
          <a:xfrm>
            <a:off x="859536" y="3840480"/>
            <a:ext cx="4773168" cy="365760"/>
          </a:xfrm>
          <a:prstGeom prst="rect">
            <a:avLst/>
          </a:prstGeom>
          <a:noFill/>
          <a:ln/>
        </p:spPr>
        <p:txBody>
          <a:bodyPr wrap="square" lIns="0" tIns="0" rIns="0" bIns="0" rtlCol="0" anchor="ctr"/>
          <a:lstStyle/>
          <a:p>
            <a:pPr indent="0" marL="0">
              <a:buNone/>
            </a:pPr>
            <a:r>
              <a:rPr lang="en-US" sz="1800" b="1" dirty="0">
                <a:solidFill>
                  <a:srgbClr val="15181E"/>
                </a:solidFill>
                <a:latin typeface="Cambria" pitchFamily="34" charset="0"/>
                <a:ea typeface="Cambria" pitchFamily="34" charset="-122"/>
                <a:cs typeface="Cambria" pitchFamily="34" charset="-120"/>
              </a:rPr>
              <a:t>Reasoning in prose or in code</a:t>
            </a:r>
            <a:endParaRPr lang="en-US" sz="1800" dirty="0"/>
          </a:p>
        </p:txBody>
      </p:sp>
      <p:sp>
        <p:nvSpPr>
          <p:cNvPr id="12" name="Text 10"/>
          <p:cNvSpPr txBox="1"/>
          <p:nvPr/>
        </p:nvSpPr>
        <p:spPr>
          <a:xfrm>
            <a:off x="859536" y="4279392"/>
            <a:ext cx="4773168" cy="1188720"/>
          </a:xfrm>
          <a:prstGeom prst="rect">
            <a:avLst/>
          </a:prstGeom>
          <a:noFill/>
          <a:ln/>
        </p:spPr>
        <p:txBody>
          <a:bodyPr wrap="square" lIns="0" tIns="0" rIns="0" bIns="0" rtlCol="0" anchor="t"/>
          <a:lstStyle/>
          <a:p>
            <a:pPr indent="0" marL="0">
              <a:lnSpc>
                <a:spcPct val="115000"/>
              </a:lnSpc>
              <a:buNone/>
            </a:pPr>
            <a:r>
              <a:rPr lang="en-US" sz="1150" dirty="0">
                <a:solidFill>
                  <a:srgbClr val="232833"/>
                </a:solidFill>
                <a:latin typeface="Calibri" pitchFamily="34" charset="0"/>
                <a:ea typeface="Calibri" pitchFamily="34" charset="-122"/>
                <a:cs typeface="Calibri" pitchFamily="34" charset="-120"/>
              </a:rPr>
              <a:t>Dropbox alone refuses natural-language planning. Its planner emits a DSL run by an interpreter it wrote, so reasoning can be statically analysed and deterministically tested. Everyone else plans in prose.</a:t>
            </a:r>
            <a:endParaRPr lang="en-US" sz="1150" dirty="0"/>
          </a:p>
        </p:txBody>
      </p:sp>
      <p:sp>
        <p:nvSpPr>
          <p:cNvPr id="13" name="Shape 11"/>
          <p:cNvSpPr/>
          <p:nvPr/>
        </p:nvSpPr>
        <p:spPr>
          <a:xfrm>
            <a:off x="6245352" y="3639312"/>
            <a:ext cx="5394960" cy="1956816"/>
          </a:xfrm>
          <a:prstGeom prst="roundRect">
            <a:avLst>
              <a:gd name="adj" fmla="val 2804"/>
            </a:avLst>
          </a:prstGeom>
          <a:solidFill>
            <a:srgbClr val="F2F2EF"/>
          </a:solidFill>
          <a:ln w="12700">
            <a:solidFill>
              <a:srgbClr val="F2F2EF"/>
            </a:solidFill>
            <a:prstDash val="solid"/>
          </a:ln>
        </p:spPr>
      </p:sp>
      <p:sp>
        <p:nvSpPr>
          <p:cNvPr id="14" name="Text 12"/>
          <p:cNvSpPr txBox="1"/>
          <p:nvPr/>
        </p:nvSpPr>
        <p:spPr>
          <a:xfrm>
            <a:off x="6556248" y="3840480"/>
            <a:ext cx="4773168" cy="365760"/>
          </a:xfrm>
          <a:prstGeom prst="rect">
            <a:avLst/>
          </a:prstGeom>
          <a:noFill/>
          <a:ln/>
        </p:spPr>
        <p:txBody>
          <a:bodyPr wrap="square" lIns="0" tIns="0" rIns="0" bIns="0" rtlCol="0" anchor="ctr"/>
          <a:lstStyle/>
          <a:p>
            <a:pPr indent="0" marL="0">
              <a:buNone/>
            </a:pPr>
            <a:r>
              <a:rPr lang="en-US" sz="1800" b="1" dirty="0">
                <a:solidFill>
                  <a:srgbClr val="15181E"/>
                </a:solidFill>
                <a:latin typeface="Cambria" pitchFamily="34" charset="0"/>
                <a:ea typeface="Cambria" pitchFamily="34" charset="-122"/>
                <a:cs typeface="Cambria" pitchFamily="34" charset="-120"/>
              </a:rPr>
              <a:t>One surface or many</a:t>
            </a:r>
            <a:endParaRPr lang="en-US" sz="1800" dirty="0"/>
          </a:p>
        </p:txBody>
      </p:sp>
      <p:sp>
        <p:nvSpPr>
          <p:cNvPr id="15" name="Text 13"/>
          <p:cNvSpPr txBox="1"/>
          <p:nvPr/>
        </p:nvSpPr>
        <p:spPr>
          <a:xfrm>
            <a:off x="6556248" y="4279392"/>
            <a:ext cx="4773168" cy="1188720"/>
          </a:xfrm>
          <a:prstGeom prst="rect">
            <a:avLst/>
          </a:prstGeom>
          <a:noFill/>
          <a:ln/>
        </p:spPr>
        <p:txBody>
          <a:bodyPr wrap="square" lIns="0" tIns="0" rIns="0" bIns="0" rtlCol="0" anchor="t"/>
          <a:lstStyle/>
          <a:p>
            <a:pPr indent="0" marL="0">
              <a:lnSpc>
                <a:spcPct val="115000"/>
              </a:lnSpc>
              <a:buNone/>
            </a:pPr>
            <a:r>
              <a:rPr lang="en-US" sz="1150" dirty="0">
                <a:solidFill>
                  <a:srgbClr val="232833"/>
                </a:solidFill>
                <a:latin typeface="Calibri" pitchFamily="34" charset="0"/>
                <a:ea typeface="Calibri" pitchFamily="34" charset="-122"/>
                <a:cs typeface="Calibri" pitchFamily="34" charset="-120"/>
              </a:rPr>
              <a:t>Uber ships a Slack bot and nothing else. Slack runs four surfaces, and Stripe embeds itself inside third-party tools. Cerebras exposes primitives over MCP and lets the agent be the surface.</a:t>
            </a:r>
            <a:endParaRPr lang="en-US" sz="1150" dirty="0"/>
          </a:p>
        </p:txBody>
      </p:sp>
      <p:sp>
        <p:nvSpPr>
          <p:cNvPr id="16" name="Text 14"/>
          <p:cNvSpPr txBox="1"/>
          <p:nvPr/>
        </p:nvSpPr>
        <p:spPr>
          <a:xfrm>
            <a:off x="548640" y="5870448"/>
            <a:ext cx="11091672" cy="365760"/>
          </a:xfrm>
          <a:prstGeom prst="rect">
            <a:avLst/>
          </a:prstGeom>
          <a:noFill/>
          <a:ln/>
        </p:spPr>
        <p:txBody>
          <a:bodyPr wrap="square" lIns="0" tIns="0" rIns="0" bIns="0" rtlCol="0" anchor="ctr"/>
          <a:lstStyle/>
          <a:p>
            <a:pPr indent="0" marL="0">
              <a:buNone/>
            </a:pPr>
            <a:r>
              <a:rPr lang="en-US" sz="1250" i="1" dirty="0">
                <a:solidFill>
                  <a:srgbClr val="6E7480"/>
                </a:solidFill>
                <a:latin typeface="Calibri" pitchFamily="34" charset="0"/>
                <a:ea typeface="Calibri" pitchFamily="34" charset="-122"/>
                <a:cs typeface="Calibri" pitchFamily="34" charset="-120"/>
              </a:rPr>
              <a:t>Note what does not vary: the store, the retrieval strategy, and the refusal to fine-tune.</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5181E"/>
        </a:solidFill>
      </p:bgPr>
    </p:bg>
    <p:spTree>
      <p:nvGrpSpPr>
        <p:cNvPr id="1" name=""/>
        <p:cNvGrpSpPr/>
        <p:nvPr/>
      </p:nvGrpSpPr>
      <p:grpSpPr>
        <a:xfrm>
          <a:off x="0" y="0"/>
          <a:ext cx="0" cy="0"/>
          <a:chOff x="0" y="0"/>
          <a:chExt cx="0" cy="0"/>
        </a:xfrm>
      </p:grpSpPr>
      <p:sp>
        <p:nvSpPr>
          <p:cNvPr id="2" name="Text 0"/>
          <p:cNvSpPr txBox="1"/>
          <p:nvPr/>
        </p:nvSpPr>
        <p:spPr>
          <a:xfrm>
            <a:off x="548640" y="329184"/>
            <a:ext cx="10058400" cy="548640"/>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Why the differences fall where they do</a:t>
            </a:r>
            <a:endParaRPr lang="en-US" sz="3100" dirty="0"/>
          </a:p>
        </p:txBody>
      </p:sp>
      <p:sp>
        <p:nvSpPr>
          <p:cNvPr id="3" name="Text 1"/>
          <p:cNvSpPr txBox="1"/>
          <p:nvPr/>
        </p:nvSpPr>
        <p:spPr>
          <a:xfrm>
            <a:off x="548640" y="914400"/>
            <a:ext cx="10607040" cy="329184"/>
          </a:xfrm>
          <a:prstGeom prst="rect">
            <a:avLst/>
          </a:prstGeom>
          <a:noFill/>
          <a:ln/>
        </p:spPr>
        <p:txBody>
          <a:bodyPr wrap="square" lIns="0" tIns="0" rIns="0" bIns="0" rtlCol="0" anchor="ctr"/>
          <a:lstStyle/>
          <a:p>
            <a:pPr indent="0" marL="0">
              <a:buNone/>
            </a:pPr>
            <a:r>
              <a:rPr lang="en-US" sz="1450" dirty="0">
                <a:solidFill>
                  <a:srgbClr val="A8AEBB"/>
                </a:solidFill>
                <a:latin typeface="Calibri" pitchFamily="34" charset="0"/>
                <a:ea typeface="Calibri" pitchFamily="34" charset="-122"/>
                <a:cs typeface="Calibri" pitchFamily="34" charset="-120"/>
              </a:rPr>
              <a:t>One variable explains almost all of it: who reads the output, and what a wrong answer costs them.</a:t>
            </a:r>
            <a:endParaRPr lang="en-US" sz="1450" dirty="0"/>
          </a:p>
        </p:txBody>
      </p:sp>
      <p:sp>
        <p:nvSpPr>
          <p:cNvPr id="4" name="Shape 2"/>
          <p:cNvSpPr/>
          <p:nvPr/>
        </p:nvSpPr>
        <p:spPr>
          <a:xfrm>
            <a:off x="1234440" y="1572768"/>
            <a:ext cx="6766560" cy="4160520"/>
          </a:xfrm>
          <a:prstGeom prst="rect">
            <a:avLst/>
          </a:prstGeom>
          <a:solidFill>
            <a:srgbClr val="232833"/>
          </a:solidFill>
          <a:ln w="12700">
            <a:solidFill>
              <a:srgbClr val="2A2F3A"/>
            </a:solidFill>
            <a:prstDash val="solid"/>
          </a:ln>
        </p:spPr>
      </p:sp>
      <p:sp>
        <p:nvSpPr>
          <p:cNvPr id="5" name="Shape 3"/>
          <p:cNvSpPr/>
          <p:nvPr/>
        </p:nvSpPr>
        <p:spPr>
          <a:xfrm>
            <a:off x="1234440" y="3653028"/>
            <a:ext cx="6766560" cy="10973"/>
          </a:xfrm>
          <a:prstGeom prst="rect">
            <a:avLst/>
          </a:prstGeom>
          <a:solidFill>
            <a:srgbClr val="2A2F3A"/>
          </a:solidFill>
          <a:ln w="12700">
            <a:solidFill>
              <a:srgbClr val="2A2F3A"/>
            </a:solidFill>
            <a:prstDash val="solid"/>
          </a:ln>
        </p:spPr>
      </p:sp>
      <p:sp>
        <p:nvSpPr>
          <p:cNvPr id="6" name="Shape 4"/>
          <p:cNvSpPr/>
          <p:nvPr/>
        </p:nvSpPr>
        <p:spPr>
          <a:xfrm>
            <a:off x="4617720" y="1572768"/>
            <a:ext cx="10973" cy="4160520"/>
          </a:xfrm>
          <a:prstGeom prst="rect">
            <a:avLst/>
          </a:prstGeom>
          <a:solidFill>
            <a:srgbClr val="2A2F3A"/>
          </a:solidFill>
          <a:ln w="12700">
            <a:solidFill>
              <a:srgbClr val="2A2F3A"/>
            </a:solidFill>
            <a:prstDash val="solid"/>
          </a:ln>
        </p:spPr>
      </p:sp>
      <p:sp>
        <p:nvSpPr>
          <p:cNvPr id="7" name="Text 5"/>
          <p:cNvSpPr txBox="1"/>
          <p:nvPr/>
        </p:nvSpPr>
        <p:spPr>
          <a:xfrm>
            <a:off x="612648" y="1572768"/>
            <a:ext cx="384048" cy="4160520"/>
          </a:xfrm>
          <a:prstGeom prst="rect">
            <a:avLst/>
          </a:prstGeom>
          <a:noFill/>
          <a:ln/>
        </p:spPr>
        <p:txBody>
          <a:bodyPr wrap="square" lIns="0" tIns="0" rIns="0" bIns="0" rtlCol="0" anchor="ctr" vert="vert270"/>
          <a:lstStyle/>
          <a:p>
            <a:pPr algn="ctr" indent="0" marL="0">
              <a:buNone/>
            </a:pPr>
            <a:r>
              <a:rPr lang="en-US" sz="900" b="1" spc="160" kern="0" dirty="0">
                <a:solidFill>
                  <a:srgbClr val="A8AEBB"/>
                </a:solidFill>
                <a:latin typeface="Calibri" pitchFamily="34" charset="0"/>
                <a:ea typeface="Calibri" pitchFamily="34" charset="-122"/>
                <a:cs typeface="Calibri" pitchFamily="34" charset="-120"/>
              </a:rPr>
              <a:t>COST OF A WRONG ANSWER   low  to  high</a:t>
            </a:r>
            <a:endParaRPr lang="en-US" sz="900" dirty="0"/>
          </a:p>
        </p:txBody>
      </p:sp>
      <p:sp>
        <p:nvSpPr>
          <p:cNvPr id="8" name="Text 6"/>
          <p:cNvSpPr txBox="1"/>
          <p:nvPr/>
        </p:nvSpPr>
        <p:spPr>
          <a:xfrm>
            <a:off x="1234440" y="5843016"/>
            <a:ext cx="6766560" cy="274320"/>
          </a:xfrm>
          <a:prstGeom prst="rect">
            <a:avLst/>
          </a:prstGeom>
          <a:noFill/>
          <a:ln/>
        </p:spPr>
        <p:txBody>
          <a:bodyPr wrap="square" lIns="0" tIns="0" rIns="0" bIns="0" rtlCol="0" anchor="ctr"/>
          <a:lstStyle/>
          <a:p>
            <a:pPr algn="ctr" indent="0" marL="0">
              <a:buNone/>
            </a:pPr>
            <a:r>
              <a:rPr lang="en-US" sz="900" b="1" spc="160" kern="0" dirty="0">
                <a:solidFill>
                  <a:srgbClr val="A8AEBB"/>
                </a:solidFill>
                <a:latin typeface="Calibri" pitchFamily="34" charset="0"/>
                <a:ea typeface="Calibri" pitchFamily="34" charset="-122"/>
                <a:cs typeface="Calibri" pitchFamily="34" charset="-120"/>
              </a:rPr>
              <a:t>WHO READS THE OUTPUT   internal  to  external</a:t>
            </a:r>
            <a:endParaRPr lang="en-US" sz="900" dirty="0"/>
          </a:p>
        </p:txBody>
      </p:sp>
      <p:sp>
        <p:nvSpPr>
          <p:cNvPr id="9" name="Shape 7"/>
          <p:cNvSpPr/>
          <p:nvPr/>
        </p:nvSpPr>
        <p:spPr>
          <a:xfrm>
            <a:off x="2031797" y="5234940"/>
            <a:ext cx="164592" cy="164592"/>
          </a:xfrm>
          <a:prstGeom prst="ellipse">
            <a:avLst/>
          </a:prstGeom>
          <a:solidFill>
            <a:srgbClr val="C0761A"/>
          </a:solidFill>
          <a:ln/>
        </p:spPr>
      </p:sp>
      <p:sp>
        <p:nvSpPr>
          <p:cNvPr id="10" name="Text 8"/>
          <p:cNvSpPr txBox="1"/>
          <p:nvPr/>
        </p:nvSpPr>
        <p:spPr>
          <a:xfrm>
            <a:off x="2260397" y="5189220"/>
            <a:ext cx="1737360" cy="256032"/>
          </a:xfrm>
          <a:prstGeom prst="rect">
            <a:avLst/>
          </a:prstGeom>
          <a:noFill/>
          <a:ln/>
        </p:spPr>
        <p:txBody>
          <a:bodyPr wrap="square" lIns="0" tIns="0" rIns="0" bIns="0" rtlCol="0" anchor="ctr"/>
          <a:lstStyle/>
          <a:p>
            <a:pPr algn="l" indent="0" marL="0">
              <a:buNone/>
            </a:pPr>
            <a:r>
              <a:rPr lang="en-US" sz="1100" b="1" dirty="0">
                <a:solidFill>
                  <a:srgbClr val="FFFFFF"/>
                </a:solidFill>
                <a:latin typeface="Calibri" pitchFamily="34" charset="0"/>
                <a:ea typeface="Calibri" pitchFamily="34" charset="-122"/>
                <a:cs typeface="Calibri" pitchFamily="34" charset="-120"/>
              </a:rPr>
              <a:t>Cerebras</a:t>
            </a:r>
            <a:endParaRPr lang="en-US" sz="1100" dirty="0"/>
          </a:p>
        </p:txBody>
      </p:sp>
      <p:sp>
        <p:nvSpPr>
          <p:cNvPr id="11" name="Shape 9"/>
          <p:cNvSpPr/>
          <p:nvPr/>
        </p:nvSpPr>
        <p:spPr>
          <a:xfrm>
            <a:off x="3046781" y="4818888"/>
            <a:ext cx="164592" cy="164592"/>
          </a:xfrm>
          <a:prstGeom prst="ellipse">
            <a:avLst/>
          </a:prstGeom>
          <a:solidFill>
            <a:srgbClr val="C0761A"/>
          </a:solidFill>
          <a:ln/>
        </p:spPr>
      </p:sp>
      <p:sp>
        <p:nvSpPr>
          <p:cNvPr id="12" name="Text 10"/>
          <p:cNvSpPr txBox="1"/>
          <p:nvPr/>
        </p:nvSpPr>
        <p:spPr>
          <a:xfrm>
            <a:off x="3275381" y="4773168"/>
            <a:ext cx="1737360" cy="256032"/>
          </a:xfrm>
          <a:prstGeom prst="rect">
            <a:avLst/>
          </a:prstGeom>
          <a:noFill/>
          <a:ln/>
        </p:spPr>
        <p:txBody>
          <a:bodyPr wrap="square" lIns="0" tIns="0" rIns="0" bIns="0" rtlCol="0" anchor="ctr"/>
          <a:lstStyle/>
          <a:p>
            <a:pPr algn="l" indent="0" marL="0">
              <a:buNone/>
            </a:pPr>
            <a:r>
              <a:rPr lang="en-US" sz="1100" b="1" dirty="0">
                <a:solidFill>
                  <a:srgbClr val="FFFFFF"/>
                </a:solidFill>
                <a:latin typeface="Calibri" pitchFamily="34" charset="0"/>
                <a:ea typeface="Calibri" pitchFamily="34" charset="-122"/>
                <a:cs typeface="Calibri" pitchFamily="34" charset="-120"/>
              </a:rPr>
              <a:t>Slack</a:t>
            </a:r>
            <a:endParaRPr lang="en-US" sz="1100" dirty="0"/>
          </a:p>
        </p:txBody>
      </p:sp>
      <p:sp>
        <p:nvSpPr>
          <p:cNvPr id="13" name="Shape 11"/>
          <p:cNvSpPr/>
          <p:nvPr/>
        </p:nvSpPr>
        <p:spPr>
          <a:xfrm>
            <a:off x="2505456" y="3820363"/>
            <a:ext cx="164592" cy="164592"/>
          </a:xfrm>
          <a:prstGeom prst="ellipse">
            <a:avLst/>
          </a:prstGeom>
          <a:solidFill>
            <a:srgbClr val="C0761A"/>
          </a:solidFill>
          <a:ln/>
        </p:spPr>
      </p:sp>
      <p:sp>
        <p:nvSpPr>
          <p:cNvPr id="14" name="Text 12"/>
          <p:cNvSpPr txBox="1"/>
          <p:nvPr/>
        </p:nvSpPr>
        <p:spPr>
          <a:xfrm>
            <a:off x="2734056" y="3774643"/>
            <a:ext cx="1737360" cy="256032"/>
          </a:xfrm>
          <a:prstGeom prst="rect">
            <a:avLst/>
          </a:prstGeom>
          <a:noFill/>
          <a:ln/>
        </p:spPr>
        <p:txBody>
          <a:bodyPr wrap="square" lIns="0" tIns="0" rIns="0" bIns="0" rtlCol="0" anchor="ctr"/>
          <a:lstStyle/>
          <a:p>
            <a:pPr algn="l" indent="0" marL="0">
              <a:buNone/>
            </a:pPr>
            <a:r>
              <a:rPr lang="en-US" sz="1100" b="1" dirty="0">
                <a:solidFill>
                  <a:srgbClr val="FFFFFF"/>
                </a:solidFill>
                <a:latin typeface="Calibri" pitchFamily="34" charset="0"/>
                <a:ea typeface="Calibri" pitchFamily="34" charset="-122"/>
                <a:cs typeface="Calibri" pitchFamily="34" charset="-120"/>
              </a:rPr>
              <a:t>Uber</a:t>
            </a:r>
            <a:endParaRPr lang="en-US" sz="1100" dirty="0"/>
          </a:p>
        </p:txBody>
      </p:sp>
      <p:sp>
        <p:nvSpPr>
          <p:cNvPr id="15" name="Shape 13"/>
          <p:cNvSpPr/>
          <p:nvPr/>
        </p:nvSpPr>
        <p:spPr>
          <a:xfrm>
            <a:off x="3994099" y="3362706"/>
            <a:ext cx="164592" cy="164592"/>
          </a:xfrm>
          <a:prstGeom prst="ellipse">
            <a:avLst/>
          </a:prstGeom>
          <a:solidFill>
            <a:srgbClr val="C0761A"/>
          </a:solidFill>
          <a:ln/>
        </p:spPr>
      </p:sp>
      <p:sp>
        <p:nvSpPr>
          <p:cNvPr id="16" name="Text 14"/>
          <p:cNvSpPr txBox="1"/>
          <p:nvPr/>
        </p:nvSpPr>
        <p:spPr>
          <a:xfrm>
            <a:off x="4222699" y="3316986"/>
            <a:ext cx="1737360" cy="256032"/>
          </a:xfrm>
          <a:prstGeom prst="rect">
            <a:avLst/>
          </a:prstGeom>
          <a:noFill/>
          <a:ln/>
        </p:spPr>
        <p:txBody>
          <a:bodyPr wrap="square" lIns="0" tIns="0" rIns="0" bIns="0" rtlCol="0" anchor="ctr"/>
          <a:lstStyle/>
          <a:p>
            <a:pPr algn="l" indent="0" marL="0">
              <a:buNone/>
            </a:pPr>
            <a:r>
              <a:rPr lang="en-US" sz="1100" b="1" dirty="0">
                <a:solidFill>
                  <a:srgbClr val="FFFFFF"/>
                </a:solidFill>
                <a:latin typeface="Calibri" pitchFamily="34" charset="0"/>
                <a:ea typeface="Calibri" pitchFamily="34" charset="-122"/>
                <a:cs typeface="Calibri" pitchFamily="34" charset="-120"/>
              </a:rPr>
              <a:t>Stripe</a:t>
            </a:r>
            <a:endParaRPr lang="en-US" sz="1100" dirty="0"/>
          </a:p>
        </p:txBody>
      </p:sp>
      <p:sp>
        <p:nvSpPr>
          <p:cNvPr id="17" name="Shape 15"/>
          <p:cNvSpPr/>
          <p:nvPr/>
        </p:nvSpPr>
        <p:spPr>
          <a:xfrm>
            <a:off x="3182112" y="2655418"/>
            <a:ext cx="164592" cy="164592"/>
          </a:xfrm>
          <a:prstGeom prst="ellipse">
            <a:avLst/>
          </a:prstGeom>
          <a:solidFill>
            <a:srgbClr val="A8AEBB"/>
          </a:solidFill>
          <a:ln/>
        </p:spPr>
      </p:sp>
      <p:sp>
        <p:nvSpPr>
          <p:cNvPr id="18" name="Text 16"/>
          <p:cNvSpPr txBox="1"/>
          <p:nvPr/>
        </p:nvSpPr>
        <p:spPr>
          <a:xfrm>
            <a:off x="3410712" y="2609698"/>
            <a:ext cx="1737360" cy="256032"/>
          </a:xfrm>
          <a:prstGeom prst="rect">
            <a:avLst/>
          </a:prstGeom>
          <a:noFill/>
          <a:ln/>
        </p:spPr>
        <p:txBody>
          <a:bodyPr wrap="square" lIns="0" tIns="0" rIns="0" bIns="0" rtlCol="0" anchor="ctr"/>
          <a:lstStyle/>
          <a:p>
            <a:pPr algn="l" indent="0" marL="0">
              <a:buNone/>
            </a:pPr>
            <a:r>
              <a:rPr lang="en-US" sz="1100" b="1" dirty="0">
                <a:solidFill>
                  <a:srgbClr val="FFFFFF"/>
                </a:solidFill>
                <a:latin typeface="Calibri" pitchFamily="34" charset="0"/>
                <a:ea typeface="Calibri" pitchFamily="34" charset="-122"/>
                <a:cs typeface="Calibri" pitchFamily="34" charset="-120"/>
              </a:rPr>
              <a:t>JPMorgan</a:t>
            </a:r>
            <a:endParaRPr lang="en-US" sz="1100" dirty="0"/>
          </a:p>
        </p:txBody>
      </p:sp>
      <p:sp>
        <p:nvSpPr>
          <p:cNvPr id="19" name="Shape 17"/>
          <p:cNvSpPr/>
          <p:nvPr/>
        </p:nvSpPr>
        <p:spPr>
          <a:xfrm>
            <a:off x="6159398" y="3737153"/>
            <a:ext cx="164592" cy="164592"/>
          </a:xfrm>
          <a:prstGeom prst="ellipse">
            <a:avLst/>
          </a:prstGeom>
          <a:solidFill>
            <a:srgbClr val="1F6F6B"/>
          </a:solidFill>
          <a:ln/>
        </p:spPr>
      </p:sp>
      <p:sp>
        <p:nvSpPr>
          <p:cNvPr id="20" name="Text 18"/>
          <p:cNvSpPr txBox="1"/>
          <p:nvPr/>
        </p:nvSpPr>
        <p:spPr>
          <a:xfrm>
            <a:off x="4367174" y="3691433"/>
            <a:ext cx="1737360" cy="256032"/>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Dropbox</a:t>
            </a:r>
            <a:endParaRPr lang="en-US" sz="1100" dirty="0"/>
          </a:p>
        </p:txBody>
      </p:sp>
      <p:sp>
        <p:nvSpPr>
          <p:cNvPr id="21" name="Shape 19"/>
          <p:cNvSpPr/>
          <p:nvPr/>
        </p:nvSpPr>
        <p:spPr>
          <a:xfrm>
            <a:off x="6565392" y="2322576"/>
            <a:ext cx="164592" cy="164592"/>
          </a:xfrm>
          <a:prstGeom prst="ellipse">
            <a:avLst/>
          </a:prstGeom>
          <a:solidFill>
            <a:srgbClr val="8E3350"/>
          </a:solidFill>
          <a:ln/>
        </p:spPr>
      </p:sp>
      <p:sp>
        <p:nvSpPr>
          <p:cNvPr id="22" name="Text 20"/>
          <p:cNvSpPr txBox="1"/>
          <p:nvPr/>
        </p:nvSpPr>
        <p:spPr>
          <a:xfrm>
            <a:off x="4773168" y="2276856"/>
            <a:ext cx="1737360" cy="256032"/>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Elastic</a:t>
            </a:r>
            <a:endParaRPr lang="en-US" sz="1100" dirty="0"/>
          </a:p>
        </p:txBody>
      </p:sp>
      <p:sp>
        <p:nvSpPr>
          <p:cNvPr id="23" name="Shape 21"/>
          <p:cNvSpPr/>
          <p:nvPr/>
        </p:nvSpPr>
        <p:spPr>
          <a:xfrm>
            <a:off x="6971386" y="1781708"/>
            <a:ext cx="164592" cy="164592"/>
          </a:xfrm>
          <a:prstGeom prst="ellipse">
            <a:avLst/>
          </a:prstGeom>
          <a:solidFill>
            <a:srgbClr val="8E3350"/>
          </a:solidFill>
          <a:ln/>
        </p:spPr>
      </p:sp>
      <p:sp>
        <p:nvSpPr>
          <p:cNvPr id="24" name="Text 22"/>
          <p:cNvSpPr txBox="1"/>
          <p:nvPr/>
        </p:nvSpPr>
        <p:spPr>
          <a:xfrm>
            <a:off x="5179162" y="1735988"/>
            <a:ext cx="1737360" cy="256032"/>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Morgan Stanley</a:t>
            </a:r>
            <a:endParaRPr lang="en-US" sz="1100" dirty="0"/>
          </a:p>
        </p:txBody>
      </p:sp>
      <p:sp>
        <p:nvSpPr>
          <p:cNvPr id="25" name="Shape 23"/>
          <p:cNvSpPr/>
          <p:nvPr/>
        </p:nvSpPr>
        <p:spPr>
          <a:xfrm>
            <a:off x="8366760" y="1636776"/>
            <a:ext cx="155448" cy="155448"/>
          </a:xfrm>
          <a:prstGeom prst="ellipse">
            <a:avLst/>
          </a:prstGeom>
          <a:solidFill>
            <a:srgbClr val="8E3350"/>
          </a:solidFill>
          <a:ln/>
        </p:spPr>
      </p:sp>
      <p:sp>
        <p:nvSpPr>
          <p:cNvPr id="26" name="Text 24"/>
          <p:cNvSpPr txBox="1"/>
          <p:nvPr/>
        </p:nvSpPr>
        <p:spPr>
          <a:xfrm>
            <a:off x="8659368" y="1554480"/>
            <a:ext cx="2980944" cy="310896"/>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High cost, external reader</a:t>
            </a:r>
            <a:endParaRPr lang="en-US" sz="1350" dirty="0"/>
          </a:p>
        </p:txBody>
      </p:sp>
      <p:sp>
        <p:nvSpPr>
          <p:cNvPr id="27" name="Text 25"/>
          <p:cNvSpPr txBox="1"/>
          <p:nvPr/>
        </p:nvSpPr>
        <p:spPr>
          <a:xfrm>
            <a:off x="8659368" y="1901952"/>
            <a:ext cx="2980944" cy="1005840"/>
          </a:xfrm>
          <a:prstGeom prst="rect">
            <a:avLst/>
          </a:prstGeom>
          <a:noFill/>
          <a:ln/>
        </p:spPr>
        <p:txBody>
          <a:bodyPr wrap="square" lIns="0" tIns="0" rIns="0" bIns="0" rtlCol="0" anchor="t"/>
          <a:lstStyle/>
          <a:p>
            <a:pPr indent="0" marL="0">
              <a:lnSpc>
                <a:spcPct val="115000"/>
              </a:lnSpc>
              <a:buNone/>
            </a:pPr>
            <a:r>
              <a:rPr lang="en-US" sz="1150" dirty="0">
                <a:solidFill>
                  <a:srgbClr val="A8AEBB"/>
                </a:solidFill>
                <a:latin typeface="Calibri" pitchFamily="34" charset="0"/>
                <a:ea typeface="Calibri" pitchFamily="34" charset="-122"/>
                <a:cs typeface="Calibri" pitchFamily="34" charset="-120"/>
              </a:rPr>
              <a:t>Elastic and Morgan Stanley put a person in front of the customer. Not from doubt about the model, but because accountability cannot be handed to one.</a:t>
            </a:r>
            <a:endParaRPr lang="en-US" sz="1150" dirty="0"/>
          </a:p>
        </p:txBody>
      </p:sp>
      <p:sp>
        <p:nvSpPr>
          <p:cNvPr id="28" name="Shape 26"/>
          <p:cNvSpPr/>
          <p:nvPr/>
        </p:nvSpPr>
        <p:spPr>
          <a:xfrm>
            <a:off x="8366760" y="2990088"/>
            <a:ext cx="155448" cy="155448"/>
          </a:xfrm>
          <a:prstGeom prst="ellipse">
            <a:avLst/>
          </a:prstGeom>
          <a:solidFill>
            <a:srgbClr val="1F6F6B"/>
          </a:solidFill>
          <a:ln/>
        </p:spPr>
      </p:sp>
      <p:sp>
        <p:nvSpPr>
          <p:cNvPr id="29" name="Text 27"/>
          <p:cNvSpPr txBox="1"/>
          <p:nvPr/>
        </p:nvSpPr>
        <p:spPr>
          <a:xfrm>
            <a:off x="8659368" y="2907792"/>
            <a:ext cx="2980944" cy="310896"/>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The product exception</a:t>
            </a:r>
            <a:endParaRPr lang="en-US" sz="1350" dirty="0"/>
          </a:p>
        </p:txBody>
      </p:sp>
      <p:sp>
        <p:nvSpPr>
          <p:cNvPr id="30" name="Text 28"/>
          <p:cNvSpPr txBox="1"/>
          <p:nvPr/>
        </p:nvSpPr>
        <p:spPr>
          <a:xfrm>
            <a:off x="8659368" y="3255264"/>
            <a:ext cx="2980944" cy="1005840"/>
          </a:xfrm>
          <a:prstGeom prst="rect">
            <a:avLst/>
          </a:prstGeom>
          <a:noFill/>
          <a:ln/>
        </p:spPr>
        <p:txBody>
          <a:bodyPr wrap="square" lIns="0" tIns="0" rIns="0" bIns="0" rtlCol="0" anchor="t"/>
          <a:lstStyle/>
          <a:p>
            <a:pPr indent="0" marL="0">
              <a:lnSpc>
                <a:spcPct val="115000"/>
              </a:lnSpc>
              <a:buNone/>
            </a:pPr>
            <a:r>
              <a:rPr lang="en-US" sz="1150" dirty="0">
                <a:solidFill>
                  <a:srgbClr val="A8AEBB"/>
                </a:solidFill>
                <a:latin typeface="Calibri" pitchFamily="34" charset="0"/>
                <a:ea typeface="Calibri" pitchFamily="34" charset="-122"/>
                <a:cs typeface="Calibri" pitchFamily="34" charset="-120"/>
              </a:rPr>
              <a:t>Dropbox faces external users but cannot staff a reviewer per query, so it engineers the audit instead: a readable code plan and a hardened interpreter.</a:t>
            </a:r>
            <a:endParaRPr lang="en-US" sz="1150" dirty="0"/>
          </a:p>
        </p:txBody>
      </p:sp>
      <p:sp>
        <p:nvSpPr>
          <p:cNvPr id="31" name="Shape 29"/>
          <p:cNvSpPr/>
          <p:nvPr/>
        </p:nvSpPr>
        <p:spPr>
          <a:xfrm>
            <a:off x="8366760" y="4343400"/>
            <a:ext cx="155448" cy="155448"/>
          </a:xfrm>
          <a:prstGeom prst="ellipse">
            <a:avLst/>
          </a:prstGeom>
          <a:solidFill>
            <a:srgbClr val="C0761A"/>
          </a:solidFill>
          <a:ln/>
        </p:spPr>
      </p:sp>
      <p:sp>
        <p:nvSpPr>
          <p:cNvPr id="32" name="Text 30"/>
          <p:cNvSpPr txBox="1"/>
          <p:nvPr/>
        </p:nvSpPr>
        <p:spPr>
          <a:xfrm>
            <a:off x="8659368" y="4261104"/>
            <a:ext cx="2980944" cy="310896"/>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Low cost, internal reader</a:t>
            </a:r>
            <a:endParaRPr lang="en-US" sz="1350" dirty="0"/>
          </a:p>
        </p:txBody>
      </p:sp>
      <p:sp>
        <p:nvSpPr>
          <p:cNvPr id="33" name="Text 31"/>
          <p:cNvSpPr txBox="1"/>
          <p:nvPr/>
        </p:nvSpPr>
        <p:spPr>
          <a:xfrm>
            <a:off x="8659368" y="4608576"/>
            <a:ext cx="2980944" cy="1005840"/>
          </a:xfrm>
          <a:prstGeom prst="rect">
            <a:avLst/>
          </a:prstGeom>
          <a:noFill/>
          <a:ln/>
        </p:spPr>
        <p:txBody>
          <a:bodyPr wrap="square" lIns="0" tIns="0" rIns="0" bIns="0" rtlCol="0" anchor="t"/>
          <a:lstStyle/>
          <a:p>
            <a:pPr indent="0" marL="0">
              <a:lnSpc>
                <a:spcPct val="115000"/>
              </a:lnSpc>
              <a:buNone/>
            </a:pPr>
            <a:r>
              <a:rPr lang="en-US" sz="1150" dirty="0">
                <a:solidFill>
                  <a:srgbClr val="A8AEBB"/>
                </a:solidFill>
                <a:latin typeface="Calibri" pitchFamily="34" charset="0"/>
                <a:ea typeface="Calibri" pitchFamily="34" charset="-122"/>
                <a:cs typeface="Calibri" pitchFamily="34" charset="-120"/>
              </a:rPr>
              <a:t>Cerebras, Slack, Uber and Stripe optimise for throughput. The reader is a colleague who will spot a wrong answer, and at 15,000 questions a day review does not scale.</a:t>
            </a:r>
            <a:endParaRPr lang="en-US" sz="1150" dirty="0"/>
          </a:p>
        </p:txBody>
      </p:sp>
      <p:sp>
        <p:nvSpPr>
          <p:cNvPr id="34" name="Shape 32"/>
          <p:cNvSpPr/>
          <p:nvPr/>
        </p:nvSpPr>
        <p:spPr>
          <a:xfrm>
            <a:off x="8366760" y="5605272"/>
            <a:ext cx="146304" cy="146304"/>
          </a:xfrm>
          <a:prstGeom prst="ellipse">
            <a:avLst/>
          </a:prstGeom>
          <a:solidFill>
            <a:srgbClr val="A8AEBB"/>
          </a:solidFill>
          <a:ln/>
        </p:spPr>
      </p:sp>
      <p:sp>
        <p:nvSpPr>
          <p:cNvPr id="35" name="Text 33"/>
          <p:cNvSpPr txBox="1"/>
          <p:nvPr/>
        </p:nvSpPr>
        <p:spPr>
          <a:xfrm>
            <a:off x="8641080" y="5522976"/>
            <a:ext cx="2999232" cy="402336"/>
          </a:xfrm>
          <a:prstGeom prst="rect">
            <a:avLst/>
          </a:prstGeom>
          <a:noFill/>
          <a:ln/>
        </p:spPr>
        <p:txBody>
          <a:bodyPr wrap="square" lIns="0" tIns="0" rIns="0" bIns="0" rtlCol="0" anchor="t"/>
          <a:lstStyle/>
          <a:p>
            <a:pPr indent="0" marL="0">
              <a:lnSpc>
                <a:spcPct val="110000"/>
              </a:lnSpc>
              <a:buNone/>
            </a:pPr>
            <a:r>
              <a:rPr lang="en-US" sz="1000" dirty="0">
                <a:solidFill>
                  <a:srgbClr val="A8AEBB"/>
                </a:solidFill>
                <a:latin typeface="Calibri" pitchFamily="34" charset="0"/>
                <a:ea typeface="Calibri" pitchFamily="34" charset="-122"/>
                <a:cs typeface="Calibri" pitchFamily="34" charset="-120"/>
              </a:rPr>
              <a:t>JPMorgan is grey: with no published architecture, its position is inferred from user counts alone.</a:t>
            </a:r>
            <a:endParaRPr lang="en-US" sz="1000" dirty="0"/>
          </a:p>
        </p:txBody>
      </p:sp>
      <p:sp>
        <p:nvSpPr>
          <p:cNvPr id="36" name="Text 34"/>
          <p:cNvSpPr txBox="1"/>
          <p:nvPr/>
        </p:nvSpPr>
        <p:spPr>
          <a:xfrm>
            <a:off x="8366760" y="5998464"/>
            <a:ext cx="3273552" cy="640080"/>
          </a:xfrm>
          <a:prstGeom prst="rect">
            <a:avLst/>
          </a:prstGeom>
          <a:noFill/>
          <a:ln/>
        </p:spPr>
        <p:txBody>
          <a:bodyPr wrap="square" lIns="0" tIns="0" rIns="0" bIns="0" rtlCol="0" anchor="t"/>
          <a:lstStyle/>
          <a:p>
            <a:pPr indent="0" marL="0">
              <a:lnSpc>
                <a:spcPct val="108000"/>
              </a:lnSpc>
              <a:buNone/>
            </a:pPr>
            <a:r>
              <a:rPr lang="en-US" sz="1150" i="1" dirty="0">
                <a:solidFill>
                  <a:srgbClr val="FFFFFF"/>
                </a:solidFill>
                <a:latin typeface="Cambria" pitchFamily="34" charset="0"/>
                <a:ea typeface="Cambria" pitchFamily="34" charset="-122"/>
                <a:cs typeface="Cambria" pitchFamily="34" charset="-120"/>
              </a:rPr>
              <a:t>Elastic could not run Cerebras' design, and Cerebras would drown under Elastic's review gate.</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9184"/>
            <a:ext cx="9144000" cy="548640"/>
          </a:xfrm>
          <a:prstGeom prst="rect">
            <a:avLst/>
          </a:prstGeom>
          <a:noFill/>
          <a:ln/>
        </p:spPr>
        <p:txBody>
          <a:bodyPr wrap="square" lIns="0" tIns="0" rIns="0" bIns="0" rtlCol="0" anchor="ctr"/>
          <a:lstStyle/>
          <a:p>
            <a:pPr indent="0" marL="0">
              <a:buNone/>
            </a:pPr>
            <a:r>
              <a:rPr lang="en-US" sz="3100" b="1" dirty="0">
                <a:solidFill>
                  <a:srgbClr val="15181E"/>
                </a:solidFill>
                <a:latin typeface="Cambria" pitchFamily="34" charset="0"/>
                <a:ea typeface="Cambria" pitchFamily="34" charset="-122"/>
                <a:cs typeface="Cambria" pitchFamily="34" charset="-120"/>
              </a:rPr>
              <a:t>What is not verified</a:t>
            </a:r>
            <a:endParaRPr lang="en-US" sz="3100" dirty="0"/>
          </a:p>
        </p:txBody>
      </p:sp>
      <p:sp>
        <p:nvSpPr>
          <p:cNvPr id="3" name="Text 1"/>
          <p:cNvSpPr txBox="1"/>
          <p:nvPr/>
        </p:nvSpPr>
        <p:spPr>
          <a:xfrm>
            <a:off x="548640" y="914400"/>
            <a:ext cx="10515600" cy="329184"/>
          </a:xfrm>
          <a:prstGeom prst="rect">
            <a:avLst/>
          </a:prstGeom>
          <a:noFill/>
          <a:ln/>
        </p:spPr>
        <p:txBody>
          <a:bodyPr wrap="square" lIns="0" tIns="0" rIns="0" bIns="0" rtlCol="0" anchor="ctr"/>
          <a:lstStyle/>
          <a:p>
            <a:pPr indent="0" marL="0">
              <a:buNone/>
            </a:pPr>
            <a:r>
              <a:rPr lang="en-US" sz="1550" dirty="0">
                <a:solidFill>
                  <a:srgbClr val="232833"/>
                </a:solidFill>
                <a:latin typeface="Calibri" pitchFamily="34" charset="0"/>
                <a:ea typeface="Calibri" pitchFamily="34" charset="-122"/>
                <a:cs typeface="Calibri" pitchFamily="34" charset="-120"/>
              </a:rPr>
              <a:t>Read this before quoting anything from this deck externally.</a:t>
            </a:r>
            <a:endParaRPr lang="en-US" sz="1550" dirty="0"/>
          </a:p>
        </p:txBody>
      </p:sp>
      <p:sp>
        <p:nvSpPr>
          <p:cNvPr id="4" name="Shape 2"/>
          <p:cNvSpPr/>
          <p:nvPr/>
        </p:nvSpPr>
        <p:spPr>
          <a:xfrm>
            <a:off x="548640" y="1609344"/>
            <a:ext cx="164592" cy="164592"/>
          </a:xfrm>
          <a:prstGeom prst="ellipse">
            <a:avLst/>
          </a:prstGeom>
          <a:solidFill>
            <a:srgbClr val="8E3350"/>
          </a:solidFill>
          <a:ln/>
        </p:spPr>
      </p:sp>
      <p:sp>
        <p:nvSpPr>
          <p:cNvPr id="5" name="Text 3"/>
          <p:cNvSpPr txBox="1"/>
          <p:nvPr/>
        </p:nvSpPr>
        <p:spPr>
          <a:xfrm>
            <a:off x="896112" y="1517904"/>
            <a:ext cx="10744200" cy="329184"/>
          </a:xfrm>
          <a:prstGeom prst="rect">
            <a:avLst/>
          </a:prstGeom>
          <a:noFill/>
          <a:ln/>
        </p:spPr>
        <p:txBody>
          <a:bodyPr wrap="square" lIns="0" tIns="0" rIns="0" bIns="0" rtlCol="0" anchor="ctr"/>
          <a:lstStyle/>
          <a:p>
            <a:pPr indent="0" marL="0">
              <a:buNone/>
            </a:pPr>
            <a:r>
              <a:rPr lang="en-US" sz="1300" b="1" dirty="0">
                <a:solidFill>
                  <a:srgbClr val="15181E"/>
                </a:solidFill>
                <a:latin typeface="Calibri" pitchFamily="34" charset="0"/>
                <a:ea typeface="Calibri" pitchFamily="34" charset="-122"/>
                <a:cs typeface="Calibri" pitchFamily="34" charset="-120"/>
              </a:rPr>
              <a:t>Morgan Stanley: “advisors may not forward assistant output to clients” is refuted</a:t>
            </a:r>
            <a:endParaRPr lang="en-US" sz="1300" dirty="0"/>
          </a:p>
        </p:txBody>
      </p:sp>
      <p:sp>
        <p:nvSpPr>
          <p:cNvPr id="6" name="Text 4"/>
          <p:cNvSpPr txBox="1"/>
          <p:nvPr/>
        </p:nvSpPr>
        <p:spPr>
          <a:xfrm>
            <a:off x="896112" y="1865376"/>
            <a:ext cx="10744200" cy="585216"/>
          </a:xfrm>
          <a:prstGeom prst="rect">
            <a:avLst/>
          </a:prstGeom>
          <a:noFill/>
          <a:ln/>
        </p:spPr>
        <p:txBody>
          <a:bodyPr wrap="square" lIns="0" tIns="0" rIns="0" bIns="0" rtlCol="0" anchor="t"/>
          <a:lstStyle/>
          <a:p>
            <a:pPr indent="0" marL="0">
              <a:lnSpc>
                <a:spcPct val="112000"/>
              </a:lnSpc>
              <a:buNone/>
            </a:pPr>
            <a:r>
              <a:rPr lang="en-US" sz="1100" dirty="0">
                <a:solidFill>
                  <a:srgbClr val="6E7480"/>
                </a:solidFill>
                <a:latin typeface="Calibri" pitchFamily="34" charset="0"/>
                <a:ea typeface="Calibri" pitchFamily="34" charset="-122"/>
                <a:cs typeface="Calibri" pitchFamily="34" charset="-120"/>
              </a:rPr>
              <a:t>This appears only in third-party writeups. The October 2024 release states the opposite mechanism: a patented one-click export moves findings into an email draft “ready to be modified and customized before sharing with their clients.” A person edits before sending. That is the constraint, not a bar on sending.</a:t>
            </a:r>
            <a:endParaRPr lang="en-US" sz="1100" dirty="0"/>
          </a:p>
        </p:txBody>
      </p:sp>
      <p:sp>
        <p:nvSpPr>
          <p:cNvPr id="7" name="Shape 5"/>
          <p:cNvSpPr/>
          <p:nvPr/>
        </p:nvSpPr>
        <p:spPr>
          <a:xfrm>
            <a:off x="548640" y="2615184"/>
            <a:ext cx="164592" cy="164592"/>
          </a:xfrm>
          <a:prstGeom prst="ellipse">
            <a:avLst/>
          </a:prstGeom>
          <a:solidFill>
            <a:srgbClr val="C0761A"/>
          </a:solidFill>
          <a:ln/>
        </p:spPr>
      </p:sp>
      <p:sp>
        <p:nvSpPr>
          <p:cNvPr id="8" name="Text 6"/>
          <p:cNvSpPr txBox="1"/>
          <p:nvPr/>
        </p:nvSpPr>
        <p:spPr>
          <a:xfrm>
            <a:off x="896112" y="2523744"/>
            <a:ext cx="10744200" cy="329184"/>
          </a:xfrm>
          <a:prstGeom prst="rect">
            <a:avLst/>
          </a:prstGeom>
          <a:noFill/>
          <a:ln/>
        </p:spPr>
        <p:txBody>
          <a:bodyPr wrap="square" lIns="0" tIns="0" rIns="0" bIns="0" rtlCol="0" anchor="ctr"/>
          <a:lstStyle/>
          <a:p>
            <a:pPr indent="0" marL="0">
              <a:buNone/>
            </a:pPr>
            <a:r>
              <a:rPr lang="en-US" sz="1300" b="1" dirty="0">
                <a:solidFill>
                  <a:srgbClr val="15181E"/>
                </a:solidFill>
                <a:latin typeface="Calibri" pitchFamily="34" charset="0"/>
                <a:ea typeface="Calibri" pitchFamily="34" charset="-122"/>
                <a:cs typeface="Calibri" pitchFamily="34" charset="-120"/>
              </a:rPr>
              <a:t>Morgan Stanley: two figures are trade press, not disclosure</a:t>
            </a:r>
            <a:endParaRPr lang="en-US" sz="1300" dirty="0"/>
          </a:p>
        </p:txBody>
      </p:sp>
      <p:sp>
        <p:nvSpPr>
          <p:cNvPr id="9" name="Text 7"/>
          <p:cNvSpPr txBox="1"/>
          <p:nvPr/>
        </p:nvSpPr>
        <p:spPr>
          <a:xfrm>
            <a:off x="896112" y="2871216"/>
            <a:ext cx="10744200" cy="585216"/>
          </a:xfrm>
          <a:prstGeom prst="rect">
            <a:avLst/>
          </a:prstGeom>
          <a:noFill/>
          <a:ln/>
        </p:spPr>
        <p:txBody>
          <a:bodyPr wrap="square" lIns="0" tIns="0" rIns="0" bIns="0" rtlCol="0" anchor="t"/>
          <a:lstStyle/>
          <a:p>
            <a:pPr indent="0" marL="0">
              <a:lnSpc>
                <a:spcPct val="112000"/>
              </a:lnSpc>
              <a:buNone/>
            </a:pPr>
            <a:r>
              <a:rPr lang="en-US" sz="1100" dirty="0">
                <a:solidFill>
                  <a:srgbClr val="6E7480"/>
                </a:solidFill>
                <a:latin typeface="Calibri" pitchFamily="34" charset="0"/>
                <a:ea typeface="Calibri" pitchFamily="34" charset="-122"/>
                <a:cs typeface="Calibri" pitchFamily="34" charset="-120"/>
              </a:rPr>
              <a:t>All three first-party sources have now been read in full, so the corpus size, the &gt;98% adoption and the eval framework are first-party. The 3x question volume and the tenfold turnaround appear in neither press release; both are CNBC interview claims.</a:t>
            </a:r>
            <a:endParaRPr lang="en-US" sz="1100" dirty="0"/>
          </a:p>
        </p:txBody>
      </p:sp>
      <p:sp>
        <p:nvSpPr>
          <p:cNvPr id="10" name="Shape 8"/>
          <p:cNvSpPr/>
          <p:nvPr/>
        </p:nvSpPr>
        <p:spPr>
          <a:xfrm>
            <a:off x="548640" y="3621024"/>
            <a:ext cx="164592" cy="164592"/>
          </a:xfrm>
          <a:prstGeom prst="ellipse">
            <a:avLst/>
          </a:prstGeom>
          <a:solidFill>
            <a:srgbClr val="C0761A"/>
          </a:solidFill>
          <a:ln/>
        </p:spPr>
      </p:sp>
      <p:sp>
        <p:nvSpPr>
          <p:cNvPr id="11" name="Text 9"/>
          <p:cNvSpPr txBox="1"/>
          <p:nvPr/>
        </p:nvSpPr>
        <p:spPr>
          <a:xfrm>
            <a:off x="896112" y="3529584"/>
            <a:ext cx="10744200" cy="329184"/>
          </a:xfrm>
          <a:prstGeom prst="rect">
            <a:avLst/>
          </a:prstGeom>
          <a:noFill/>
          <a:ln/>
        </p:spPr>
        <p:txBody>
          <a:bodyPr wrap="square" lIns="0" tIns="0" rIns="0" bIns="0" rtlCol="0" anchor="ctr"/>
          <a:lstStyle/>
          <a:p>
            <a:pPr indent="0" marL="0">
              <a:buNone/>
            </a:pPr>
            <a:r>
              <a:rPr lang="en-US" sz="1300" b="1" dirty="0">
                <a:solidFill>
                  <a:srgbClr val="15181E"/>
                </a:solidFill>
                <a:latin typeface="Calibri" pitchFamily="34" charset="0"/>
                <a:ea typeface="Calibri" pitchFamily="34" charset="-122"/>
                <a:cs typeface="Calibri" pitchFamily="34" charset="-120"/>
              </a:rPr>
              <a:t>Stripe's rejected predecessors</a:t>
            </a:r>
            <a:endParaRPr lang="en-US" sz="1300" dirty="0"/>
          </a:p>
        </p:txBody>
      </p:sp>
      <p:sp>
        <p:nvSpPr>
          <p:cNvPr id="12" name="Text 10"/>
          <p:cNvSpPr txBox="1"/>
          <p:nvPr/>
        </p:nvSpPr>
        <p:spPr>
          <a:xfrm>
            <a:off x="896112" y="3877056"/>
            <a:ext cx="10744200" cy="585216"/>
          </a:xfrm>
          <a:prstGeom prst="rect">
            <a:avLst/>
          </a:prstGeom>
          <a:noFill/>
          <a:ln/>
        </p:spPr>
        <p:txBody>
          <a:bodyPr wrap="square" lIns="0" tIns="0" rIns="0" bIns="0" rtlCol="0" anchor="t"/>
          <a:lstStyle/>
          <a:p>
            <a:pPr indent="0" marL="0">
              <a:lnSpc>
                <a:spcPct val="112000"/>
              </a:lnSpc>
              <a:buNone/>
            </a:pPr>
            <a:r>
              <a:rPr lang="en-US" sz="1100" dirty="0">
                <a:solidFill>
                  <a:srgbClr val="6E7480"/>
                </a:solidFill>
                <a:latin typeface="Calibri" pitchFamily="34" charset="0"/>
                <a:ea typeface="Calibri" pitchFamily="34" charset="-122"/>
                <a:cs typeface="Calibri" pitchFamily="34" charset="-120"/>
              </a:rPr>
              <a:t>An earlier note records a no-code agent builder abandoned at 4,000+ agents of inconsistent quality, and coding agents rejected on security grounds. The retrieved text does not confirm either, so both stay off the Stripe slides.</a:t>
            </a:r>
            <a:endParaRPr lang="en-US" sz="1100" dirty="0"/>
          </a:p>
        </p:txBody>
      </p:sp>
      <p:sp>
        <p:nvSpPr>
          <p:cNvPr id="13" name="Shape 11"/>
          <p:cNvSpPr/>
          <p:nvPr/>
        </p:nvSpPr>
        <p:spPr>
          <a:xfrm>
            <a:off x="548640" y="4626864"/>
            <a:ext cx="164592" cy="164592"/>
          </a:xfrm>
          <a:prstGeom prst="ellipse">
            <a:avLst/>
          </a:prstGeom>
          <a:solidFill>
            <a:srgbClr val="3C4759"/>
          </a:solidFill>
          <a:ln/>
        </p:spPr>
      </p:sp>
      <p:sp>
        <p:nvSpPr>
          <p:cNvPr id="14" name="Text 12"/>
          <p:cNvSpPr txBox="1"/>
          <p:nvPr/>
        </p:nvSpPr>
        <p:spPr>
          <a:xfrm>
            <a:off x="896112" y="4535424"/>
            <a:ext cx="10744200" cy="329184"/>
          </a:xfrm>
          <a:prstGeom prst="rect">
            <a:avLst/>
          </a:prstGeom>
          <a:noFill/>
          <a:ln/>
        </p:spPr>
        <p:txBody>
          <a:bodyPr wrap="square" lIns="0" tIns="0" rIns="0" bIns="0" rtlCol="0" anchor="ctr"/>
          <a:lstStyle/>
          <a:p>
            <a:pPr indent="0" marL="0">
              <a:buNone/>
            </a:pPr>
            <a:r>
              <a:rPr lang="en-US" sz="1300" b="1" dirty="0">
                <a:solidFill>
                  <a:srgbClr val="15181E"/>
                </a:solidFill>
                <a:latin typeface="Calibri" pitchFamily="34" charset="0"/>
                <a:ea typeface="Calibri" pitchFamily="34" charset="-122"/>
                <a:cs typeface="Calibri" pitchFamily="34" charset="-120"/>
              </a:rPr>
              <a:t>“Hours saved” is a self-reported estimate everywhere it appears</a:t>
            </a:r>
            <a:endParaRPr lang="en-US" sz="1300" dirty="0"/>
          </a:p>
        </p:txBody>
      </p:sp>
      <p:sp>
        <p:nvSpPr>
          <p:cNvPr id="15" name="Text 13"/>
          <p:cNvSpPr txBox="1"/>
          <p:nvPr/>
        </p:nvSpPr>
        <p:spPr>
          <a:xfrm>
            <a:off x="896112" y="4882896"/>
            <a:ext cx="10744200" cy="585216"/>
          </a:xfrm>
          <a:prstGeom prst="rect">
            <a:avLst/>
          </a:prstGeom>
          <a:noFill/>
          <a:ln/>
        </p:spPr>
        <p:txBody>
          <a:bodyPr wrap="square" lIns="0" tIns="0" rIns="0" bIns="0" rtlCol="0" anchor="t"/>
          <a:lstStyle/>
          <a:p>
            <a:pPr indent="0" marL="0">
              <a:lnSpc>
                <a:spcPct val="112000"/>
              </a:lnSpc>
              <a:buNone/>
            </a:pPr>
            <a:r>
              <a:rPr lang="en-US" sz="1100" dirty="0">
                <a:solidFill>
                  <a:srgbClr val="6E7480"/>
                </a:solidFill>
                <a:latin typeface="Calibri" pitchFamily="34" charset="0"/>
                <a:ea typeface="Calibri" pitchFamily="34" charset="-122"/>
                <a:cs typeface="Calibri" pitchFamily="34" charset="-120"/>
              </a:rPr>
              <a:t>Uber's 13,000, Slack's 10,000 a year, Stripe's 25,000 and JPMorgan's three to six per week are all internally modelled. None is measured against a control, and none should be compared across companies.</a:t>
            </a:r>
            <a:endParaRPr lang="en-US" sz="1100" dirty="0"/>
          </a:p>
        </p:txBody>
      </p:sp>
      <p:sp>
        <p:nvSpPr>
          <p:cNvPr id="16" name="Shape 14"/>
          <p:cNvSpPr/>
          <p:nvPr/>
        </p:nvSpPr>
        <p:spPr>
          <a:xfrm>
            <a:off x="548640" y="5632704"/>
            <a:ext cx="164592" cy="164592"/>
          </a:xfrm>
          <a:prstGeom prst="ellipse">
            <a:avLst/>
          </a:prstGeom>
          <a:solidFill>
            <a:srgbClr val="3C4759"/>
          </a:solidFill>
          <a:ln/>
        </p:spPr>
      </p:sp>
      <p:sp>
        <p:nvSpPr>
          <p:cNvPr id="17" name="Text 15"/>
          <p:cNvSpPr txBox="1"/>
          <p:nvPr/>
        </p:nvSpPr>
        <p:spPr>
          <a:xfrm>
            <a:off x="896112" y="5541264"/>
            <a:ext cx="10744200" cy="329184"/>
          </a:xfrm>
          <a:prstGeom prst="rect">
            <a:avLst/>
          </a:prstGeom>
          <a:noFill/>
          <a:ln/>
        </p:spPr>
        <p:txBody>
          <a:bodyPr wrap="square" lIns="0" tIns="0" rIns="0" bIns="0" rtlCol="0" anchor="ctr"/>
          <a:lstStyle/>
          <a:p>
            <a:pPr indent="0" marL="0">
              <a:buNone/>
            </a:pPr>
            <a:r>
              <a:rPr lang="en-US" sz="1300" b="1" dirty="0">
                <a:solidFill>
                  <a:srgbClr val="15181E"/>
                </a:solidFill>
                <a:latin typeface="Calibri" pitchFamily="34" charset="0"/>
                <a:ea typeface="Calibri" pitchFamily="34" charset="-122"/>
                <a:cs typeface="Calibri" pitchFamily="34" charset="-120"/>
              </a:rPr>
              <a:t>JPMorgan has no engineering source at all</a:t>
            </a:r>
            <a:endParaRPr lang="en-US" sz="1300" dirty="0"/>
          </a:p>
        </p:txBody>
      </p:sp>
      <p:sp>
        <p:nvSpPr>
          <p:cNvPr id="18" name="Text 16"/>
          <p:cNvSpPr txBox="1"/>
          <p:nvPr/>
        </p:nvSpPr>
        <p:spPr>
          <a:xfrm>
            <a:off x="896112" y="5888736"/>
            <a:ext cx="10744200" cy="585216"/>
          </a:xfrm>
          <a:prstGeom prst="rect">
            <a:avLst/>
          </a:prstGeom>
          <a:noFill/>
          <a:ln/>
        </p:spPr>
        <p:txBody>
          <a:bodyPr wrap="square" lIns="0" tIns="0" rIns="0" bIns="0" rtlCol="0" anchor="t"/>
          <a:lstStyle/>
          <a:p>
            <a:pPr indent="0" marL="0">
              <a:lnSpc>
                <a:spcPct val="112000"/>
              </a:lnSpc>
              <a:buNone/>
            </a:pPr>
            <a:r>
              <a:rPr lang="en-US" sz="1100" dirty="0">
                <a:solidFill>
                  <a:srgbClr val="6E7480"/>
                </a:solidFill>
                <a:latin typeface="Calibri" pitchFamily="34" charset="0"/>
                <a:ea typeface="Calibri" pitchFamily="34" charset="-122"/>
                <a:cs typeface="Calibri" pitchFamily="34" charset="-120"/>
              </a:rPr>
              <a:t>Every JPMorgan figure here is trade press. No architecture, no eval method, no maintenance account, which is why it is the one company in the deck with no diagram.</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9184"/>
            <a:ext cx="7315200" cy="548640"/>
          </a:xfrm>
          <a:prstGeom prst="rect">
            <a:avLst/>
          </a:prstGeom>
          <a:noFill/>
          <a:ln/>
        </p:spPr>
        <p:txBody>
          <a:bodyPr wrap="square" lIns="0" tIns="0" rIns="0" bIns="0" rtlCol="0" anchor="ctr"/>
          <a:lstStyle/>
          <a:p>
            <a:pPr indent="0" marL="0">
              <a:buNone/>
            </a:pPr>
            <a:r>
              <a:rPr lang="en-US" sz="3100" b="1" dirty="0">
                <a:solidFill>
                  <a:srgbClr val="15181E"/>
                </a:solidFill>
                <a:latin typeface="Cambria" pitchFamily="34" charset="0"/>
                <a:ea typeface="Cambria" pitchFamily="34" charset="-122"/>
                <a:cs typeface="Cambria" pitchFamily="34" charset="-120"/>
              </a:rPr>
              <a:t>Sources</a:t>
            </a:r>
            <a:endParaRPr lang="en-US" sz="3100" dirty="0"/>
          </a:p>
        </p:txBody>
      </p:sp>
      <p:sp>
        <p:nvSpPr>
          <p:cNvPr id="3" name="Text 1"/>
          <p:cNvSpPr txBox="1"/>
          <p:nvPr/>
        </p:nvSpPr>
        <p:spPr>
          <a:xfrm>
            <a:off x="548640" y="914400"/>
            <a:ext cx="10515600" cy="329184"/>
          </a:xfrm>
          <a:prstGeom prst="rect">
            <a:avLst/>
          </a:prstGeom>
          <a:noFill/>
          <a:ln/>
        </p:spPr>
        <p:txBody>
          <a:bodyPr wrap="square" lIns="0" tIns="0" rIns="0" bIns="0" rtlCol="0" anchor="ctr"/>
          <a:lstStyle/>
          <a:p>
            <a:pPr indent="0" marL="0">
              <a:buNone/>
            </a:pPr>
            <a:r>
              <a:rPr lang="en-US" sz="1450" dirty="0">
                <a:solidFill>
                  <a:srgbClr val="232833"/>
                </a:solidFill>
                <a:latin typeface="Calibri" pitchFamily="34" charset="0"/>
                <a:ea typeface="Calibri" pitchFamily="34" charset="-122"/>
                <a:cs typeface="Calibri" pitchFamily="34" charset="-120"/>
              </a:rPr>
              <a:t>Grouped by tier. Everything on a company slide traces back to one of these.</a:t>
            </a:r>
            <a:endParaRPr lang="en-US" sz="1450" dirty="0"/>
          </a:p>
        </p:txBody>
      </p:sp>
      <p:sp>
        <p:nvSpPr>
          <p:cNvPr id="4" name="Shape 2"/>
          <p:cNvSpPr/>
          <p:nvPr/>
        </p:nvSpPr>
        <p:spPr>
          <a:xfrm>
            <a:off x="548640" y="1527048"/>
            <a:ext cx="164592" cy="164592"/>
          </a:xfrm>
          <a:prstGeom prst="ellipse">
            <a:avLst/>
          </a:prstGeom>
          <a:solidFill>
            <a:srgbClr val="1F6F6B"/>
          </a:solidFill>
          <a:ln/>
        </p:spPr>
        <p:txBody>
          <a:bodyPr/>
          <a:p/>
        </p:txBody>
      </p:sp>
      <p:sp>
        <p:nvSpPr>
          <p:cNvPr id="5" name="Text 3"/>
          <p:cNvSpPr txBox="1"/>
          <p:nvPr/>
        </p:nvSpPr>
        <p:spPr>
          <a:xfrm>
            <a:off x="896112" y="1426464"/>
            <a:ext cx="10058400" cy="329184"/>
          </a:xfrm>
          <a:prstGeom prst="rect">
            <a:avLst/>
          </a:prstGeom>
          <a:noFill/>
          <a:ln/>
        </p:spPr>
        <p:txBody>
          <a:bodyPr wrap="square" lIns="0" tIns="0" rIns="0" bIns="0" rtlCol="0" anchor="ctr"/>
          <a:lstStyle/>
          <a:p>
            <a:pPr indent="0" marL="0">
              <a:buNone/>
            </a:pPr>
            <a:r>
              <a:rPr lang="en-US" sz="1300" b="1" dirty="0">
                <a:solidFill>
                  <a:srgbClr val="1F6F6B"/>
                </a:solidFill>
                <a:latin typeface="Calibri" pitchFamily="34" charset="0"/>
                <a:ea typeface="Calibri" pitchFamily="34" charset="-122"/>
                <a:cs typeface="Calibri" pitchFamily="34" charset="-120"/>
              </a:rPr>
              <a:t>First-party engineering write-ups</a:t>
            </a:r>
            <a:endParaRPr lang="en-US" sz="1300" dirty="0"/>
          </a:p>
        </p:txBody>
      </p:sp>
      <p:sp>
        <p:nvSpPr>
          <p:cNvPr id="6" name="Text 4"/>
          <p:cNvSpPr txBox="1"/>
          <p:nvPr/>
        </p:nvSpPr>
        <p:spPr>
          <a:xfrm>
            <a:off x="896112" y="1847088"/>
            <a:ext cx="5120640" cy="274320"/>
          </a:xfrm>
          <a:prstGeom prst="rect">
            <a:avLst/>
          </a:prstGeom>
          <a:noFill/>
          <a:ln/>
        </p:spPr>
        <p:txBody>
          <a:bodyPr wrap="square" lIns="0" tIns="0" rIns="0" bIns="0" rtlCol="0" anchor="ctr"/>
          <a:lstStyle/>
          <a:p>
            <a:pPr indent="0" marL="0">
              <a:buNone/>
            </a:pPr>
            <a:r>
              <a:rPr lang="en-US" sz="1100" dirty="0">
                <a:solidFill>
                  <a:srgbClr val="232833"/>
                </a:solidFill>
                <a:latin typeface="Calibri" pitchFamily="34" charset="0"/>
                <a:ea typeface="Calibri" pitchFamily="34" charset="-122"/>
                <a:cs typeface="Calibri" pitchFamily="34" charset="-120"/>
              </a:rPr>
              <a:t>Cerebras, How We Built Our Knowledge Base (15 Jul 2026)</a:t>
            </a:r>
            <a:endParaRPr lang="en-US" sz="1100" dirty="0"/>
          </a:p>
        </p:txBody>
      </p:sp>
      <p:sp>
        <p:nvSpPr>
          <p:cNvPr id="7" name="Text 5"/>
          <p:cNvSpPr txBox="1"/>
          <p:nvPr/>
        </p:nvSpPr>
        <p:spPr>
          <a:xfrm>
            <a:off x="6126480" y="1847088"/>
            <a:ext cx="5513832" cy="274320"/>
          </a:xfrm>
          <a:prstGeom prst="rect">
            <a:avLst/>
          </a:prstGeom>
          <a:noFill/>
          <a:ln/>
        </p:spPr>
        <p:txBody>
          <a:bodyPr wrap="square" lIns="0" tIns="0" rIns="0" bIns="0" rtlCol="0" anchor="ctr"/>
          <a:lstStyle/>
          <a:p>
            <a:pPr indent="0" marL="0">
              <a:buNone/>
            </a:pPr>
            <a:r>
              <a:rPr lang="en-US" sz="1000" dirty="0">
                <a:solidFill>
                  <a:srgbClr val="6E7480"/>
                </a:solidFill>
                <a:latin typeface="Calibri" pitchFamily="34" charset="0"/>
                <a:ea typeface="Calibri" pitchFamily="34" charset="-122"/>
                <a:cs typeface="Calibri" pitchFamily="34" charset="-120"/>
              </a:rPr>
              <a:t>cerebras.ai/blog/how-we-built-our-knowledge-base</a:t>
            </a:r>
            <a:endParaRPr lang="en-US" sz="1000" dirty="0"/>
          </a:p>
        </p:txBody>
      </p:sp>
      <p:sp>
        <p:nvSpPr>
          <p:cNvPr id="8" name="Text 6"/>
          <p:cNvSpPr txBox="1"/>
          <p:nvPr/>
        </p:nvSpPr>
        <p:spPr>
          <a:xfrm>
            <a:off x="896112" y="2130552"/>
            <a:ext cx="5120640" cy="274320"/>
          </a:xfrm>
          <a:prstGeom prst="rect">
            <a:avLst/>
          </a:prstGeom>
          <a:noFill/>
          <a:ln/>
        </p:spPr>
        <p:txBody>
          <a:bodyPr wrap="square" lIns="0" tIns="0" rIns="0" bIns="0" rtlCol="0" anchor="ctr"/>
          <a:lstStyle/>
          <a:p>
            <a:pPr indent="0" marL="0">
              <a:buNone/>
            </a:pPr>
            <a:r>
              <a:rPr lang="en-US" sz="1100" dirty="0">
                <a:solidFill>
                  <a:srgbClr val="232833"/>
                </a:solidFill>
                <a:latin typeface="Calibri" pitchFamily="34" charset="0"/>
                <a:ea typeface="Calibri" pitchFamily="34" charset="-122"/>
                <a:cs typeface="Calibri" pitchFamily="34" charset="-120"/>
              </a:rPr>
              <a:t>Stripe, Meet Stripe's Knowledge AI Platform</a:t>
            </a:r>
            <a:endParaRPr lang="en-US" sz="1100" dirty="0"/>
          </a:p>
        </p:txBody>
      </p:sp>
      <p:sp>
        <p:nvSpPr>
          <p:cNvPr id="9" name="Text 7"/>
          <p:cNvSpPr txBox="1"/>
          <p:nvPr/>
        </p:nvSpPr>
        <p:spPr>
          <a:xfrm>
            <a:off x="6126480" y="2130552"/>
            <a:ext cx="5513832" cy="274320"/>
          </a:xfrm>
          <a:prstGeom prst="rect">
            <a:avLst/>
          </a:prstGeom>
          <a:noFill/>
          <a:ln/>
        </p:spPr>
        <p:txBody>
          <a:bodyPr wrap="square" lIns="0" tIns="0" rIns="0" bIns="0" rtlCol="0" anchor="ctr"/>
          <a:lstStyle/>
          <a:p>
            <a:pPr indent="0" marL="0">
              <a:buNone/>
            </a:pPr>
            <a:r>
              <a:rPr lang="en-US" sz="1000" dirty="0">
                <a:solidFill>
                  <a:srgbClr val="6E7480"/>
                </a:solidFill>
                <a:latin typeface="Calibri" pitchFamily="34" charset="0"/>
                <a:ea typeface="Calibri" pitchFamily="34" charset="-122"/>
                <a:cs typeface="Calibri" pitchFamily="34" charset="-120"/>
              </a:rPr>
              <a:t>stripe.dev/blog/meet-stripes-knowledge-ai-platform</a:t>
            </a:r>
            <a:endParaRPr lang="en-US" sz="1000" dirty="0"/>
          </a:p>
        </p:txBody>
      </p:sp>
      <p:sp>
        <p:nvSpPr>
          <p:cNvPr id="10" name="Text 8"/>
          <p:cNvSpPr txBox="1"/>
          <p:nvPr/>
        </p:nvSpPr>
        <p:spPr>
          <a:xfrm>
            <a:off x="896112" y="2414016"/>
            <a:ext cx="5120640" cy="274320"/>
          </a:xfrm>
          <a:prstGeom prst="rect">
            <a:avLst/>
          </a:prstGeom>
          <a:noFill/>
          <a:ln/>
        </p:spPr>
        <p:txBody>
          <a:bodyPr wrap="square" lIns="0" tIns="0" rIns="0" bIns="0" rtlCol="0" anchor="ctr"/>
          <a:lstStyle/>
          <a:p>
            <a:pPr indent="0" marL="0">
              <a:buNone/>
            </a:pPr>
            <a:r>
              <a:rPr lang="en-US" sz="1100" dirty="0">
                <a:solidFill>
                  <a:srgbClr val="232833"/>
                </a:solidFill>
                <a:latin typeface="Calibri" pitchFamily="34" charset="0"/>
                <a:ea typeface="Calibri" pitchFamily="34" charset="-122"/>
                <a:cs typeface="Calibri" pitchFamily="34" charset="-120"/>
              </a:rPr>
              <a:t>Uber, Genie: Uber's Gen AI On-Call Copilot</a:t>
            </a:r>
            <a:endParaRPr lang="en-US" sz="1100" dirty="0"/>
          </a:p>
        </p:txBody>
      </p:sp>
      <p:sp>
        <p:nvSpPr>
          <p:cNvPr id="11" name="Text 9"/>
          <p:cNvSpPr txBox="1"/>
          <p:nvPr/>
        </p:nvSpPr>
        <p:spPr>
          <a:xfrm>
            <a:off x="6126480" y="2414016"/>
            <a:ext cx="5513832" cy="274320"/>
          </a:xfrm>
          <a:prstGeom prst="rect">
            <a:avLst/>
          </a:prstGeom>
          <a:noFill/>
          <a:ln/>
        </p:spPr>
        <p:txBody>
          <a:bodyPr wrap="square" lIns="0" tIns="0" rIns="0" bIns="0" rtlCol="0" anchor="ctr"/>
          <a:lstStyle/>
          <a:p>
            <a:pPr indent="0" marL="0">
              <a:buNone/>
            </a:pPr>
            <a:r>
              <a:rPr lang="en-US" sz="1000" dirty="0">
                <a:solidFill>
                  <a:srgbClr val="6E7480"/>
                </a:solidFill>
                <a:latin typeface="Calibri" pitchFamily="34" charset="0"/>
                <a:ea typeface="Calibri" pitchFamily="34" charset="-122"/>
                <a:cs typeface="Calibri" pitchFamily="34" charset="-120"/>
              </a:rPr>
              <a:t>uber.com/blog/genie-ubers-gen-ai-on-call-copilot</a:t>
            </a:r>
            <a:endParaRPr lang="en-US" sz="1000" dirty="0"/>
          </a:p>
        </p:txBody>
      </p:sp>
      <p:sp>
        <p:nvSpPr>
          <p:cNvPr id="12" name="Text 10"/>
          <p:cNvSpPr txBox="1"/>
          <p:nvPr/>
        </p:nvSpPr>
        <p:spPr>
          <a:xfrm>
            <a:off x="896112" y="2697480"/>
            <a:ext cx="5120640" cy="274320"/>
          </a:xfrm>
          <a:prstGeom prst="rect">
            <a:avLst/>
          </a:prstGeom>
          <a:noFill/>
          <a:ln/>
        </p:spPr>
        <p:txBody>
          <a:bodyPr wrap="square" lIns="0" tIns="0" rIns="0" bIns="0" rtlCol="0" anchor="ctr"/>
          <a:lstStyle/>
          <a:p>
            <a:pPr indent="0" marL="0">
              <a:buNone/>
            </a:pPr>
            <a:r>
              <a:rPr lang="en-US" sz="1100" dirty="0">
                <a:solidFill>
                  <a:srgbClr val="232833"/>
                </a:solidFill>
                <a:latin typeface="Calibri" pitchFamily="34" charset="0"/>
                <a:ea typeface="Calibri" pitchFamily="34" charset="-122"/>
                <a:cs typeface="Calibri" pitchFamily="34" charset="-120"/>
              </a:rPr>
              <a:t>Slack, Empowering Engineers with AI</a:t>
            </a:r>
            <a:endParaRPr lang="en-US" sz="1100" dirty="0"/>
          </a:p>
        </p:txBody>
      </p:sp>
      <p:sp>
        <p:nvSpPr>
          <p:cNvPr id="13" name="Text 11"/>
          <p:cNvSpPr txBox="1"/>
          <p:nvPr/>
        </p:nvSpPr>
        <p:spPr>
          <a:xfrm>
            <a:off x="6126480" y="2697480"/>
            <a:ext cx="5513832" cy="274320"/>
          </a:xfrm>
          <a:prstGeom prst="rect">
            <a:avLst/>
          </a:prstGeom>
          <a:noFill/>
          <a:ln/>
        </p:spPr>
        <p:txBody>
          <a:bodyPr wrap="square" lIns="0" tIns="0" rIns="0" bIns="0" rtlCol="0" anchor="ctr"/>
          <a:lstStyle/>
          <a:p>
            <a:pPr indent="0" marL="0">
              <a:buNone/>
            </a:pPr>
            <a:r>
              <a:rPr lang="en-US" sz="1000" dirty="0">
                <a:solidFill>
                  <a:srgbClr val="6E7480"/>
                </a:solidFill>
                <a:latin typeface="Calibri" pitchFamily="34" charset="0"/>
                <a:ea typeface="Calibri" pitchFamily="34" charset="-122"/>
                <a:cs typeface="Calibri" pitchFamily="34" charset="-120"/>
              </a:rPr>
              <a:t>slack.engineering/empowering-engineers-with-ai</a:t>
            </a:r>
            <a:endParaRPr lang="en-US" sz="1000" dirty="0"/>
          </a:p>
        </p:txBody>
      </p:sp>
      <p:sp>
        <p:nvSpPr>
          <p:cNvPr id="14" name="Text 12"/>
          <p:cNvSpPr txBox="1"/>
          <p:nvPr/>
        </p:nvSpPr>
        <p:spPr>
          <a:xfrm>
            <a:off x="896112" y="2980944"/>
            <a:ext cx="5120640" cy="274320"/>
          </a:xfrm>
          <a:prstGeom prst="rect">
            <a:avLst/>
          </a:prstGeom>
          <a:noFill/>
          <a:ln/>
        </p:spPr>
        <p:txBody>
          <a:bodyPr wrap="square" lIns="0" tIns="0" rIns="0" bIns="0" rtlCol="0" anchor="ctr"/>
          <a:lstStyle/>
          <a:p>
            <a:pPr indent="0" marL="0">
              <a:buNone/>
            </a:pPr>
            <a:r>
              <a:rPr lang="en-US" sz="1100" dirty="0">
                <a:solidFill>
                  <a:srgbClr val="232833"/>
                </a:solidFill>
                <a:latin typeface="Calibri" pitchFamily="34" charset="0"/>
                <a:ea typeface="Calibri" pitchFamily="34" charset="-122"/>
                <a:cs typeface="Calibri" pitchFamily="34" charset="-120"/>
              </a:rPr>
              <a:t>Dropbox, Building Dash: RAG and multi-step AI agents</a:t>
            </a:r>
            <a:endParaRPr lang="en-US" sz="1100" dirty="0"/>
          </a:p>
        </p:txBody>
      </p:sp>
      <p:sp>
        <p:nvSpPr>
          <p:cNvPr id="15" name="Text 13"/>
          <p:cNvSpPr txBox="1"/>
          <p:nvPr/>
        </p:nvSpPr>
        <p:spPr>
          <a:xfrm>
            <a:off x="6126480" y="2980944"/>
            <a:ext cx="5513832" cy="274320"/>
          </a:xfrm>
          <a:prstGeom prst="rect">
            <a:avLst/>
          </a:prstGeom>
          <a:noFill/>
          <a:ln/>
        </p:spPr>
        <p:txBody>
          <a:bodyPr wrap="square" lIns="0" tIns="0" rIns="0" bIns="0" rtlCol="0" anchor="ctr"/>
          <a:lstStyle/>
          <a:p>
            <a:pPr indent="0" marL="0">
              <a:buNone/>
            </a:pPr>
            <a:r>
              <a:rPr lang="en-US" sz="1000" dirty="0">
                <a:solidFill>
                  <a:srgbClr val="6E7480"/>
                </a:solidFill>
                <a:latin typeface="Calibri" pitchFamily="34" charset="0"/>
                <a:ea typeface="Calibri" pitchFamily="34" charset="-122"/>
                <a:cs typeface="Calibri" pitchFamily="34" charset="-120"/>
              </a:rPr>
              <a:t>dropbox.tech/machine-learning/building-dash-rag-multi-step-ai-agents-business-users</a:t>
            </a:r>
            <a:endParaRPr lang="en-US" sz="1000" dirty="0"/>
          </a:p>
        </p:txBody>
      </p:sp>
      <p:sp>
        <p:nvSpPr>
          <p:cNvPr id="16" name="Text 14"/>
          <p:cNvSpPr txBox="1"/>
          <p:nvPr/>
        </p:nvSpPr>
        <p:spPr>
          <a:xfrm>
            <a:off x="896112" y="3264408"/>
            <a:ext cx="5120640" cy="274320"/>
          </a:xfrm>
          <a:prstGeom prst="rect">
            <a:avLst/>
          </a:prstGeom>
          <a:noFill/>
          <a:ln/>
        </p:spPr>
        <p:txBody>
          <a:bodyPr wrap="square" lIns="0" tIns="0" rIns="0" bIns="0" rtlCol="0" anchor="ctr"/>
          <a:lstStyle/>
          <a:p>
            <a:pPr indent="0" marL="0">
              <a:buNone/>
            </a:pPr>
            <a:r>
              <a:rPr lang="en-US" sz="1100" dirty="0">
                <a:solidFill>
                  <a:srgbClr val="232833"/>
                </a:solidFill>
                <a:latin typeface="Calibri" pitchFamily="34" charset="0"/>
                <a:ea typeface="Calibri" pitchFamily="34" charset="-122"/>
                <a:cs typeface="Calibri" pitchFamily="34" charset="-120"/>
              </a:rPr>
              <a:t>Elastic, How Elastic Support uses AI with a human in the loop</a:t>
            </a:r>
            <a:endParaRPr lang="en-US" sz="1100" dirty="0"/>
          </a:p>
        </p:txBody>
      </p:sp>
      <p:sp>
        <p:nvSpPr>
          <p:cNvPr id="17" name="Text 15"/>
          <p:cNvSpPr txBox="1"/>
          <p:nvPr/>
        </p:nvSpPr>
        <p:spPr>
          <a:xfrm>
            <a:off x="6126480" y="3264408"/>
            <a:ext cx="5513832" cy="274320"/>
          </a:xfrm>
          <a:prstGeom prst="rect">
            <a:avLst/>
          </a:prstGeom>
          <a:noFill/>
          <a:ln/>
        </p:spPr>
        <p:txBody>
          <a:bodyPr wrap="square" lIns="0" tIns="0" rIns="0" bIns="0" rtlCol="0" anchor="ctr"/>
          <a:lstStyle/>
          <a:p>
            <a:pPr indent="0" marL="0">
              <a:buNone/>
            </a:pPr>
            <a:r>
              <a:rPr lang="en-US" sz="1000" dirty="0">
                <a:solidFill>
                  <a:srgbClr val="6E7480"/>
                </a:solidFill>
                <a:latin typeface="Calibri" pitchFamily="34" charset="0"/>
                <a:ea typeface="Calibri" pitchFamily="34" charset="-122"/>
                <a:cs typeface="Calibri" pitchFamily="34" charset="-120"/>
              </a:rPr>
              <a:t>elastic.co/blog/how-elastic-support-uses-ai-human-in-the-loop</a:t>
            </a:r>
            <a:endParaRPr lang="en-US" sz="1000" dirty="0"/>
          </a:p>
        </p:txBody>
      </p:sp>
      <p:sp>
        <p:nvSpPr>
          <p:cNvPr id="18" name="Shape 16"/>
          <p:cNvSpPr/>
          <p:nvPr/>
        </p:nvSpPr>
        <p:spPr>
          <a:xfrm>
            <a:off x="548640" y="3794760"/>
            <a:ext cx="164592" cy="164592"/>
          </a:xfrm>
          <a:prstGeom prst="ellipse">
            <a:avLst/>
          </a:prstGeom>
          <a:solidFill>
            <a:srgbClr val="C0761A"/>
          </a:solidFill>
          <a:ln/>
        </p:spPr>
        <p:txBody>
          <a:bodyPr/>
          <a:p/>
        </p:txBody>
      </p:sp>
      <p:sp>
        <p:nvSpPr>
          <p:cNvPr id="19" name="Text 17"/>
          <p:cNvSpPr txBox="1"/>
          <p:nvPr/>
        </p:nvSpPr>
        <p:spPr>
          <a:xfrm>
            <a:off x="896112" y="3694176"/>
            <a:ext cx="10058400" cy="329184"/>
          </a:xfrm>
          <a:prstGeom prst="rect">
            <a:avLst/>
          </a:prstGeom>
          <a:noFill/>
          <a:ln/>
        </p:spPr>
        <p:txBody>
          <a:bodyPr wrap="square" lIns="0" tIns="0" rIns="0" bIns="0" rtlCol="0" anchor="ctr"/>
          <a:lstStyle/>
          <a:p>
            <a:pPr indent="0" marL="0">
              <a:buNone/>
            </a:pPr>
            <a:r>
              <a:rPr lang="en-US" sz="1300" b="1" dirty="0">
                <a:solidFill>
                  <a:srgbClr val="C0761A"/>
                </a:solidFill>
                <a:latin typeface="Calibri" pitchFamily="34" charset="0"/>
                <a:ea typeface="Calibri" pitchFamily="34" charset="-122"/>
                <a:cs typeface="Calibri" pitchFamily="34" charset="-120"/>
              </a:rPr>
              <a:t>First-party PR and vendor case study, read in full</a:t>
            </a:r>
            <a:endParaRPr lang="en-US" sz="1300" dirty="0"/>
          </a:p>
        </p:txBody>
      </p:sp>
      <p:sp>
        <p:nvSpPr>
          <p:cNvPr id="20" name="Text 18"/>
          <p:cNvSpPr txBox="1"/>
          <p:nvPr/>
        </p:nvSpPr>
        <p:spPr>
          <a:xfrm>
            <a:off x="896112" y="4114800"/>
            <a:ext cx="5120640" cy="274320"/>
          </a:xfrm>
          <a:prstGeom prst="rect">
            <a:avLst/>
          </a:prstGeom>
          <a:noFill/>
          <a:ln/>
        </p:spPr>
        <p:txBody>
          <a:bodyPr wrap="square" lIns="0" tIns="0" rIns="0" bIns="0" rtlCol="0" anchor="ctr"/>
          <a:lstStyle/>
          <a:p>
            <a:pPr indent="0" marL="0">
              <a:buNone/>
            </a:pPr>
            <a:r>
              <a:rPr lang="en-US" sz="1100" dirty="0">
                <a:solidFill>
                  <a:srgbClr val="232833"/>
                </a:solidFill>
                <a:latin typeface="Calibri" pitchFamily="34" charset="0"/>
                <a:ea typeface="Calibri" pitchFamily="34" charset="-122"/>
                <a:cs typeface="Calibri" pitchFamily="34" charset="-120"/>
              </a:rPr>
              <a:t>Morgan Stanley Research announces AskResearchGPT</a:t>
            </a:r>
            <a:endParaRPr lang="en-US" sz="1100" dirty="0"/>
          </a:p>
        </p:txBody>
      </p:sp>
      <p:sp>
        <p:nvSpPr>
          <p:cNvPr id="21" name="Text 19"/>
          <p:cNvSpPr txBox="1"/>
          <p:nvPr/>
        </p:nvSpPr>
        <p:spPr>
          <a:xfrm>
            <a:off x="6126480" y="4114800"/>
            <a:ext cx="5513832" cy="274320"/>
          </a:xfrm>
          <a:prstGeom prst="rect">
            <a:avLst/>
          </a:prstGeom>
          <a:noFill/>
          <a:ln/>
        </p:spPr>
        <p:txBody>
          <a:bodyPr wrap="square" lIns="0" tIns="0" rIns="0" bIns="0" rtlCol="0" anchor="ctr"/>
          <a:lstStyle/>
          <a:p>
            <a:pPr indent="0" marL="0">
              <a:buNone/>
            </a:pPr>
            <a:r>
              <a:rPr lang="en-US" sz="1000" dirty="0">
                <a:solidFill>
                  <a:srgbClr val="6E7480"/>
                </a:solidFill>
                <a:latin typeface="Calibri" pitchFamily="34" charset="0"/>
                <a:ea typeface="Calibri" pitchFamily="34" charset="-122"/>
                <a:cs typeface="Calibri" pitchFamily="34" charset="-120"/>
              </a:rPr>
              <a:t>morganstanley.com/press-releases/morgan-stanley-research-announces-askresearchgpt</a:t>
            </a:r>
            <a:endParaRPr lang="en-US" sz="1000" dirty="0"/>
          </a:p>
        </p:txBody>
      </p:sp>
      <p:sp>
        <p:nvSpPr>
          <p:cNvPr id="22" name="Text 20"/>
          <p:cNvSpPr txBox="1"/>
          <p:nvPr/>
        </p:nvSpPr>
        <p:spPr>
          <a:xfrm>
            <a:off x="896112" y="4398264"/>
            <a:ext cx="5120640" cy="274320"/>
          </a:xfrm>
          <a:prstGeom prst="rect">
            <a:avLst/>
          </a:prstGeom>
          <a:noFill/>
          <a:ln/>
        </p:spPr>
        <p:txBody>
          <a:bodyPr wrap="square" lIns="0" tIns="0" rIns="0" bIns="0" rtlCol="0" anchor="ctr"/>
          <a:lstStyle/>
          <a:p>
            <a:pPr indent="0" marL="0">
              <a:buNone/>
            </a:pPr>
            <a:r>
              <a:rPr lang="en-US" sz="1100" dirty="0">
                <a:solidFill>
                  <a:srgbClr val="232833"/>
                </a:solidFill>
                <a:latin typeface="Calibri" pitchFamily="34" charset="0"/>
                <a:ea typeface="Calibri" pitchFamily="34" charset="-122"/>
                <a:cs typeface="Calibri" pitchFamily="34" charset="-120"/>
              </a:rPr>
              <a:t>Morgan Stanley, key milestone with OpenAI</a:t>
            </a:r>
            <a:endParaRPr lang="en-US" sz="1100" dirty="0"/>
          </a:p>
        </p:txBody>
      </p:sp>
      <p:sp>
        <p:nvSpPr>
          <p:cNvPr id="23" name="Text 21"/>
          <p:cNvSpPr txBox="1"/>
          <p:nvPr/>
        </p:nvSpPr>
        <p:spPr>
          <a:xfrm>
            <a:off x="6126480" y="4398264"/>
            <a:ext cx="5513832" cy="274320"/>
          </a:xfrm>
          <a:prstGeom prst="rect">
            <a:avLst/>
          </a:prstGeom>
          <a:noFill/>
          <a:ln/>
        </p:spPr>
        <p:txBody>
          <a:bodyPr wrap="square" lIns="0" tIns="0" rIns="0" bIns="0" rtlCol="0" anchor="ctr"/>
          <a:lstStyle/>
          <a:p>
            <a:pPr indent="0" marL="0">
              <a:buNone/>
            </a:pPr>
            <a:r>
              <a:rPr lang="en-US" sz="1000" dirty="0">
                <a:solidFill>
                  <a:srgbClr val="6E7480"/>
                </a:solidFill>
                <a:latin typeface="Calibri" pitchFamily="34" charset="0"/>
                <a:ea typeface="Calibri" pitchFamily="34" charset="-122"/>
                <a:cs typeface="Calibri" pitchFamily="34" charset="-120"/>
              </a:rPr>
              <a:t>morganstanley.com/press-releases/key-milestone-in-innovation-journey-with-openai</a:t>
            </a:r>
            <a:endParaRPr lang="en-US" sz="1000" dirty="0"/>
          </a:p>
        </p:txBody>
      </p:sp>
      <p:sp>
        <p:nvSpPr>
          <p:cNvPr id="24" name="Text 22"/>
          <p:cNvSpPr txBox="1"/>
          <p:nvPr/>
        </p:nvSpPr>
        <p:spPr>
          <a:xfrm>
            <a:off x="896112" y="4681728"/>
            <a:ext cx="5120640" cy="274320"/>
          </a:xfrm>
          <a:prstGeom prst="rect">
            <a:avLst/>
          </a:prstGeom>
          <a:noFill/>
          <a:ln/>
        </p:spPr>
        <p:txBody>
          <a:bodyPr wrap="square" lIns="0" tIns="0" rIns="0" bIns="0" rtlCol="0" anchor="ctr"/>
          <a:lstStyle/>
          <a:p>
            <a:pPr indent="0" marL="0">
              <a:buNone/>
            </a:pPr>
            <a:r>
              <a:rPr lang="en-US" sz="1100" dirty="0">
                <a:solidFill>
                  <a:srgbClr val="232833"/>
                </a:solidFill>
                <a:latin typeface="Calibri" pitchFamily="34" charset="0"/>
                <a:ea typeface="Calibri" pitchFamily="34" charset="-122"/>
                <a:cs typeface="Calibri" pitchFamily="34" charset="-120"/>
              </a:rPr>
              <a:t>OpenAI, Morgan Stanley uses AI evals (case study)</a:t>
            </a:r>
            <a:endParaRPr lang="en-US" sz="1100" dirty="0"/>
          </a:p>
        </p:txBody>
      </p:sp>
      <p:sp>
        <p:nvSpPr>
          <p:cNvPr id="25" name="Text 23"/>
          <p:cNvSpPr txBox="1"/>
          <p:nvPr/>
        </p:nvSpPr>
        <p:spPr>
          <a:xfrm>
            <a:off x="6126480" y="4681728"/>
            <a:ext cx="5513832" cy="274320"/>
          </a:xfrm>
          <a:prstGeom prst="rect">
            <a:avLst/>
          </a:prstGeom>
          <a:noFill/>
          <a:ln/>
        </p:spPr>
        <p:txBody>
          <a:bodyPr wrap="square" lIns="0" tIns="0" rIns="0" bIns="0" rtlCol="0" anchor="ctr"/>
          <a:lstStyle/>
          <a:p>
            <a:pPr indent="0" marL="0">
              <a:buNone/>
            </a:pPr>
            <a:r>
              <a:rPr lang="en-US" sz="1000" dirty="0">
                <a:solidFill>
                  <a:srgbClr val="6E7480"/>
                </a:solidFill>
                <a:latin typeface="Calibri" pitchFamily="34" charset="0"/>
                <a:ea typeface="Calibri" pitchFamily="34" charset="-122"/>
                <a:cs typeface="Calibri" pitchFamily="34" charset="-120"/>
              </a:rPr>
              <a:t>openai.com/index/morgan-stanley</a:t>
            </a:r>
            <a:endParaRPr lang="en-US" sz="1000" dirty="0"/>
          </a:p>
        </p:txBody>
      </p:sp>
      <p:sp>
        <p:nvSpPr>
          <p:cNvPr id="26" name="Shape 24"/>
          <p:cNvSpPr/>
          <p:nvPr/>
        </p:nvSpPr>
        <p:spPr>
          <a:xfrm>
            <a:off x="548640" y="5212080"/>
            <a:ext cx="164592" cy="164592"/>
          </a:xfrm>
          <a:prstGeom prst="ellipse">
            <a:avLst/>
          </a:prstGeom>
          <a:solidFill>
            <a:srgbClr val="8E3350"/>
          </a:solidFill>
          <a:ln/>
        </p:spPr>
        <p:txBody>
          <a:bodyPr/>
          <a:p/>
        </p:txBody>
      </p:sp>
      <p:sp>
        <p:nvSpPr>
          <p:cNvPr id="27" name="Text 25"/>
          <p:cNvSpPr txBox="1"/>
          <p:nvPr/>
        </p:nvSpPr>
        <p:spPr>
          <a:xfrm>
            <a:off x="896112" y="5111496"/>
            <a:ext cx="10058400" cy="329184"/>
          </a:xfrm>
          <a:prstGeom prst="rect">
            <a:avLst/>
          </a:prstGeom>
          <a:noFill/>
          <a:ln/>
        </p:spPr>
        <p:txBody>
          <a:bodyPr wrap="square" lIns="0" tIns="0" rIns="0" bIns="0" rtlCol="0" anchor="ctr"/>
          <a:lstStyle/>
          <a:p>
            <a:pPr indent="0" marL="0">
              <a:buNone/>
            </a:pPr>
            <a:r>
              <a:rPr lang="en-US" sz="1300" b="1" dirty="0">
                <a:solidFill>
                  <a:srgbClr val="8E3350"/>
                </a:solidFill>
                <a:latin typeface="Calibri" pitchFamily="34" charset="0"/>
                <a:ea typeface="Calibri" pitchFamily="34" charset="-122"/>
                <a:cs typeface="Calibri" pitchFamily="34" charset="-120"/>
              </a:rPr>
              <a:t>Secondary: trade press, directional only</a:t>
            </a:r>
            <a:endParaRPr lang="en-US" sz="1300" dirty="0"/>
          </a:p>
        </p:txBody>
      </p:sp>
      <p:sp>
        <p:nvSpPr>
          <p:cNvPr id="28" name="Text 26"/>
          <p:cNvSpPr txBox="1"/>
          <p:nvPr/>
        </p:nvSpPr>
        <p:spPr>
          <a:xfrm>
            <a:off x="896112" y="5532120"/>
            <a:ext cx="5120640" cy="274320"/>
          </a:xfrm>
          <a:prstGeom prst="rect">
            <a:avLst/>
          </a:prstGeom>
          <a:noFill/>
          <a:ln/>
        </p:spPr>
        <p:txBody>
          <a:bodyPr wrap="square" lIns="0" tIns="0" rIns="0" bIns="0" rtlCol="0" anchor="ctr"/>
          <a:lstStyle/>
          <a:p>
            <a:pPr indent="0" marL="0">
              <a:buNone/>
            </a:pPr>
            <a:r>
              <a:rPr lang="en-US" sz="1100" dirty="0">
                <a:solidFill>
                  <a:srgbClr val="232833"/>
                </a:solidFill>
                <a:latin typeface="Calibri" pitchFamily="34" charset="0"/>
                <a:ea typeface="Calibri" pitchFamily="34" charset="-122"/>
                <a:cs typeface="Calibri" pitchFamily="34" charset="-120"/>
              </a:rPr>
              <a:t>JPMorgan Chase LLM Suite, via CIO Dive and The Digital Banker</a:t>
            </a:r>
            <a:endParaRPr lang="en-US" sz="1100" dirty="0"/>
          </a:p>
        </p:txBody>
      </p:sp>
      <p:sp>
        <p:nvSpPr>
          <p:cNvPr id="29" name="Text 27"/>
          <p:cNvSpPr txBox="1"/>
          <p:nvPr/>
        </p:nvSpPr>
        <p:spPr>
          <a:xfrm>
            <a:off x="6126480" y="5532120"/>
            <a:ext cx="5513832" cy="274320"/>
          </a:xfrm>
          <a:prstGeom prst="rect">
            <a:avLst/>
          </a:prstGeom>
          <a:noFill/>
          <a:ln/>
        </p:spPr>
        <p:txBody>
          <a:bodyPr wrap="square" lIns="0" tIns="0" rIns="0" bIns="0" rtlCol="0" anchor="ctr"/>
          <a:lstStyle/>
          <a:p>
            <a:pPr indent="0" marL="0">
              <a:buNone/>
            </a:pPr>
            <a:r>
              <a:rPr lang="en-US" sz="1000" dirty="0">
                <a:solidFill>
                  <a:srgbClr val="6E7480"/>
                </a:solidFill>
                <a:latin typeface="Calibri" pitchFamily="34" charset="0"/>
                <a:ea typeface="Calibri" pitchFamily="34" charset="-122"/>
                <a:cs typeface="Calibri" pitchFamily="34" charset="-120"/>
              </a:rPr>
              <a:t>no first-party engineering source found</a:t>
            </a:r>
            <a:endParaRPr lang="en-US" sz="1000" dirty="0"/>
          </a:p>
        </p:txBody>
      </p:sp>
      <p:sp>
        <p:nvSpPr>
          <p:cNvPr id="30" name="Text 28"/>
          <p:cNvSpPr txBox="1"/>
          <p:nvPr/>
        </p:nvSpPr>
        <p:spPr>
          <a:xfrm>
            <a:off x="548640" y="6053328"/>
            <a:ext cx="10881360" cy="457200"/>
          </a:xfrm>
          <a:prstGeom prst="rect">
            <a:avLst/>
          </a:prstGeom>
          <a:noFill/>
          <a:ln/>
        </p:spPr>
        <p:txBody>
          <a:bodyPr wrap="square" lIns="0" tIns="0" rIns="0" bIns="0" rtlCol="0" anchor="t"/>
          <a:lstStyle/>
          <a:p>
            <a:pPr indent="0" marL="0">
              <a:lnSpc>
                <a:spcPct val="110000"/>
              </a:lnSpc>
              <a:buNone/>
            </a:pPr>
            <a:r>
              <a:rPr lang="en-US" sz="1000" dirty="0">
                <a:solidFill>
                  <a:srgbClr val="6E7480"/>
                </a:solidFill>
                <a:latin typeface="Calibri" pitchFamily="34" charset="0"/>
                <a:ea typeface="Calibri" pitchFamily="34" charset="-122"/>
                <a:cs typeface="Calibri" pitchFamily="34" charset="-120"/>
              </a:rPr>
              <a:t>Brand marks are the companies' own logos and official hex from simple-icons. Ink monograms mark the four companies simple-icons does not carry; no brand colour has been guessed for them.</a:t>
            </a:r>
            <a:endParaRPr lang="en-US" sz="1000" dirty="0"/>
          </a:p>
        </p:txBody>
      </p:sp>
      <p:sp>
        <p:nvSpPr>
          <p:cNvPr id="31" name="Text 29"/>
          <p:cNvSpPr txBox="1"/>
          <p:nvPr/>
        </p:nvSpPr>
        <p:spPr>
          <a:xfrm>
            <a:off x="548640" y="6510528"/>
            <a:ext cx="8229600" cy="256032"/>
          </a:xfrm>
          <a:prstGeom prst="rect">
            <a:avLst/>
          </a:prstGeom>
          <a:noFill/>
          <a:ln/>
        </p:spPr>
        <p:txBody>
          <a:bodyPr wrap="square" lIns="0" tIns="0" rIns="0" bIns="0" rtlCol="0" anchor="ctr"/>
          <a:lstStyle/>
          <a:p>
            <a:pPr indent="0" marL="0">
              <a:buNone/>
            </a:pPr>
            <a:r>
              <a:rPr lang="en-US" sz="950" spc="100" kern="0" dirty="0">
                <a:solidFill>
                  <a:srgbClr val="6E7480"/>
                </a:solidFill>
                <a:latin typeface="Calibri" pitchFamily="34" charset="0"/>
                <a:ea typeface="Calibri" pitchFamily="34" charset="-122"/>
                <a:cs typeface="Calibri" pitchFamily="34" charset="-120"/>
              </a:rPr>
              <a:t>Compiled from PRIOR-ART.md for companywiki, 27 August 2026. Morgan Stanley re-sourced from primary text, 3 September 2026.</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Prior Art: Internal Knowledge Bases</dc:title>
  <dc:subject>PptxGenJS Presentation</dc:subject>
  <dc:creator>companywiki</dc:creator>
  <cp:lastModifiedBy>companywiki</cp:lastModifiedBy>
  <cp:revision>1</cp:revision>
  <dcterms:created xsi:type="dcterms:W3CDTF">2026-08-28T15:06:35Z</dcterms:created>
  <dcterms:modified xsi:type="dcterms:W3CDTF">2026-08-28T15:06:35Z</dcterms:modified>
</cp:coreProperties>
</file>